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2" r:id="rId2"/>
    <p:sldId id="351" r:id="rId3"/>
    <p:sldId id="370" r:id="rId4"/>
    <p:sldId id="339" r:id="rId5"/>
    <p:sldId id="371" r:id="rId6"/>
    <p:sldId id="367" r:id="rId7"/>
    <p:sldId id="368" r:id="rId8"/>
    <p:sldId id="353" r:id="rId9"/>
    <p:sldId id="372" r:id="rId10"/>
    <p:sldId id="373" r:id="rId11"/>
    <p:sldId id="374" r:id="rId12"/>
    <p:sldId id="37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20"/>
    <p:restoredTop sz="95082"/>
  </p:normalViewPr>
  <p:slideViewPr>
    <p:cSldViewPr snapToGrid="0" snapToObjects="1" showGuides="1">
      <p:cViewPr>
        <p:scale>
          <a:sx n="65" d="100"/>
          <a:sy n="65" d="100"/>
        </p:scale>
        <p:origin x="888" y="8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72262-441F-6047-9B52-0F7D78DC7833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8C32A-AB19-6544-BC83-09D19F010A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819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BB962C8B-B14F-4D97-AF65-F5344CB8AC3E}" type="datetime1">
              <a:rPr lang="zh-CN" altLang="en-US" dirty="0"/>
              <a:t>2026/7/23</a:t>
            </a:fld>
            <a:endParaRPr lang="zh-CN" altLang="en-US" dirty="0"/>
          </a:p>
        </p:txBody>
      </p:sp>
      <p:sp>
        <p:nvSpPr>
          <p:cNvPr id="1843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  <a:t>2</a:t>
            </a:fld>
            <a:endParaRPr lang="en-US" altLang="zh-CN" dirty="0"/>
          </a:p>
        </p:txBody>
      </p:sp>
      <p:sp>
        <p:nvSpPr>
          <p:cNvPr id="1843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9602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111111"/>
                </a:solidFill>
                <a:latin typeface="Arial"/>
                <a:ea typeface="Arial"/>
              </a:rPr>
              <a:t>1.理解源项目</a:t>
            </a:r>
            <a:r>
              <a:rPr lang="zh-CN" altLang="en-US" sz="1200" b="1" dirty="0">
                <a:solidFill>
                  <a:srgbClr val="111111"/>
                </a:solidFill>
                <a:latin typeface="Arial"/>
                <a:ea typeface="Arial"/>
              </a:rPr>
              <a:t>，形成并验证可执行计划</a:t>
            </a:r>
            <a:endParaRPr lang="en-US" altLang="zh-CN" sz="1200" b="1" dirty="0">
              <a:solidFill>
                <a:srgbClr val="111111"/>
              </a:solidFill>
              <a:latin typeface="Arial"/>
              <a:ea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111111"/>
                </a:solidFill>
                <a:latin typeface="Arial"/>
                <a:ea typeface="Arial"/>
              </a:rPr>
              <a:t>2.</a:t>
            </a:r>
            <a:r>
              <a:rPr lang="zh-CN" altLang="en-US" sz="1200" b="1" dirty="0">
                <a:solidFill>
                  <a:srgbClr val="111111"/>
                </a:solidFill>
                <a:latin typeface="Arial"/>
                <a:ea typeface="Arial"/>
              </a:rPr>
              <a:t>持续迁移验证，确保行为一致</a:t>
            </a:r>
            <a:endParaRPr lang="en-US" altLang="zh-CN" sz="1200" b="1" dirty="0">
              <a:solidFill>
                <a:srgbClr val="111111"/>
              </a:solidFill>
              <a:latin typeface="Arial"/>
              <a:ea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111111"/>
                </a:solidFill>
                <a:latin typeface="Arial"/>
                <a:ea typeface="Arial"/>
              </a:rPr>
              <a:t>3.汇总证据</a:t>
            </a:r>
            <a:r>
              <a:rPr lang="zh-CN" altLang="en-US" sz="1200" b="1" dirty="0">
                <a:solidFill>
                  <a:srgbClr val="111111"/>
                </a:solidFill>
                <a:latin typeface="Arial"/>
                <a:ea typeface="Arial"/>
              </a:rPr>
              <a:t>，清楚遗留风险</a:t>
            </a:r>
            <a:endParaRPr lang="en-US" altLang="zh-CN" sz="1200" b="1" dirty="0">
              <a:solidFill>
                <a:srgbClr val="111111"/>
              </a:solidFill>
              <a:latin typeface="Arial"/>
              <a:ea typeface="Arial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5A42F-AAFE-F744-AE6E-DCB622C3CC8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3330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BB962C8B-B14F-4D97-AF65-F5344CB8AC3E}" type="datetime1">
              <a:rPr lang="zh-CN" altLang="en-US" dirty="0"/>
              <a:t>2026/7/24</a:t>
            </a:fld>
            <a:endParaRPr lang="zh-CN" altLang="en-US" dirty="0"/>
          </a:p>
        </p:txBody>
      </p:sp>
      <p:sp>
        <p:nvSpPr>
          <p:cNvPr id="1843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  <a:t>4</a:t>
            </a:fld>
            <a:endParaRPr lang="en-US" altLang="zh-CN" dirty="0"/>
          </a:p>
        </p:txBody>
      </p:sp>
      <p:sp>
        <p:nvSpPr>
          <p:cNvPr id="1843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16918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BB962C8B-B14F-4D97-AF65-F5344CB8AC3E}" type="datetime1">
              <a:rPr lang="zh-CN" altLang="en-US" dirty="0"/>
              <a:t>2026/7/24</a:t>
            </a:fld>
            <a:endParaRPr lang="zh-CN" altLang="en-US" dirty="0"/>
          </a:p>
        </p:txBody>
      </p:sp>
      <p:sp>
        <p:nvSpPr>
          <p:cNvPr id="1843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  <a:t>5</a:t>
            </a:fld>
            <a:endParaRPr lang="en-US" altLang="zh-CN" dirty="0"/>
          </a:p>
        </p:txBody>
      </p:sp>
      <p:sp>
        <p:nvSpPr>
          <p:cNvPr id="1843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5179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我们的方法首先通过</a:t>
            </a:r>
            <a:r>
              <a:rPr kumimoji="1" lang="en-US" altLang="zh-CN" dirty="0"/>
              <a:t>cangjie knowledge Layer</a:t>
            </a:r>
            <a:r>
              <a:rPr kumimoji="1" lang="zh-CN" altLang="en-US" dirty="0"/>
              <a:t>提供低资源目标语言所需的语言规则、</a:t>
            </a:r>
            <a:r>
              <a:rPr kumimoji="1" lang="en-US" altLang="zh-CN" dirty="0"/>
              <a:t>API </a:t>
            </a:r>
            <a:r>
              <a:rPr kumimoji="1" lang="zh-CN" altLang="en-US" dirty="0"/>
              <a:t>映射和第三方库替代信息，帮助翻译过程形成可复用的迁移决策。</a:t>
            </a:r>
            <a:endParaRPr kumimoji="1" lang="en-US" altLang="zh-CN" dirty="0"/>
          </a:p>
          <a:p>
            <a:r>
              <a:rPr kumimoji="1" lang="zh-CN" altLang="en-US" dirty="0"/>
              <a:t>在此基础上，方法从源代码仓库中抽取源行为、相关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、依赖关系、实现任务、验证方案和证据要求，并组织为一个</a:t>
            </a:r>
            <a:r>
              <a:rPr kumimoji="1" lang="en-US" altLang="zh-CN" dirty="0"/>
              <a:t>behavior-centered Checklist</a:t>
            </a:r>
            <a:r>
              <a:rPr kumimoji="1" lang="zh-CN" altLang="en-US" dirty="0"/>
              <a:t>。后续翻译不再围绕文件或函数孤立推进，而是围绕这一行为表示进行翻译并加入三级验证机制：</a:t>
            </a:r>
            <a:r>
              <a:rPr kumimoji="1" lang="en-US" altLang="zh-CN" dirty="0"/>
              <a:t>plan-level verification</a:t>
            </a:r>
            <a:r>
              <a:rPr kumimoji="1" lang="zh-CN" altLang="en-US" dirty="0"/>
              <a:t>检查迁移范围和验证计划是否完整，</a:t>
            </a:r>
            <a:r>
              <a:rPr kumimoji="1" lang="en-US" altLang="zh-CN" dirty="0"/>
              <a:t>task-level verification</a:t>
            </a:r>
            <a:r>
              <a:rPr kumimoji="1" lang="zh-CN" altLang="en-US" dirty="0"/>
              <a:t>检查每个行为片段是否得到正确实现和充分举证，</a:t>
            </a:r>
            <a:r>
              <a:rPr kumimoji="1" lang="en-US" altLang="zh-CN" dirty="0"/>
              <a:t>closure-level verification</a:t>
            </a:r>
            <a:r>
              <a:rPr kumimoji="1" lang="zh-CN" altLang="en-US" dirty="0"/>
              <a:t>则汇总局部证据、依赖决策、已接受偏差和剩余风险，判断是否能够支持最终验收。在翻译过程中，</a:t>
            </a:r>
            <a:r>
              <a:rPr kumimoji="1" lang="en-US" altLang="zh-CN" dirty="0"/>
              <a:t>Formalized Traceability Layer </a:t>
            </a:r>
            <a:r>
              <a:rPr kumimoji="1" lang="zh-CN" altLang="en-US" dirty="0"/>
              <a:t>进一步从这些迁移状态中派生事实，并用形式化的规则检查行为、义务、任务和证据之间是否闭合，使每次推进、偏差接受、阻塞记录和最终收口都有明确、可审计的依据。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5A42F-AAFE-F744-AE6E-DCB622C3CC8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0304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BB962C8B-B14F-4D97-AF65-F5344CB8AC3E}" type="datetime1">
              <a:rPr lang="zh-CN" altLang="en-US" dirty="0"/>
              <a:t>2026/7/24</a:t>
            </a:fld>
            <a:endParaRPr lang="zh-CN" altLang="en-US" dirty="0"/>
          </a:p>
        </p:txBody>
      </p:sp>
      <p:sp>
        <p:nvSpPr>
          <p:cNvPr id="1843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  <a:t>8</a:t>
            </a:fld>
            <a:endParaRPr lang="en-US" altLang="zh-CN" dirty="0"/>
          </a:p>
        </p:txBody>
      </p:sp>
      <p:sp>
        <p:nvSpPr>
          <p:cNvPr id="1843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72547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5A42F-AAFE-F744-AE6E-DCB622C3CC8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0603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5A42F-AAFE-F744-AE6E-DCB622C3CC8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9281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5A42F-AAFE-F744-AE6E-DCB622C3CC8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665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704B5-1A98-5F49-8EAD-318602F97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A98472-77D5-DD47-B86E-9E2609C6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6A9A2-32BF-9C42-AA22-09B57ED6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2E6AA-9FD5-9241-A5DC-C8609B0B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3EA80-EFEA-0B4D-B98F-4311EEA1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60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B5391-5F3C-044F-906C-53FA4F35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C519F-590A-D04B-8927-05506F95E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8E37FF-308F-1A49-B215-4907822B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01F66-A0BA-0645-B19E-36BB7CA2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68390-3BDE-C74E-A1BB-7E476AF8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49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F86D7-E25D-F94B-8807-DAF13854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7CB659-F2FF-3F43-8EE2-99A1BC2FF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4FB80-9A83-424C-B190-10F7D135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42E2E-663C-974C-B983-044E7843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B3BAFC-06C9-5C4A-BA0D-2008C194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403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3491A-A584-9D49-8B5A-BFF6C002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55501C-0037-6F4B-B2B3-465C45142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6A9313-449C-804D-9D36-960FFBB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12CF2D-F5F0-564C-8F44-FF89DB42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CB1F6B-3A28-B24B-82AC-E56A1F2B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5B24DD-4F47-0743-B90B-C0A3B054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0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34434-6947-C54F-B63F-99943D0C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540F27-E440-694F-88C9-AFCAEF632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9F6F4C-BBEB-F642-8FF0-035F838E2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401F51-E2B8-3E47-ADAD-840A43040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E603C3-CFC2-4E4B-A09B-F402F6189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ED848E-587E-3648-8F3A-A91C8EC7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9D24B3-0D45-3349-AD0F-513466B8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2AF375-0FAC-B344-8801-0785E508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371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11A9B-15F1-0149-B2C0-6A030178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3AFFB3-0892-9A49-B11D-53A7D5A8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493D2B-73C9-E046-9E00-8E2B3FE6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068A3C-3004-9541-8029-A0A9EC5B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521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246A6A-AAB6-0143-BFB7-2B85EAED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6D2395-AE80-DD4C-85D6-D5863546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CC8B0D-39EB-FD40-A8F0-F1C9A4D3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80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4ADD9-6C98-B34F-B398-913F5B9E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35002-8A42-974C-A8B3-C4CB36263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0AE923-2AE5-A14A-8FC6-B3F79FF42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7DF5CF-BB8B-434F-A515-33F8AF26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D6A493-5EA9-F241-81E7-258B7A06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6801B9-D234-5743-A905-89A0262C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20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2DAAE-9080-C947-A95B-860D2837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43E7F7-601C-9741-8D2A-2B62B9F4C7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8E80E3-178E-9C4A-A6AE-173160B15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A7321A-70CD-B94C-8160-2432A66C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E6058D-F78C-6841-A883-B9AE6E9C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356A4-C096-324F-B4F7-5B8CB903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1586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074CC-6DCD-2E4A-9C6F-A137CFEF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1C37D7-8AC1-7545-AC52-2A8D85030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6B90F-E58E-E741-9F0A-C999EDD7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434AE-2C84-F64C-90CA-C12E4B6F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106A8-AB7F-7848-8276-96CDAF94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229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0450C6-498D-974C-B1E4-9AABCDF13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628B2-DE9D-D241-B965-EBC3517B7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B85E2-A53A-6440-848C-440716C3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D6601-92AA-B748-B0B1-E6CCB9DE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BCB72-26A2-684C-9025-BC40984B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1043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/>
          <p:cNvPicPr>
            <a:picLocks noChangeAspect="1"/>
          </p:cNvPicPr>
          <p:nvPr userDrawn="1"/>
        </p:nvPicPr>
        <p:blipFill>
          <a:blip r:embed="rId2"/>
          <a:srcRect r="5903"/>
          <a:stretch>
            <a:fillRect/>
          </a:stretch>
        </p:blipFill>
        <p:spPr>
          <a:xfrm>
            <a:off x="5519420" y="3183890"/>
            <a:ext cx="6680200" cy="3683000"/>
          </a:xfrm>
          <a:prstGeom prst="rect">
            <a:avLst/>
          </a:prstGeom>
        </p:spPr>
      </p:pic>
      <p:sp>
        <p:nvSpPr>
          <p:cNvPr id="70" name="矩形 69"/>
          <p:cNvSpPr/>
          <p:nvPr userDrawn="1"/>
        </p:nvSpPr>
        <p:spPr>
          <a:xfrm>
            <a:off x="5519420" y="3192780"/>
            <a:ext cx="6746240" cy="367411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94" y="335915"/>
            <a:ext cx="2000259" cy="636107"/>
          </a:xfrm>
          <a:prstGeom prst="rect">
            <a:avLst/>
          </a:prstGeom>
        </p:spPr>
      </p:pic>
      <p:sp>
        <p:nvSpPr>
          <p:cNvPr id="10" name="内容占位符 9"/>
          <p:cNvSpPr>
            <a:spLocks noGrp="1"/>
          </p:cNvSpPr>
          <p:nvPr>
            <p:ph sz="quarter" idx="13" hasCustomPrompt="1"/>
          </p:nvPr>
        </p:nvSpPr>
        <p:spPr>
          <a:xfrm>
            <a:off x="592794" y="1930603"/>
            <a:ext cx="4926013" cy="429590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南京大学</a:t>
            </a:r>
            <a:r>
              <a:rPr lang="en-US" altLang="zh-CN" dirty="0"/>
              <a:t>20XX</a:t>
            </a:r>
            <a:r>
              <a:rPr lang="zh-CN" altLang="en-US" dirty="0"/>
              <a:t>级 </a:t>
            </a:r>
            <a:r>
              <a:rPr lang="en-US" altLang="zh-CN" dirty="0"/>
              <a:t>XX</a:t>
            </a:r>
            <a:r>
              <a:rPr lang="zh-CN" altLang="en-US" dirty="0"/>
              <a:t>专业 </a:t>
            </a:r>
            <a:r>
              <a:rPr lang="en-US" altLang="zh-CN" dirty="0"/>
              <a:t>X</a:t>
            </a:r>
            <a:r>
              <a:rPr lang="zh-CN" altLang="en-US" dirty="0"/>
              <a:t>班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4" hasCustomPrompt="1"/>
          </p:nvPr>
        </p:nvSpPr>
        <p:spPr>
          <a:xfrm>
            <a:off x="592794" y="4364726"/>
            <a:ext cx="2514600" cy="44626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6306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答辩人：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592794" y="3583347"/>
            <a:ext cx="606563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内容占位符 23"/>
          <p:cNvSpPr>
            <a:spLocks noGrp="1"/>
          </p:cNvSpPr>
          <p:nvPr>
            <p:ph sz="quarter" idx="16" hasCustomPrompt="1"/>
          </p:nvPr>
        </p:nvSpPr>
        <p:spPr>
          <a:xfrm>
            <a:off x="10324804" y="6097588"/>
            <a:ext cx="1524000" cy="44608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202X/XX/XX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92794" y="2758345"/>
            <a:ext cx="6393873" cy="924705"/>
          </a:xfrm>
        </p:spPr>
        <p:txBody>
          <a:bodyPr anchor="b"/>
          <a:lstStyle>
            <a:lvl1pPr algn="l">
              <a:defRPr sz="6000" b="1">
                <a:solidFill>
                  <a:srgbClr val="6306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南京大学答辩模板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92794" y="3822750"/>
            <a:ext cx="6065633" cy="358996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</a:p>
        </p:txBody>
      </p:sp>
    </p:spTree>
    <p:extLst>
      <p:ext uri="{BB962C8B-B14F-4D97-AF65-F5344CB8AC3E}">
        <p14:creationId xmlns:p14="http://schemas.microsoft.com/office/powerpoint/2010/main" val="323933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CAED01-107B-4B44-B4A0-3C60B2EC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2BF291-7D50-414C-B5C0-5C80BE5C6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0E5500-FE88-B447-B8D0-B97E896DE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43721-6442-8742-8446-2246810F36FE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7C010-2C66-3046-955A-D2AFB0F2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F0536-7DB2-6F45-AF36-2BBE3BAFC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20D9B-C2FD-444E-9622-E40CD3AB2B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17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8.svg"/><Relationship Id="rId4" Type="http://schemas.openxmlformats.org/officeDocument/2006/relationships/image" Target="../media/image4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ctrTitle"/>
          </p:nvPr>
        </p:nvSpPr>
        <p:spPr>
          <a:xfrm>
            <a:off x="120015" y="2360295"/>
            <a:ext cx="11729085" cy="1165225"/>
          </a:xfrm>
        </p:spPr>
        <p:txBody>
          <a:bodyPr>
            <a:noAutofit/>
          </a:bodyPr>
          <a:lstStyle/>
          <a:p>
            <a:pPr algn="ctr"/>
            <a:r>
              <a:rPr lang="en-US" altLang="zh-CN" sz="4000" dirty="0"/>
              <a:t>X</a:t>
            </a:r>
            <a:r>
              <a:rPr lang="zh-CN" altLang="en-US" sz="4000" dirty="0"/>
              <a:t>语言到仓颉的项目级源码转换汇报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65875"/>
            <a:ext cx="2743200" cy="365125"/>
          </a:xfrm>
        </p:spPr>
        <p:txBody>
          <a:bodyPr/>
          <a:lstStyle/>
          <a:p>
            <a:fld id="{36928997-F1CE-45DD-B7C5-32A51C5CFC9A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0"/>
          <p:cNvSpPr>
            <a:spLocks noGrp="1"/>
          </p:cNvSpPr>
          <p:nvPr/>
        </p:nvSpPr>
        <p:spPr>
          <a:xfrm>
            <a:off x="464128" y="284258"/>
            <a:ext cx="8123281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>
                <a:sym typeface="+mn-ea"/>
              </a:rPr>
              <a:t>Challenge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and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Approach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97B86-BD30-774E-9F91-031D6CF008B0}"/>
              </a:ext>
            </a:extLst>
          </p:cNvPr>
          <p:cNvSpPr txBox="1"/>
          <p:nvPr/>
        </p:nvSpPr>
        <p:spPr>
          <a:xfrm>
            <a:off x="464128" y="748760"/>
            <a:ext cx="11390988" cy="6102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Challenge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</a:rPr>
              <a:t>缺少仓颉领域知识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</a:rPr>
              <a:t>缺乏翻译质量控制，翻译过程不可控、不可信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长任务的目标偏离</a:t>
            </a:r>
            <a:r>
              <a:rPr kumimoji="1" lang="zh-CN" altLang="en-US" sz="1600" dirty="0"/>
              <a:t>：长任务会稀释原始目标，导致</a:t>
            </a:r>
            <a:r>
              <a:rPr kumimoji="1" lang="en-US" altLang="zh-CN" sz="1600" dirty="0"/>
              <a:t>Agent</a:t>
            </a:r>
            <a:r>
              <a:rPr kumimoji="1" lang="zh-CN" altLang="en-US" sz="1600" dirty="0"/>
              <a:t>执行偏离既定轨迹</a:t>
            </a:r>
            <a:endParaRPr kumimoji="1"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智能体懒惰性</a:t>
            </a:r>
            <a:r>
              <a:rPr kumimoji="1" lang="zh-CN" altLang="en-US" sz="1600" dirty="0"/>
              <a:t>：难任务下智能体常常号称完成但并未实际完成</a:t>
            </a:r>
            <a:endParaRPr kumimoji="1"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自我验证不可靠</a:t>
            </a:r>
            <a:r>
              <a:rPr kumimoji="1" lang="zh-CN" altLang="en-US" sz="1600" dirty="0"/>
              <a:t>：在同一个上下文的智能体在验证时倾向于维护前面的判断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Approach</a:t>
            </a:r>
            <a:r>
              <a:rPr kumimoji="1" lang="zh-CN" altLang="en-US" b="1" dirty="0"/>
              <a:t>：验证承载的可信迁移</a:t>
            </a:r>
            <a:endParaRPr kumimoji="1" lang="en-US" altLang="zh-CN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</a:rPr>
              <a:t>引入仓颉知识层</a:t>
            </a:r>
            <a:r>
              <a:rPr kumimoji="1" lang="zh-CN" altLang="en-US" sz="1600" dirty="0"/>
              <a:t>，为翻译过程提供可信、统一、可复用的</a:t>
            </a:r>
            <a:r>
              <a:rPr kumimoji="1" lang="zh-CN" altLang="en-US" sz="1600" dirty="0">
                <a:solidFill>
                  <a:srgbClr val="C00000"/>
                </a:solidFill>
              </a:rPr>
              <a:t>持久知识来源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</a:rPr>
              <a:t>构建多级验证机制</a:t>
            </a:r>
            <a:endParaRPr kumimoji="1"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翻译目标构建：</a:t>
            </a:r>
            <a:r>
              <a:rPr lang="zh-CN" altLang="en-US" sz="1600" dirty="0"/>
              <a:t>从源仓库提取功能行为、测试、依赖和运行入口，组织成统一的功能迁移清单。每项任务对应一个可独立验证的功能单元，并明确其依赖关系和验收要求。</a:t>
            </a:r>
            <a:endParaRPr kumimoji="1"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三级粒度独立验证机制</a:t>
            </a:r>
            <a:r>
              <a:rPr kumimoji="1" lang="zh-CN" altLang="en-US" sz="1600" dirty="0"/>
              <a:t>：</a:t>
            </a:r>
            <a:endParaRPr kumimoji="1" lang="en-US" altLang="zh-CN" sz="16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迁移开始前：引入独立</a:t>
            </a:r>
            <a:r>
              <a:rPr kumimoji="1" lang="en-US" altLang="zh-CN" sz="1600" dirty="0"/>
              <a:t>Agent</a:t>
            </a:r>
            <a:r>
              <a:rPr lang="zh-CN" altLang="en-US" sz="1600" dirty="0"/>
              <a:t>检查迁移范围、任务划分和验证方案，</a:t>
            </a:r>
            <a:r>
              <a:rPr lang="zh-CN" altLang="en-US" sz="1600" dirty="0">
                <a:solidFill>
                  <a:srgbClr val="C00000"/>
                </a:solidFill>
              </a:rPr>
              <a:t>确认计划完整且可执行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子任务完成后：</a:t>
            </a:r>
            <a:r>
              <a:rPr lang="zh-CN" altLang="en-US" sz="1600" dirty="0"/>
              <a:t>对比迁移前后的功能行为，复核测试与运行证据，决定当前</a:t>
            </a:r>
            <a:r>
              <a:rPr lang="zh-CN" altLang="en-US" sz="1600" dirty="0">
                <a:solidFill>
                  <a:srgbClr val="C00000"/>
                </a:solidFill>
              </a:rPr>
              <a:t>子任务能否被判定完成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全部任务完成后：</a:t>
            </a:r>
            <a:r>
              <a:rPr lang="zh-CN" altLang="en-US" sz="1600" dirty="0"/>
              <a:t>由独立终审</a:t>
            </a:r>
            <a:r>
              <a:rPr lang="en-US" altLang="zh-CN" sz="1600" dirty="0"/>
              <a:t>Agent</a:t>
            </a:r>
            <a:r>
              <a:rPr lang="zh-CN" altLang="en-US" sz="1600" dirty="0"/>
              <a:t>对整个仓库进行</a:t>
            </a:r>
            <a:r>
              <a:rPr lang="zh-CN" altLang="en-US" sz="1600" dirty="0">
                <a:solidFill>
                  <a:srgbClr val="C00000"/>
                </a:solidFill>
              </a:rPr>
              <a:t>全局审查</a:t>
            </a:r>
            <a:r>
              <a:rPr lang="zh-CN" altLang="en-US" sz="1600" dirty="0"/>
              <a:t>，判断能否完整交付或进行部分阻塞交接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</a:rPr>
              <a:t>证据链校验：</a:t>
            </a:r>
            <a:r>
              <a:rPr kumimoji="1" lang="zh-CN" altLang="en-US" sz="1600" dirty="0"/>
              <a:t>从迁移中间结果中抽取事实，并用</a:t>
            </a:r>
            <a:r>
              <a:rPr kumimoji="1" lang="zh-CN" altLang="en-US" sz="1600" dirty="0">
                <a:solidFill>
                  <a:srgbClr val="C00000"/>
                </a:solidFill>
              </a:rPr>
              <a:t>预定义规则检查是否所有验收与状态迁移均有可信证据支持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9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2">
            <a:extLst>
              <a:ext uri="{FF2B5EF4-FFF2-40B4-BE49-F238E27FC236}">
                <a16:creationId xmlns:a16="http://schemas.microsoft.com/office/drawing/2014/main" id="{B7124262-1382-0C4F-8376-C5EB8F20F6D3}"/>
              </a:ext>
            </a:extLst>
          </p:cNvPr>
          <p:cNvSpPr/>
          <p:nvPr/>
        </p:nvSpPr>
        <p:spPr>
          <a:xfrm>
            <a:off x="8741838" y="4587116"/>
            <a:ext cx="3385836" cy="10596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项目交付粒度验证：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在局部验收提升为仓库级别验收前，引入独立</a:t>
            </a:r>
            <a:r>
              <a:rPr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Reviewer</a:t>
            </a:r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复核端到端完整性、一致性与收口证据，并将问题重新映射为修复任务，避免残余风险</a:t>
            </a:r>
            <a:endParaRPr lang="en-CN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2" name="Rectangle 2">
            <a:extLst>
              <a:ext uri="{FF2B5EF4-FFF2-40B4-BE49-F238E27FC236}">
                <a16:creationId xmlns:a16="http://schemas.microsoft.com/office/drawing/2014/main" id="{368D51ED-4F83-834D-B65B-C68C9D48F3CD}"/>
              </a:ext>
            </a:extLst>
          </p:cNvPr>
          <p:cNvSpPr/>
          <p:nvPr/>
        </p:nvSpPr>
        <p:spPr>
          <a:xfrm>
            <a:off x="8741838" y="1576928"/>
            <a:ext cx="3385836" cy="10934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目标构建粒度验证：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将仓库级迁移目标转化为可验证的翻译目标，通过独立审计确认范围覆盖、任务边界、依赖顺序和验证方案，为后续翻译及验证提供稳定目标</a:t>
            </a:r>
            <a:endParaRPr lang="en-CN" altLang="zh-CN" sz="1200"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E4BDD-96A3-A04C-A56D-F9EF9ED8A013}"/>
              </a:ext>
            </a:extLst>
          </p:cNvPr>
          <p:cNvGrpSpPr/>
          <p:nvPr/>
        </p:nvGrpSpPr>
        <p:grpSpPr>
          <a:xfrm>
            <a:off x="42509" y="1650044"/>
            <a:ext cx="1164422" cy="394408"/>
            <a:chOff x="690370" y="3240548"/>
            <a:chExt cx="1164422" cy="394408"/>
          </a:xfrm>
        </p:grpSpPr>
        <p:sp>
          <p:nvSpPr>
            <p:cNvPr id="6" name="source-box">
              <a:extLst>
                <a:ext uri="{FF2B5EF4-FFF2-40B4-BE49-F238E27FC236}">
                  <a16:creationId xmlns:a16="http://schemas.microsoft.com/office/drawing/2014/main" id="{595B5142-7168-C74A-9642-ABD9991190E6}"/>
                </a:ext>
              </a:extLst>
            </p:cNvPr>
            <p:cNvSpPr/>
            <p:nvPr/>
          </p:nvSpPr>
          <p:spPr>
            <a:xfrm>
              <a:off x="690370" y="3240548"/>
              <a:ext cx="686917" cy="394408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11111"/>
              </a:solidFill>
            </a:ln>
          </p:spPr>
          <p:txBody>
            <a:bodyPr lIns="136800" tIns="136800" rIns="136800" bIns="136800" anchor="t"/>
            <a:lstStyle/>
            <a:p>
              <a:pPr algn="ctr"/>
              <a:endParaRPr lang="en-US" sz="119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7" name="ws-scan-text">
              <a:extLst>
                <a:ext uri="{FF2B5EF4-FFF2-40B4-BE49-F238E27FC236}">
                  <a16:creationId xmlns:a16="http://schemas.microsoft.com/office/drawing/2014/main" id="{F280421C-37B7-0049-A443-4DF848F95E71}"/>
                </a:ext>
              </a:extLst>
            </p:cNvPr>
            <p:cNvSpPr txBox="1"/>
            <p:nvPr/>
          </p:nvSpPr>
          <p:spPr>
            <a:xfrm>
              <a:off x="690372" y="3333910"/>
              <a:ext cx="1164420" cy="207684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Source</a:t>
              </a:r>
            </a:p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Project</a:t>
              </a:r>
              <a:endParaRPr lang="en-US" sz="120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6DC18826-E83A-F847-AA22-45FC282975ED}"/>
              </a:ext>
            </a:extLst>
          </p:cNvPr>
          <p:cNvGrpSpPr/>
          <p:nvPr/>
        </p:nvGrpSpPr>
        <p:grpSpPr>
          <a:xfrm>
            <a:off x="1695405" y="5897816"/>
            <a:ext cx="5548603" cy="868820"/>
            <a:chOff x="2909285" y="5996939"/>
            <a:chExt cx="5548603" cy="868820"/>
          </a:xfrm>
        </p:grpSpPr>
        <p:sp>
          <p:nvSpPr>
            <p:cNvPr id="9" name="k-mcp">
              <a:extLst>
                <a:ext uri="{FF2B5EF4-FFF2-40B4-BE49-F238E27FC236}">
                  <a16:creationId xmlns:a16="http://schemas.microsoft.com/office/drawing/2014/main" id="{85C149D8-820E-B548-A942-3A59E43FB046}"/>
                </a:ext>
              </a:extLst>
            </p:cNvPr>
            <p:cNvSpPr/>
            <p:nvPr/>
          </p:nvSpPr>
          <p:spPr>
            <a:xfrm>
              <a:off x="7117477" y="6054087"/>
              <a:ext cx="916186" cy="46518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0" name="k-mapping">
              <a:extLst>
                <a:ext uri="{FF2B5EF4-FFF2-40B4-BE49-F238E27FC236}">
                  <a16:creationId xmlns:a16="http://schemas.microsoft.com/office/drawing/2014/main" id="{D32CB748-2CC4-054A-845C-2FA2657968D8}"/>
                </a:ext>
              </a:extLst>
            </p:cNvPr>
            <p:cNvSpPr/>
            <p:nvPr/>
          </p:nvSpPr>
          <p:spPr>
            <a:xfrm>
              <a:off x="6106793" y="6049275"/>
              <a:ext cx="920090" cy="471686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1" name="k-mapping-text">
              <a:extLst>
                <a:ext uri="{FF2B5EF4-FFF2-40B4-BE49-F238E27FC236}">
                  <a16:creationId xmlns:a16="http://schemas.microsoft.com/office/drawing/2014/main" id="{B20A012E-0292-204C-92DC-BE3972AF5017}"/>
                </a:ext>
              </a:extLst>
            </p:cNvPr>
            <p:cNvSpPr txBox="1"/>
            <p:nvPr/>
          </p:nvSpPr>
          <p:spPr>
            <a:xfrm>
              <a:off x="6086320" y="6145097"/>
              <a:ext cx="1635218" cy="2664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900" b="1" dirty="0" err="1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标准库API映射</a:t>
              </a:r>
              <a:endParaRPr lang="en-US" sz="90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2" name="k-mcp-text">
              <a:extLst>
                <a:ext uri="{FF2B5EF4-FFF2-40B4-BE49-F238E27FC236}">
                  <a16:creationId xmlns:a16="http://schemas.microsoft.com/office/drawing/2014/main" id="{44E74097-10F9-C340-85DB-3185773B54E3}"/>
                </a:ext>
              </a:extLst>
            </p:cNvPr>
            <p:cNvSpPr txBox="1"/>
            <p:nvPr/>
          </p:nvSpPr>
          <p:spPr>
            <a:xfrm>
              <a:off x="7102492" y="6155722"/>
              <a:ext cx="1355396" cy="2667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900" b="1" dirty="0" err="1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三方库API查询</a:t>
              </a:r>
              <a:endParaRPr lang="en-US" sz="90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3" name="knowledge-label">
              <a:extLst>
                <a:ext uri="{FF2B5EF4-FFF2-40B4-BE49-F238E27FC236}">
                  <a16:creationId xmlns:a16="http://schemas.microsoft.com/office/drawing/2014/main" id="{468764FF-5405-5149-8B60-B104FC79EBE0}"/>
                </a:ext>
              </a:extLst>
            </p:cNvPr>
            <p:cNvSpPr txBox="1"/>
            <p:nvPr/>
          </p:nvSpPr>
          <p:spPr>
            <a:xfrm>
              <a:off x="2909285" y="6580139"/>
              <a:ext cx="5384845" cy="285620"/>
            </a:xfrm>
            <a:prstGeom prst="rect">
              <a:avLst/>
            </a:prstGeom>
            <a:noFill/>
            <a:ln>
              <a:noFill/>
            </a:ln>
          </p:spPr>
          <p:txBody>
            <a:bodyPr lIns="7200" tIns="7200" rIns="7200" bIns="7200" anchor="ctr"/>
            <a:lstStyle/>
            <a:p>
              <a:pPr algn="ctr"/>
              <a:r>
                <a:rPr lang="en-US" sz="1200" b="1" dirty="0" err="1">
                  <a:solidFill>
                    <a:schemeClr val="accent2">
                      <a:lumMod val="75000"/>
                    </a:schemeClr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仓颉知识层</a:t>
              </a:r>
              <a:endParaRPr lang="en-US" sz="1200" b="1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56E9C49-0C4F-294B-B1CA-FC28ACE82BB7}"/>
                </a:ext>
              </a:extLst>
            </p:cNvPr>
            <p:cNvGrpSpPr/>
            <p:nvPr/>
          </p:nvGrpSpPr>
          <p:grpSpPr>
            <a:xfrm>
              <a:off x="3136485" y="6051073"/>
              <a:ext cx="2747493" cy="467243"/>
              <a:chOff x="1764088" y="616478"/>
              <a:chExt cx="2747493" cy="467243"/>
            </a:xfrm>
          </p:grpSpPr>
          <p:sp>
            <p:nvSpPr>
              <p:cNvPr id="16" name="k-abstract">
                <a:extLst>
                  <a:ext uri="{FF2B5EF4-FFF2-40B4-BE49-F238E27FC236}">
                    <a16:creationId xmlns:a16="http://schemas.microsoft.com/office/drawing/2014/main" id="{143BF416-FB23-4F4C-9C84-23EFB1F05553}"/>
                  </a:ext>
                </a:extLst>
              </p:cNvPr>
              <p:cNvSpPr/>
              <p:nvPr/>
            </p:nvSpPr>
            <p:spPr>
              <a:xfrm>
                <a:off x="1764088" y="616478"/>
                <a:ext cx="2747493" cy="467243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36000" tIns="36000" rIns="36000" bIns="36000"/>
              <a:lstStyle/>
              <a:p>
                <a:endParaRPr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17" name="k-abstract-text">
                <a:extLst>
                  <a:ext uri="{FF2B5EF4-FFF2-40B4-BE49-F238E27FC236}">
                    <a16:creationId xmlns:a16="http://schemas.microsoft.com/office/drawing/2014/main" id="{FE4C8106-08B5-D548-ACA0-9AFC5DDB598B}"/>
                  </a:ext>
                </a:extLst>
              </p:cNvPr>
              <p:cNvSpPr txBox="1"/>
              <p:nvPr/>
            </p:nvSpPr>
            <p:spPr>
              <a:xfrm>
                <a:off x="2641132" y="626310"/>
                <a:ext cx="1084421" cy="15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zh-CN" altLang="en-US" sz="900" b="1" dirty="0">
                    <a:solidFill>
                      <a:srgbClr val="111111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渐进式知识获取</a:t>
                </a:r>
                <a:endParaRPr lang="en-US" sz="9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18" name="analyzer-sub1">
                <a:extLst>
                  <a:ext uri="{FF2B5EF4-FFF2-40B4-BE49-F238E27FC236}">
                    <a16:creationId xmlns:a16="http://schemas.microsoft.com/office/drawing/2014/main" id="{DE1CA61B-5556-C841-9F80-6BA0454E2BB3}"/>
                  </a:ext>
                </a:extLst>
              </p:cNvPr>
              <p:cNvSpPr/>
              <p:nvPr/>
            </p:nvSpPr>
            <p:spPr>
              <a:xfrm>
                <a:off x="1802009" y="805082"/>
                <a:ext cx="697392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zh-CN" altLang="en-US" sz="900" dirty="0">
                    <a:solidFill>
                      <a:srgbClr val="111111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摘要</a:t>
                </a:r>
                <a:endParaRPr lang="en-US" sz="109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19" name="analyzer-sub1">
                <a:extLst>
                  <a:ext uri="{FF2B5EF4-FFF2-40B4-BE49-F238E27FC236}">
                    <a16:creationId xmlns:a16="http://schemas.microsoft.com/office/drawing/2014/main" id="{84010FB3-82DA-4E41-950C-2CB90E3005E1}"/>
                  </a:ext>
                </a:extLst>
              </p:cNvPr>
              <p:cNvSpPr/>
              <p:nvPr/>
            </p:nvSpPr>
            <p:spPr>
              <a:xfrm>
                <a:off x="3471915" y="805082"/>
                <a:ext cx="999144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zh-CN" altLang="en-US" sz="900" dirty="0">
                    <a:solidFill>
                      <a:srgbClr val="111111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完整文档</a:t>
                </a:r>
                <a:endParaRPr 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20" name="analyzer-sub1">
                <a:extLst>
                  <a:ext uri="{FF2B5EF4-FFF2-40B4-BE49-F238E27FC236}">
                    <a16:creationId xmlns:a16="http://schemas.microsoft.com/office/drawing/2014/main" id="{59CDBFFB-BB67-0E4A-B7CC-9B4B432377DB}"/>
                  </a:ext>
                </a:extLst>
              </p:cNvPr>
              <p:cNvSpPr/>
              <p:nvPr/>
            </p:nvSpPr>
            <p:spPr>
              <a:xfrm>
                <a:off x="2565694" y="805167"/>
                <a:ext cx="839928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zh-CN" altLang="en-US" sz="900" dirty="0">
                    <a:solidFill>
                      <a:srgbClr val="111111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速查手册</a:t>
                </a:r>
                <a:endParaRPr lang="en-US" sz="109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00AF6D9-C621-3D4B-BFFD-49E4D2D876D4}"/>
                </a:ext>
              </a:extLst>
            </p:cNvPr>
            <p:cNvSpPr/>
            <p:nvPr/>
          </p:nvSpPr>
          <p:spPr>
            <a:xfrm>
              <a:off x="3087857" y="5996939"/>
              <a:ext cx="5030395" cy="583200"/>
            </a:xfrm>
            <a:prstGeom prst="rect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D694CC4-69F2-BA46-947C-B97DF7C95B2B}"/>
              </a:ext>
            </a:extLst>
          </p:cNvPr>
          <p:cNvGrpSpPr/>
          <p:nvPr/>
        </p:nvGrpSpPr>
        <p:grpSpPr>
          <a:xfrm>
            <a:off x="24580" y="5409407"/>
            <a:ext cx="827874" cy="400110"/>
            <a:chOff x="-1073093" y="4148683"/>
            <a:chExt cx="827874" cy="400110"/>
          </a:xfrm>
        </p:grpSpPr>
        <p:sp>
          <p:nvSpPr>
            <p:cNvPr id="22" name="source-box">
              <a:extLst>
                <a:ext uri="{FF2B5EF4-FFF2-40B4-BE49-F238E27FC236}">
                  <a16:creationId xmlns:a16="http://schemas.microsoft.com/office/drawing/2014/main" id="{BF7A2E09-6CE2-AF4D-81F6-D6A5B630FB56}"/>
                </a:ext>
              </a:extLst>
            </p:cNvPr>
            <p:cNvSpPr/>
            <p:nvPr/>
          </p:nvSpPr>
          <p:spPr>
            <a:xfrm>
              <a:off x="-1073093" y="4148683"/>
              <a:ext cx="787848" cy="40011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11111"/>
              </a:solidFill>
            </a:ln>
          </p:spPr>
          <p:txBody>
            <a:bodyPr lIns="136800" tIns="136800" rIns="136800" bIns="136800" anchor="t"/>
            <a:lstStyle/>
            <a:p>
              <a:pPr algn="ctr"/>
              <a:endParaRPr lang="en-US" sz="119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23" name="ws-scan-text">
              <a:extLst>
                <a:ext uri="{FF2B5EF4-FFF2-40B4-BE49-F238E27FC236}">
                  <a16:creationId xmlns:a16="http://schemas.microsoft.com/office/drawing/2014/main" id="{52EAF7E6-64B1-E545-978C-D96DD28DBD89}"/>
                </a:ext>
              </a:extLst>
            </p:cNvPr>
            <p:cNvSpPr txBox="1"/>
            <p:nvPr/>
          </p:nvSpPr>
          <p:spPr>
            <a:xfrm>
              <a:off x="-1033067" y="4249577"/>
              <a:ext cx="787848" cy="207684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Cangjie</a:t>
              </a:r>
              <a:r>
                <a:rPr lang="zh-CN" altLang="en-US" sz="12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 </a:t>
              </a:r>
              <a:r>
                <a:rPr lang="en-US" altLang="zh-CN" sz="1200" b="1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Project</a:t>
              </a:r>
              <a:endParaRPr lang="en-US" sz="1200" b="1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sp>
        <p:nvSpPr>
          <p:cNvPr id="24" name="shared-label">
            <a:extLst>
              <a:ext uri="{FF2B5EF4-FFF2-40B4-BE49-F238E27FC236}">
                <a16:creationId xmlns:a16="http://schemas.microsoft.com/office/drawing/2014/main" id="{8B98BCF5-2ADB-034E-A81F-02879163421B}"/>
              </a:ext>
            </a:extLst>
          </p:cNvPr>
          <p:cNvSpPr txBox="1"/>
          <p:nvPr/>
        </p:nvSpPr>
        <p:spPr>
          <a:xfrm>
            <a:off x="2216115" y="534522"/>
            <a:ext cx="4947234" cy="184526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ctr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状态迁移校验层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502157-3F1A-B143-AC7F-3A65FAFA13AD}"/>
              </a:ext>
            </a:extLst>
          </p:cNvPr>
          <p:cNvSpPr/>
          <p:nvPr/>
        </p:nvSpPr>
        <p:spPr>
          <a:xfrm>
            <a:off x="1250207" y="771004"/>
            <a:ext cx="6902133" cy="490509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5E3B3A2-138C-1347-B9A1-BE692DF42430}"/>
              </a:ext>
            </a:extLst>
          </p:cNvPr>
          <p:cNvSpPr/>
          <p:nvPr/>
        </p:nvSpPr>
        <p:spPr>
          <a:xfrm>
            <a:off x="1175917" y="1372911"/>
            <a:ext cx="6976670" cy="14124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9BCC694-DC78-FE41-8BB6-1FE22B030472}"/>
              </a:ext>
            </a:extLst>
          </p:cNvPr>
          <p:cNvGrpSpPr/>
          <p:nvPr/>
        </p:nvGrpSpPr>
        <p:grpSpPr>
          <a:xfrm>
            <a:off x="1241541" y="1418651"/>
            <a:ext cx="1473922" cy="1177002"/>
            <a:chOff x="1897066" y="3015249"/>
            <a:chExt cx="1473922" cy="1177002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C703FB8-29B1-8740-A9F3-4E5EECF55095}"/>
                </a:ext>
              </a:extLst>
            </p:cNvPr>
            <p:cNvGrpSpPr/>
            <p:nvPr/>
          </p:nvGrpSpPr>
          <p:grpSpPr>
            <a:xfrm>
              <a:off x="1897066" y="3015249"/>
              <a:ext cx="1473922" cy="1177002"/>
              <a:chOff x="1981062" y="2703676"/>
              <a:chExt cx="1473922" cy="1177002"/>
            </a:xfrm>
          </p:grpSpPr>
          <p:sp>
            <p:nvSpPr>
              <p:cNvPr id="88" name="analyzer-title">
                <a:extLst>
                  <a:ext uri="{FF2B5EF4-FFF2-40B4-BE49-F238E27FC236}">
                    <a16:creationId xmlns:a16="http://schemas.microsoft.com/office/drawing/2014/main" id="{7AA99009-323E-6E48-BE1E-7BBDC7BDB7DE}"/>
                  </a:ext>
                </a:extLst>
              </p:cNvPr>
              <p:cNvSpPr txBox="1"/>
              <p:nvPr/>
            </p:nvSpPr>
            <p:spPr>
              <a:xfrm>
                <a:off x="2300330" y="2703676"/>
                <a:ext cx="9360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l"/>
                <a:r>
                  <a:rPr lang="en-US" altLang="zh-CN" sz="1620" b="1" dirty="0">
                    <a:solidFill>
                      <a:schemeClr val="accent6">
                        <a:lumMod val="75000"/>
                      </a:schemeClr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Analyzer</a:t>
                </a:r>
                <a:endParaRPr lang="en-US" sz="1620" b="1" dirty="0">
                  <a:solidFill>
                    <a:schemeClr val="accent6">
                      <a:lumMod val="75000"/>
                    </a:schemeClr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89" name="analyzer-sub2">
                <a:extLst>
                  <a:ext uri="{FF2B5EF4-FFF2-40B4-BE49-F238E27FC236}">
                    <a16:creationId xmlns:a16="http://schemas.microsoft.com/office/drawing/2014/main" id="{AA60D65E-DFBF-5346-9447-0F88BA81E364}"/>
                  </a:ext>
                </a:extLst>
              </p:cNvPr>
              <p:cNvSpPr/>
              <p:nvPr/>
            </p:nvSpPr>
            <p:spPr>
              <a:xfrm>
                <a:off x="2046138" y="3295808"/>
                <a:ext cx="1371073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zh-CN" altLang="en-US" sz="900" dirty="0">
                    <a:solidFill>
                      <a:srgbClr val="111111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梳理依赖与功能</a:t>
                </a:r>
                <a:endParaRPr 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DF6CF1D9-F44C-C549-982F-8B82AF5DACB2}"/>
                  </a:ext>
                </a:extLst>
              </p:cNvPr>
              <p:cNvSpPr/>
              <p:nvPr/>
            </p:nvSpPr>
            <p:spPr>
              <a:xfrm>
                <a:off x="1981062" y="2721305"/>
                <a:ext cx="1473922" cy="1159373"/>
              </a:xfrm>
              <a:prstGeom prst="rect">
                <a:avLst/>
              </a:prstGeom>
              <a:noFill/>
              <a:ln w="15875" cap="flat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86" name="analyzer-sub1">
              <a:extLst>
                <a:ext uri="{FF2B5EF4-FFF2-40B4-BE49-F238E27FC236}">
                  <a16:creationId xmlns:a16="http://schemas.microsoft.com/office/drawing/2014/main" id="{A8BBA652-ACF7-A44D-8AF8-7FCB630CAC23}"/>
                </a:ext>
              </a:extLst>
            </p:cNvPr>
            <p:cNvSpPr/>
            <p:nvPr/>
          </p:nvSpPr>
          <p:spPr>
            <a:xfrm>
              <a:off x="1956894" y="3310134"/>
              <a:ext cx="1377607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识别项目结构</a:t>
              </a:r>
              <a:endParaRPr 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87" name="analyzer-sub1">
              <a:extLst>
                <a:ext uri="{FF2B5EF4-FFF2-40B4-BE49-F238E27FC236}">
                  <a16:creationId xmlns:a16="http://schemas.microsoft.com/office/drawing/2014/main" id="{14F161D2-67CB-424F-8E48-3E4EA10573EE}"/>
                </a:ext>
              </a:extLst>
            </p:cNvPr>
            <p:cNvSpPr/>
            <p:nvPr/>
          </p:nvSpPr>
          <p:spPr>
            <a:xfrm>
              <a:off x="1957223" y="3915088"/>
              <a:ext cx="1377607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拆分迁移任务</a:t>
              </a:r>
              <a:endParaRPr 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532D445-C3EE-0748-A8F6-52A2177B2D33}"/>
              </a:ext>
            </a:extLst>
          </p:cNvPr>
          <p:cNvGrpSpPr/>
          <p:nvPr/>
        </p:nvGrpSpPr>
        <p:grpSpPr>
          <a:xfrm>
            <a:off x="6319603" y="1427117"/>
            <a:ext cx="1723869" cy="1195206"/>
            <a:chOff x="532390" y="4956144"/>
            <a:chExt cx="1723869" cy="1195206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2DFB5AB7-346D-BB42-BDCD-A40D9AA95BDA}"/>
                </a:ext>
              </a:extLst>
            </p:cNvPr>
            <p:cNvGrpSpPr/>
            <p:nvPr/>
          </p:nvGrpSpPr>
          <p:grpSpPr>
            <a:xfrm>
              <a:off x="532390" y="4956144"/>
              <a:ext cx="1723869" cy="1195206"/>
              <a:chOff x="3802342" y="2537305"/>
              <a:chExt cx="1723869" cy="1195206"/>
            </a:xfrm>
          </p:grpSpPr>
          <p:sp>
            <p:nvSpPr>
              <p:cNvPr id="83" name="analyzer-title">
                <a:extLst>
                  <a:ext uri="{FF2B5EF4-FFF2-40B4-BE49-F238E27FC236}">
                    <a16:creationId xmlns:a16="http://schemas.microsoft.com/office/drawing/2014/main" id="{C98195DC-1D9D-4E4C-9564-7D36A16BD117}"/>
                  </a:ext>
                </a:extLst>
              </p:cNvPr>
              <p:cNvSpPr txBox="1"/>
              <p:nvPr/>
            </p:nvSpPr>
            <p:spPr>
              <a:xfrm>
                <a:off x="4322631" y="2537305"/>
                <a:ext cx="9360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r>
                  <a:rPr lang="en-US" altLang="zh-CN" sz="1620" b="1" dirty="0">
                    <a:solidFill>
                      <a:schemeClr val="accent4">
                        <a:lumMod val="75000"/>
                      </a:schemeClr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Verifier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DA8AFDC-C097-E64B-9CAF-813EFFC7BFFA}"/>
                  </a:ext>
                </a:extLst>
              </p:cNvPr>
              <p:cNvSpPr/>
              <p:nvPr/>
            </p:nvSpPr>
            <p:spPr>
              <a:xfrm>
                <a:off x="3802342" y="2558117"/>
                <a:ext cx="1723869" cy="1174394"/>
              </a:xfrm>
              <a:prstGeom prst="rect">
                <a:avLst/>
              </a:prstGeom>
              <a:noFill/>
              <a:ln w="158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80" name="analyzer-sub1">
              <a:extLst>
                <a:ext uri="{FF2B5EF4-FFF2-40B4-BE49-F238E27FC236}">
                  <a16:creationId xmlns:a16="http://schemas.microsoft.com/office/drawing/2014/main" id="{7BEA49E9-5D39-234C-B87F-63D58DE27A25}"/>
                </a:ext>
              </a:extLst>
            </p:cNvPr>
            <p:cNvSpPr/>
            <p:nvPr/>
          </p:nvSpPr>
          <p:spPr>
            <a:xfrm>
              <a:off x="605382" y="5839380"/>
              <a:ext cx="1562225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判断计划能否进入实现</a:t>
              </a:r>
              <a:endParaRPr 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81" name="analyzer-sub1">
              <a:extLst>
                <a:ext uri="{FF2B5EF4-FFF2-40B4-BE49-F238E27FC236}">
                  <a16:creationId xmlns:a16="http://schemas.microsoft.com/office/drawing/2014/main" id="{E771D694-8C11-DF40-8CA9-A2D1D4499DD4}"/>
                </a:ext>
              </a:extLst>
            </p:cNvPr>
            <p:cNvSpPr/>
            <p:nvPr/>
          </p:nvSpPr>
          <p:spPr>
            <a:xfrm>
              <a:off x="600330" y="5233603"/>
              <a:ext cx="1562225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检查迁移范围是否完整</a:t>
              </a:r>
              <a:endParaRPr 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pic>
        <p:nvPicPr>
          <p:cNvPr id="78" name="图形 77">
            <a:extLst>
              <a:ext uri="{FF2B5EF4-FFF2-40B4-BE49-F238E27FC236}">
                <a16:creationId xmlns:a16="http://schemas.microsoft.com/office/drawing/2014/main" id="{B174ECF6-7DC7-374E-A5CB-1F7B60B62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504" y="1912705"/>
            <a:ext cx="362296" cy="36229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92C7A92-7F32-4A4F-BA4D-9A9FE85B2110}"/>
              </a:ext>
            </a:extLst>
          </p:cNvPr>
          <p:cNvSpPr/>
          <p:nvPr/>
        </p:nvSpPr>
        <p:spPr>
          <a:xfrm>
            <a:off x="1175675" y="2852329"/>
            <a:ext cx="6976670" cy="1566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30801F6-DB2B-1F4C-B112-26F5B48EE26B}"/>
              </a:ext>
            </a:extLst>
          </p:cNvPr>
          <p:cNvGrpSpPr/>
          <p:nvPr/>
        </p:nvGrpSpPr>
        <p:grpSpPr>
          <a:xfrm>
            <a:off x="6267371" y="3009688"/>
            <a:ext cx="1736564" cy="1234199"/>
            <a:chOff x="2527667" y="1528183"/>
            <a:chExt cx="1736564" cy="1234199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5AA80B1-7284-C649-A5F3-91128AF905D9}"/>
                </a:ext>
              </a:extLst>
            </p:cNvPr>
            <p:cNvGrpSpPr/>
            <p:nvPr/>
          </p:nvGrpSpPr>
          <p:grpSpPr>
            <a:xfrm>
              <a:off x="2527667" y="1528183"/>
              <a:ext cx="1736564" cy="1234199"/>
              <a:chOff x="1990935" y="2517677"/>
              <a:chExt cx="1736564" cy="1234199"/>
            </a:xfrm>
          </p:grpSpPr>
          <p:sp>
            <p:nvSpPr>
              <p:cNvPr id="32" name="analyzer-title">
                <a:extLst>
                  <a:ext uri="{FF2B5EF4-FFF2-40B4-BE49-F238E27FC236}">
                    <a16:creationId xmlns:a16="http://schemas.microsoft.com/office/drawing/2014/main" id="{0A14C71F-4328-7644-B9CD-33FAC576EA3E}"/>
                  </a:ext>
                </a:extLst>
              </p:cNvPr>
              <p:cNvSpPr txBox="1"/>
              <p:nvPr/>
            </p:nvSpPr>
            <p:spPr>
              <a:xfrm>
                <a:off x="2346703" y="2539664"/>
                <a:ext cx="1045298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l"/>
                <a:r>
                  <a:rPr lang="en-US" sz="1620" b="1" dirty="0">
                    <a:solidFill>
                      <a:srgbClr val="7030A0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Translator</a:t>
                </a: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C4A1427-56FD-254A-B8D4-B138E02DA867}"/>
                  </a:ext>
                </a:extLst>
              </p:cNvPr>
              <p:cNvSpPr/>
              <p:nvPr/>
            </p:nvSpPr>
            <p:spPr>
              <a:xfrm>
                <a:off x="1990935" y="2517677"/>
                <a:ext cx="1736564" cy="1234199"/>
              </a:xfrm>
              <a:prstGeom prst="rect">
                <a:avLst/>
              </a:prstGeom>
              <a:noFill/>
              <a:ln w="158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28" name="analyzer-sub1">
              <a:extLst>
                <a:ext uri="{FF2B5EF4-FFF2-40B4-BE49-F238E27FC236}">
                  <a16:creationId xmlns:a16="http://schemas.microsoft.com/office/drawing/2014/main" id="{A1917658-AA4E-7642-8644-EE7A96898F6E}"/>
                </a:ext>
              </a:extLst>
            </p:cNvPr>
            <p:cNvSpPr/>
            <p:nvPr/>
          </p:nvSpPr>
          <p:spPr>
            <a:xfrm>
              <a:off x="2607802" y="1863167"/>
              <a:ext cx="1550029" cy="198109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测试先行，暴露差异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30" name="analyzer-sub1">
              <a:extLst>
                <a:ext uri="{FF2B5EF4-FFF2-40B4-BE49-F238E27FC236}">
                  <a16:creationId xmlns:a16="http://schemas.microsoft.com/office/drawing/2014/main" id="{797DA133-FC96-1A44-9883-AE5843677A04}"/>
                </a:ext>
              </a:extLst>
            </p:cNvPr>
            <p:cNvSpPr/>
            <p:nvPr/>
          </p:nvSpPr>
          <p:spPr>
            <a:xfrm>
              <a:off x="2607803" y="2125945"/>
              <a:ext cx="1550028" cy="208256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翻译并重构仓颉代码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2F3C203-0B91-EF46-86D6-FD2C02AFC4F6}"/>
              </a:ext>
            </a:extLst>
          </p:cNvPr>
          <p:cNvGrpSpPr/>
          <p:nvPr/>
        </p:nvGrpSpPr>
        <p:grpSpPr>
          <a:xfrm>
            <a:off x="1249983" y="3017787"/>
            <a:ext cx="1585141" cy="1249764"/>
            <a:chOff x="5886639" y="1539894"/>
            <a:chExt cx="1585141" cy="1249764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817235A8-7620-E344-9B82-D8778FF887EF}"/>
                </a:ext>
              </a:extLst>
            </p:cNvPr>
            <p:cNvGrpSpPr/>
            <p:nvPr/>
          </p:nvGrpSpPr>
          <p:grpSpPr>
            <a:xfrm>
              <a:off x="5886639" y="1539894"/>
              <a:ext cx="1585141" cy="1249764"/>
              <a:chOff x="3745368" y="2859627"/>
              <a:chExt cx="1585141" cy="1249764"/>
            </a:xfrm>
          </p:grpSpPr>
          <p:sp>
            <p:nvSpPr>
              <p:cNvPr id="71" name="analyzer-title">
                <a:extLst>
                  <a:ext uri="{FF2B5EF4-FFF2-40B4-BE49-F238E27FC236}">
                    <a16:creationId xmlns:a16="http://schemas.microsoft.com/office/drawing/2014/main" id="{F8ED9317-B0BD-F740-95C8-690E6C2EB497}"/>
                  </a:ext>
                </a:extLst>
              </p:cNvPr>
              <p:cNvSpPr txBox="1"/>
              <p:nvPr/>
            </p:nvSpPr>
            <p:spPr>
              <a:xfrm>
                <a:off x="4223659" y="2886857"/>
                <a:ext cx="774228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r>
                  <a:rPr lang="en-US" altLang="zh-CN" sz="1620" b="1" dirty="0">
                    <a:solidFill>
                      <a:schemeClr val="accent4">
                        <a:lumMod val="75000"/>
                      </a:schemeClr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Verifier</a:t>
                </a: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A721841-9368-1E44-B4D8-1D04D37406C1}"/>
                  </a:ext>
                </a:extLst>
              </p:cNvPr>
              <p:cNvSpPr/>
              <p:nvPr/>
            </p:nvSpPr>
            <p:spPr>
              <a:xfrm>
                <a:off x="3745368" y="2859627"/>
                <a:ext cx="1585141" cy="1249764"/>
              </a:xfrm>
              <a:prstGeom prst="rect">
                <a:avLst/>
              </a:prstGeom>
              <a:noFill/>
              <a:ln w="158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68" name="analyzer-sub1">
              <a:extLst>
                <a:ext uri="{FF2B5EF4-FFF2-40B4-BE49-F238E27FC236}">
                  <a16:creationId xmlns:a16="http://schemas.microsoft.com/office/drawing/2014/main" id="{BA11CE8C-C25A-5840-B58B-75FBC1E323B9}"/>
                </a:ext>
              </a:extLst>
            </p:cNvPr>
            <p:cNvSpPr/>
            <p:nvPr/>
          </p:nvSpPr>
          <p:spPr>
            <a:xfrm>
              <a:off x="5934270" y="2175246"/>
              <a:ext cx="1476768" cy="237038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复现构建、测试与运行结果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69" name="analyzer-sub1">
              <a:extLst>
                <a:ext uri="{FF2B5EF4-FFF2-40B4-BE49-F238E27FC236}">
                  <a16:creationId xmlns:a16="http://schemas.microsoft.com/office/drawing/2014/main" id="{EB6B77B4-7109-A041-B6B2-B12A8B18D29C}"/>
                </a:ext>
              </a:extLst>
            </p:cNvPr>
            <p:cNvSpPr/>
            <p:nvPr/>
          </p:nvSpPr>
          <p:spPr>
            <a:xfrm>
              <a:off x="5949728" y="1865183"/>
              <a:ext cx="1472596" cy="237038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对比迁移前后功能行为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70" name="analyzer-sub1">
              <a:extLst>
                <a:ext uri="{FF2B5EF4-FFF2-40B4-BE49-F238E27FC236}">
                  <a16:creationId xmlns:a16="http://schemas.microsoft.com/office/drawing/2014/main" id="{E14352CE-3542-3B49-A15B-BFC32E91B419}"/>
                </a:ext>
              </a:extLst>
            </p:cNvPr>
            <p:cNvSpPr/>
            <p:nvPr/>
          </p:nvSpPr>
          <p:spPr>
            <a:xfrm>
              <a:off x="5938442" y="2479627"/>
              <a:ext cx="1472596" cy="237039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判断当前子任务能否通过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sp>
        <p:nvSpPr>
          <p:cNvPr id="94" name="矩形 93">
            <a:extLst>
              <a:ext uri="{FF2B5EF4-FFF2-40B4-BE49-F238E27FC236}">
                <a16:creationId xmlns:a16="http://schemas.microsoft.com/office/drawing/2014/main" id="{92030935-39AC-F644-974F-B2CB62C9C0E7}"/>
              </a:ext>
            </a:extLst>
          </p:cNvPr>
          <p:cNvSpPr/>
          <p:nvPr/>
        </p:nvSpPr>
        <p:spPr>
          <a:xfrm>
            <a:off x="1151531" y="4498771"/>
            <a:ext cx="7000814" cy="12601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15" name="图形 114">
            <a:extLst>
              <a:ext uri="{FF2B5EF4-FFF2-40B4-BE49-F238E27FC236}">
                <a16:creationId xmlns:a16="http://schemas.microsoft.com/office/drawing/2014/main" id="{AC313091-8108-CA44-91AB-34B60E92B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0829" y="4619386"/>
            <a:ext cx="297342" cy="297342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2742B1DF-EE54-CB4B-8CCE-BE190943BF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1334" y="1612778"/>
            <a:ext cx="305120" cy="305120"/>
          </a:xfrm>
          <a:prstGeom prst="rect">
            <a:avLst/>
          </a:prstGeom>
        </p:spPr>
      </p:pic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4459017F-6BBB-104F-ACA2-3FC231124435}"/>
              </a:ext>
            </a:extLst>
          </p:cNvPr>
          <p:cNvGrpSpPr/>
          <p:nvPr/>
        </p:nvGrpSpPr>
        <p:grpSpPr>
          <a:xfrm>
            <a:off x="3313132" y="1440524"/>
            <a:ext cx="2491434" cy="925650"/>
            <a:chOff x="-3292644" y="2652241"/>
            <a:chExt cx="2491434" cy="925650"/>
          </a:xfrm>
        </p:grpSpPr>
        <p:sp>
          <p:nvSpPr>
            <p:cNvPr id="36" name="ws-todo-text">
              <a:extLst>
                <a:ext uri="{FF2B5EF4-FFF2-40B4-BE49-F238E27FC236}">
                  <a16:creationId xmlns:a16="http://schemas.microsoft.com/office/drawing/2014/main" id="{B019819C-7471-2B4B-A385-6AF87A86CA35}"/>
                </a:ext>
              </a:extLst>
            </p:cNvPr>
            <p:cNvSpPr txBox="1"/>
            <p:nvPr/>
          </p:nvSpPr>
          <p:spPr>
            <a:xfrm>
              <a:off x="-2895237" y="2721653"/>
              <a:ext cx="1914949" cy="222192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r>
                <a:rPr lang="zh-CN" altLang="en-US" sz="1400" b="1" dirty="0">
                  <a:latin typeface="DengXian" panose="02010600030101010101" pitchFamily="2" charset="-122"/>
                  <a:ea typeface="DengXian" panose="02010600030101010101" pitchFamily="2" charset="-122"/>
                </a:rPr>
                <a:t>可执行的翻译目标</a:t>
              </a:r>
              <a:endParaRPr lang="en-US" sz="1400" b="1"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38" name="analyzer-sub3">
              <a:extLst>
                <a:ext uri="{FF2B5EF4-FFF2-40B4-BE49-F238E27FC236}">
                  <a16:creationId xmlns:a16="http://schemas.microsoft.com/office/drawing/2014/main" id="{F66915CA-A7A5-DC45-991F-5919D2A5030F}"/>
                </a:ext>
              </a:extLst>
            </p:cNvPr>
            <p:cNvSpPr/>
            <p:nvPr/>
          </p:nvSpPr>
          <p:spPr>
            <a:xfrm>
              <a:off x="-3199853" y="3308505"/>
              <a:ext cx="1119409" cy="22219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10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验证计划</a:t>
              </a:r>
              <a:endPara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40" name="analyzer-sub3">
              <a:extLst>
                <a:ext uri="{FF2B5EF4-FFF2-40B4-BE49-F238E27FC236}">
                  <a16:creationId xmlns:a16="http://schemas.microsoft.com/office/drawing/2014/main" id="{18BDC368-BC45-5646-BA1A-284B5C8CFA1E}"/>
                </a:ext>
              </a:extLst>
            </p:cNvPr>
            <p:cNvSpPr/>
            <p:nvPr/>
          </p:nvSpPr>
          <p:spPr>
            <a:xfrm>
              <a:off x="-2015186" y="3299379"/>
              <a:ext cx="1124852" cy="22219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10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代码对照</a:t>
              </a:r>
              <a:endPara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41" name="analyzer-sub3">
              <a:extLst>
                <a:ext uri="{FF2B5EF4-FFF2-40B4-BE49-F238E27FC236}">
                  <a16:creationId xmlns:a16="http://schemas.microsoft.com/office/drawing/2014/main" id="{5B8FA533-CDB7-A446-8D8F-EF387F3E172D}"/>
                </a:ext>
              </a:extLst>
            </p:cNvPr>
            <p:cNvSpPr/>
            <p:nvPr/>
          </p:nvSpPr>
          <p:spPr>
            <a:xfrm>
              <a:off x="-3205709" y="3009309"/>
              <a:ext cx="1131122" cy="22219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10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优先级</a:t>
              </a:r>
              <a:endPara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42" name="analyzer-sub3">
              <a:extLst>
                <a:ext uri="{FF2B5EF4-FFF2-40B4-BE49-F238E27FC236}">
                  <a16:creationId xmlns:a16="http://schemas.microsoft.com/office/drawing/2014/main" id="{86106097-085D-4D43-B47F-0BBC434D9235}"/>
                </a:ext>
              </a:extLst>
            </p:cNvPr>
            <p:cNvSpPr/>
            <p:nvPr/>
          </p:nvSpPr>
          <p:spPr>
            <a:xfrm>
              <a:off x="-2011459" y="3006950"/>
              <a:ext cx="1124852" cy="22219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10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功能拆分</a:t>
              </a:r>
              <a:endPara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6D4A8BD-C027-014B-A6FD-CFD4C25857E7}"/>
                </a:ext>
              </a:extLst>
            </p:cNvPr>
            <p:cNvSpPr/>
            <p:nvPr/>
          </p:nvSpPr>
          <p:spPr>
            <a:xfrm>
              <a:off x="-3292644" y="2652241"/>
              <a:ext cx="2491434" cy="925650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E46070F-2C97-234E-A4DA-7BEE452B0277}"/>
              </a:ext>
            </a:extLst>
          </p:cNvPr>
          <p:cNvGrpSpPr/>
          <p:nvPr/>
        </p:nvGrpSpPr>
        <p:grpSpPr>
          <a:xfrm>
            <a:off x="3297573" y="2428188"/>
            <a:ext cx="1218056" cy="277867"/>
            <a:chOff x="2222784" y="5381886"/>
            <a:chExt cx="1218056" cy="277867"/>
          </a:xfrm>
        </p:grpSpPr>
        <p:sp>
          <p:nvSpPr>
            <p:cNvPr id="63" name="ws-scan">
              <a:extLst>
                <a:ext uri="{FF2B5EF4-FFF2-40B4-BE49-F238E27FC236}">
                  <a16:creationId xmlns:a16="http://schemas.microsoft.com/office/drawing/2014/main" id="{97F938BF-5D39-6C4E-803B-D6FF1A3EA5F2}"/>
                </a:ext>
              </a:extLst>
            </p:cNvPr>
            <p:cNvSpPr/>
            <p:nvPr/>
          </p:nvSpPr>
          <p:spPr>
            <a:xfrm>
              <a:off x="2222784" y="5381886"/>
              <a:ext cx="1218056" cy="27786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64" name="ws-scan-text">
              <a:extLst>
                <a:ext uri="{FF2B5EF4-FFF2-40B4-BE49-F238E27FC236}">
                  <a16:creationId xmlns:a16="http://schemas.microsoft.com/office/drawing/2014/main" id="{9C473926-44A7-4341-B4A8-5C5140436DA1}"/>
                </a:ext>
              </a:extLst>
            </p:cNvPr>
            <p:cNvSpPr txBox="1"/>
            <p:nvPr/>
          </p:nvSpPr>
          <p:spPr>
            <a:xfrm>
              <a:off x="2343119" y="5432246"/>
              <a:ext cx="1097721" cy="164867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zh-CN" altLang="en-US" sz="11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仓库扫描结果</a:t>
              </a:r>
              <a:endParaRPr lang="en-US" sz="11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sp>
        <p:nvSpPr>
          <p:cNvPr id="122" name="矩形 121">
            <a:extLst>
              <a:ext uri="{FF2B5EF4-FFF2-40B4-BE49-F238E27FC236}">
                <a16:creationId xmlns:a16="http://schemas.microsoft.com/office/drawing/2014/main" id="{8F8ED01A-47DF-A14C-A240-B868340A5C00}"/>
              </a:ext>
            </a:extLst>
          </p:cNvPr>
          <p:cNvSpPr/>
          <p:nvPr/>
        </p:nvSpPr>
        <p:spPr>
          <a:xfrm>
            <a:off x="1330179" y="847757"/>
            <a:ext cx="2562480" cy="334242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从中间产物中提取事实与证据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74BAE61-F023-4642-BFD6-EFF060BEFB73}"/>
              </a:ext>
            </a:extLst>
          </p:cNvPr>
          <p:cNvSpPr/>
          <p:nvPr/>
        </p:nvSpPr>
        <p:spPr>
          <a:xfrm>
            <a:off x="4060380" y="845047"/>
            <a:ext cx="1846352" cy="336952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分阶段按规则校验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47E3B2-6357-8F41-B490-C4B7653005E1}"/>
              </a:ext>
            </a:extLst>
          </p:cNvPr>
          <p:cNvSpPr/>
          <p:nvPr/>
        </p:nvSpPr>
        <p:spPr>
          <a:xfrm>
            <a:off x="6090995" y="850369"/>
            <a:ext cx="1931597" cy="331777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输出判定及审计报告</a:t>
            </a:r>
          </a:p>
        </p:txBody>
      </p:sp>
      <p:cxnSp>
        <p:nvCxnSpPr>
          <p:cNvPr id="162" name="直线箭头连接符 161">
            <a:extLst>
              <a:ext uri="{FF2B5EF4-FFF2-40B4-BE49-F238E27FC236}">
                <a16:creationId xmlns:a16="http://schemas.microsoft.com/office/drawing/2014/main" id="{36626A7B-29AB-B446-B239-B5B27E08B4D8}"/>
              </a:ext>
            </a:extLst>
          </p:cNvPr>
          <p:cNvCxnSpPr>
            <a:cxnSpLocks/>
          </p:cNvCxnSpPr>
          <p:nvPr/>
        </p:nvCxnSpPr>
        <p:spPr>
          <a:xfrm>
            <a:off x="2913573" y="1352152"/>
            <a:ext cx="22765" cy="54447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肘形连接符 168">
            <a:extLst>
              <a:ext uri="{FF2B5EF4-FFF2-40B4-BE49-F238E27FC236}">
                <a16:creationId xmlns:a16="http://schemas.microsoft.com/office/drawing/2014/main" id="{7A20CD6D-7FE5-7949-875D-F67169B09CE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152340" y="1016259"/>
            <a:ext cx="235961" cy="1080529"/>
          </a:xfrm>
          <a:prstGeom prst="bentConnector2">
            <a:avLst/>
          </a:prstGeom>
          <a:ln>
            <a:prstDash val="dash"/>
            <a:headEnd type="none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6" name="右箭头 195">
            <a:extLst>
              <a:ext uri="{FF2B5EF4-FFF2-40B4-BE49-F238E27FC236}">
                <a16:creationId xmlns:a16="http://schemas.microsoft.com/office/drawing/2014/main" id="{2F7B2B6D-11A1-A94D-8979-EC4B584CA0B7}"/>
              </a:ext>
            </a:extLst>
          </p:cNvPr>
          <p:cNvSpPr/>
          <p:nvPr/>
        </p:nvSpPr>
        <p:spPr>
          <a:xfrm>
            <a:off x="777736" y="1719324"/>
            <a:ext cx="333441" cy="29727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98" name="标题 10">
            <a:extLst>
              <a:ext uri="{FF2B5EF4-FFF2-40B4-BE49-F238E27FC236}">
                <a16:creationId xmlns:a16="http://schemas.microsoft.com/office/drawing/2014/main" id="{2D7BFCD8-C04D-F44B-BECE-7CFCF3B26A3F}"/>
              </a:ext>
            </a:extLst>
          </p:cNvPr>
          <p:cNvSpPr>
            <a:spLocks noGrp="1"/>
          </p:cNvSpPr>
          <p:nvPr/>
        </p:nvSpPr>
        <p:spPr>
          <a:xfrm>
            <a:off x="154498" y="126454"/>
            <a:ext cx="5196839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  <a:sym typeface="+mn-ea"/>
              </a:rPr>
              <a:t>Overview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  <a:sym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E0084-BE1E-9447-B68E-71F917CED16E}"/>
              </a:ext>
            </a:extLst>
          </p:cNvPr>
          <p:cNvSpPr/>
          <p:nvPr/>
        </p:nvSpPr>
        <p:spPr>
          <a:xfrm>
            <a:off x="926272" y="1345057"/>
            <a:ext cx="2029827" cy="41841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7987838-B6B1-0042-BCBE-4213D34E1F3E}"/>
              </a:ext>
            </a:extLst>
          </p:cNvPr>
          <p:cNvSpPr/>
          <p:nvPr/>
        </p:nvSpPr>
        <p:spPr>
          <a:xfrm>
            <a:off x="2944238" y="1348248"/>
            <a:ext cx="6357292" cy="22883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B27CF33-E272-9B42-937F-834F97632033}"/>
              </a:ext>
            </a:extLst>
          </p:cNvPr>
          <p:cNvSpPr/>
          <p:nvPr/>
        </p:nvSpPr>
        <p:spPr>
          <a:xfrm>
            <a:off x="2928810" y="5758450"/>
            <a:ext cx="6357292" cy="6272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7" name="analyzer-sub1">
            <a:extLst>
              <a:ext uri="{FF2B5EF4-FFF2-40B4-BE49-F238E27FC236}">
                <a16:creationId xmlns:a16="http://schemas.microsoft.com/office/drawing/2014/main" id="{B1947E8F-F64D-8B4B-9573-9C500EF53D62}"/>
              </a:ext>
            </a:extLst>
          </p:cNvPr>
          <p:cNvSpPr/>
          <p:nvPr/>
        </p:nvSpPr>
        <p:spPr>
          <a:xfrm>
            <a:off x="6402533" y="2009189"/>
            <a:ext cx="1562225" cy="237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zh-CN" alt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确认关键功能无遗漏</a:t>
            </a:r>
            <a:endParaRPr lang="en-US" sz="9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8" name="ws-scan">
            <a:extLst>
              <a:ext uri="{FF2B5EF4-FFF2-40B4-BE49-F238E27FC236}">
                <a16:creationId xmlns:a16="http://schemas.microsoft.com/office/drawing/2014/main" id="{EC269A87-35AA-3644-BD4D-5FDC9B2C42EA}"/>
              </a:ext>
            </a:extLst>
          </p:cNvPr>
          <p:cNvSpPr/>
          <p:nvPr/>
        </p:nvSpPr>
        <p:spPr>
          <a:xfrm>
            <a:off x="4586675" y="2427930"/>
            <a:ext cx="1218056" cy="27786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21600" tIns="21600" rIns="21600" bIns="21600"/>
          <a:lstStyle/>
          <a:p>
            <a:endParaRPr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70" name="ws-scan-text">
            <a:extLst>
              <a:ext uri="{FF2B5EF4-FFF2-40B4-BE49-F238E27FC236}">
                <a16:creationId xmlns:a16="http://schemas.microsoft.com/office/drawing/2014/main" id="{50F45E69-6F23-AC4E-AB96-95354BB25D89}"/>
              </a:ext>
            </a:extLst>
          </p:cNvPr>
          <p:cNvSpPr txBox="1"/>
          <p:nvPr/>
        </p:nvSpPr>
        <p:spPr>
          <a:xfrm>
            <a:off x="4683010" y="2478548"/>
            <a:ext cx="1097721" cy="16486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zh-CN" altLang="en-US" sz="11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依赖分析清单</a:t>
            </a:r>
            <a:endParaRPr lang="en-US" sz="11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72" name="analyzer-sub1">
            <a:extLst>
              <a:ext uri="{FF2B5EF4-FFF2-40B4-BE49-F238E27FC236}">
                <a16:creationId xmlns:a16="http://schemas.microsoft.com/office/drawing/2014/main" id="{ACF6071A-F0BC-394E-A1C7-C17608CB481B}"/>
              </a:ext>
            </a:extLst>
          </p:cNvPr>
          <p:cNvSpPr/>
          <p:nvPr/>
        </p:nvSpPr>
        <p:spPr>
          <a:xfrm>
            <a:off x="6347507" y="3897982"/>
            <a:ext cx="1550028" cy="206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zh-CN" altLang="en-US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记录关键决策</a:t>
            </a:r>
            <a:endParaRPr lang="en-US" altLang="zh-CN" sz="9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FDA73FEB-53F8-9946-8F13-ED8E444E0F03}"/>
              </a:ext>
            </a:extLst>
          </p:cNvPr>
          <p:cNvGrpSpPr/>
          <p:nvPr/>
        </p:nvGrpSpPr>
        <p:grpSpPr>
          <a:xfrm>
            <a:off x="6272759" y="4572239"/>
            <a:ext cx="1735668" cy="1132134"/>
            <a:chOff x="2527667" y="1528184"/>
            <a:chExt cx="1735668" cy="1132134"/>
          </a:xfrm>
        </p:grpSpPr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8935C824-CFA5-E948-9901-C1DAF0AF98A6}"/>
                </a:ext>
              </a:extLst>
            </p:cNvPr>
            <p:cNvGrpSpPr/>
            <p:nvPr/>
          </p:nvGrpSpPr>
          <p:grpSpPr>
            <a:xfrm>
              <a:off x="2527667" y="1528184"/>
              <a:ext cx="1735668" cy="1132134"/>
              <a:chOff x="1990935" y="2517678"/>
              <a:chExt cx="1735668" cy="1132134"/>
            </a:xfrm>
          </p:grpSpPr>
          <p:sp>
            <p:nvSpPr>
              <p:cNvPr id="180" name="analyzer-title">
                <a:extLst>
                  <a:ext uri="{FF2B5EF4-FFF2-40B4-BE49-F238E27FC236}">
                    <a16:creationId xmlns:a16="http://schemas.microsoft.com/office/drawing/2014/main" id="{6AAFD210-E73A-5949-B2DA-BA3D5F5B6A9E}"/>
                  </a:ext>
                </a:extLst>
              </p:cNvPr>
              <p:cNvSpPr txBox="1"/>
              <p:nvPr/>
            </p:nvSpPr>
            <p:spPr>
              <a:xfrm>
                <a:off x="2346703" y="2539664"/>
                <a:ext cx="1045298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l"/>
                <a:r>
                  <a:rPr lang="en-US" sz="1620" b="1" dirty="0">
                    <a:solidFill>
                      <a:srgbClr val="7030A0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Translator</a:t>
                </a:r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35B801EA-9FAC-D24E-91AF-0D88D72BBD09}"/>
                  </a:ext>
                </a:extLst>
              </p:cNvPr>
              <p:cNvSpPr/>
              <p:nvPr/>
            </p:nvSpPr>
            <p:spPr>
              <a:xfrm>
                <a:off x="1990935" y="2517678"/>
                <a:ext cx="1735668" cy="1132134"/>
              </a:xfrm>
              <a:prstGeom prst="rect">
                <a:avLst/>
              </a:prstGeom>
              <a:noFill/>
              <a:ln w="158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76" name="analyzer-sub1">
              <a:extLst>
                <a:ext uri="{FF2B5EF4-FFF2-40B4-BE49-F238E27FC236}">
                  <a16:creationId xmlns:a16="http://schemas.microsoft.com/office/drawing/2014/main" id="{2B06D9D0-49DE-F54C-9730-7FAD201623C4}"/>
                </a:ext>
              </a:extLst>
            </p:cNvPr>
            <p:cNvSpPr/>
            <p:nvPr/>
          </p:nvSpPr>
          <p:spPr>
            <a:xfrm>
              <a:off x="2607802" y="1863167"/>
              <a:ext cx="1550029" cy="198109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汇总成果及验证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77" name="analyzer-sub1">
              <a:extLst>
                <a:ext uri="{FF2B5EF4-FFF2-40B4-BE49-F238E27FC236}">
                  <a16:creationId xmlns:a16="http://schemas.microsoft.com/office/drawing/2014/main" id="{7752494D-08CF-E345-90D9-1F64AF2F646C}"/>
                </a:ext>
              </a:extLst>
            </p:cNvPr>
            <p:cNvSpPr/>
            <p:nvPr/>
          </p:nvSpPr>
          <p:spPr>
            <a:xfrm>
              <a:off x="2607803" y="2389312"/>
              <a:ext cx="1550028" cy="20603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交付说明必要差异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79" name="analyzer-sub1">
              <a:extLst>
                <a:ext uri="{FF2B5EF4-FFF2-40B4-BE49-F238E27FC236}">
                  <a16:creationId xmlns:a16="http://schemas.microsoft.com/office/drawing/2014/main" id="{A9BF4B52-228D-3143-B286-687BFC7BC908}"/>
                </a:ext>
              </a:extLst>
            </p:cNvPr>
            <p:cNvSpPr/>
            <p:nvPr/>
          </p:nvSpPr>
          <p:spPr>
            <a:xfrm>
              <a:off x="2607803" y="2125945"/>
              <a:ext cx="1550028" cy="208256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处理阻塞与偏差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7086684A-BAF8-3248-8E31-7EDB13E4F038}"/>
              </a:ext>
            </a:extLst>
          </p:cNvPr>
          <p:cNvGrpSpPr/>
          <p:nvPr/>
        </p:nvGrpSpPr>
        <p:grpSpPr>
          <a:xfrm>
            <a:off x="1253840" y="4550868"/>
            <a:ext cx="1849062" cy="1132133"/>
            <a:chOff x="2527667" y="1528183"/>
            <a:chExt cx="1849062" cy="1132133"/>
          </a:xfrm>
        </p:grpSpPr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5FBFB47D-BFD6-5848-9A6B-392BE7859686}"/>
                </a:ext>
              </a:extLst>
            </p:cNvPr>
            <p:cNvGrpSpPr/>
            <p:nvPr/>
          </p:nvGrpSpPr>
          <p:grpSpPr>
            <a:xfrm>
              <a:off x="2527667" y="1528183"/>
              <a:ext cx="1849062" cy="1132133"/>
              <a:chOff x="1990935" y="2517677"/>
              <a:chExt cx="1849062" cy="1132133"/>
            </a:xfrm>
          </p:grpSpPr>
          <p:sp>
            <p:nvSpPr>
              <p:cNvPr id="189" name="analyzer-title">
                <a:extLst>
                  <a:ext uri="{FF2B5EF4-FFF2-40B4-BE49-F238E27FC236}">
                    <a16:creationId xmlns:a16="http://schemas.microsoft.com/office/drawing/2014/main" id="{F2923BB4-E3EA-564C-ABC3-5DE7D4FDF636}"/>
                  </a:ext>
                </a:extLst>
              </p:cNvPr>
              <p:cNvSpPr txBox="1"/>
              <p:nvPr/>
            </p:nvSpPr>
            <p:spPr>
              <a:xfrm>
                <a:off x="2539220" y="2527186"/>
                <a:ext cx="1045298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l"/>
                <a:r>
                  <a:rPr lang="en-US" sz="1620" b="1" dirty="0">
                    <a:solidFill>
                      <a:srgbClr val="7030A0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Reviewer</a:t>
                </a:r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5FCFCEBF-FC81-3547-A9A6-CB4266BEC221}"/>
                  </a:ext>
                </a:extLst>
              </p:cNvPr>
              <p:cNvSpPr/>
              <p:nvPr/>
            </p:nvSpPr>
            <p:spPr>
              <a:xfrm>
                <a:off x="1990935" y="2517677"/>
                <a:ext cx="1849062" cy="1132133"/>
              </a:xfrm>
              <a:prstGeom prst="rect">
                <a:avLst/>
              </a:prstGeom>
              <a:noFill/>
              <a:ln w="158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85" name="analyzer-sub1">
              <a:extLst>
                <a:ext uri="{FF2B5EF4-FFF2-40B4-BE49-F238E27FC236}">
                  <a16:creationId xmlns:a16="http://schemas.microsoft.com/office/drawing/2014/main" id="{04ABAC7C-0DD1-9646-B84E-3F47166751F8}"/>
                </a:ext>
              </a:extLst>
            </p:cNvPr>
            <p:cNvSpPr/>
            <p:nvPr/>
          </p:nvSpPr>
          <p:spPr>
            <a:xfrm>
              <a:off x="2607802" y="1863168"/>
              <a:ext cx="1702259" cy="189482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全面检查项目及验证记录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86" name="analyzer-sub1">
              <a:extLst>
                <a:ext uri="{FF2B5EF4-FFF2-40B4-BE49-F238E27FC236}">
                  <a16:creationId xmlns:a16="http://schemas.microsoft.com/office/drawing/2014/main" id="{80D76754-71EC-8D45-BC77-C9BB72255D1A}"/>
                </a:ext>
              </a:extLst>
            </p:cNvPr>
            <p:cNvSpPr/>
            <p:nvPr/>
          </p:nvSpPr>
          <p:spPr>
            <a:xfrm>
              <a:off x="2607803" y="2389313"/>
              <a:ext cx="1702258" cy="17189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给出验收报告与结论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188" name="analyzer-sub1">
              <a:extLst>
                <a:ext uri="{FF2B5EF4-FFF2-40B4-BE49-F238E27FC236}">
                  <a16:creationId xmlns:a16="http://schemas.microsoft.com/office/drawing/2014/main" id="{AF7AB8E0-2B73-5046-B8E2-CBA7C3BE1DEA}"/>
                </a:ext>
              </a:extLst>
            </p:cNvPr>
            <p:cNvSpPr/>
            <p:nvPr/>
          </p:nvSpPr>
          <p:spPr>
            <a:xfrm>
              <a:off x="2607802" y="2125945"/>
              <a:ext cx="1702259" cy="183031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dirty="0">
                  <a:solidFill>
                    <a:srgbClr val="111111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复核完整性与行为一致性</a:t>
              </a:r>
              <a:endParaRPr lang="en-US" altLang="zh-CN" sz="9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sp>
        <p:nvSpPr>
          <p:cNvPr id="191" name="analyzer-sub3">
            <a:extLst>
              <a:ext uri="{FF2B5EF4-FFF2-40B4-BE49-F238E27FC236}">
                <a16:creationId xmlns:a16="http://schemas.microsoft.com/office/drawing/2014/main" id="{69617845-02D4-F14E-8033-DF38FB765276}"/>
              </a:ext>
            </a:extLst>
          </p:cNvPr>
          <p:cNvSpPr/>
          <p:nvPr/>
        </p:nvSpPr>
        <p:spPr>
          <a:xfrm>
            <a:off x="4651426" y="3180658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zh-CN" alt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仓颉代码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92" name="analyzer-sub3">
            <a:extLst>
              <a:ext uri="{FF2B5EF4-FFF2-40B4-BE49-F238E27FC236}">
                <a16:creationId xmlns:a16="http://schemas.microsoft.com/office/drawing/2014/main" id="{DBE9E6FB-62A0-074B-8A34-03A6E617DD1E}"/>
              </a:ext>
            </a:extLst>
          </p:cNvPr>
          <p:cNvSpPr/>
          <p:nvPr/>
        </p:nvSpPr>
        <p:spPr>
          <a:xfrm>
            <a:off x="4651426" y="3483024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zh-CN" alt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测试代码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94" name="analyzer-sub3">
            <a:extLst>
              <a:ext uri="{FF2B5EF4-FFF2-40B4-BE49-F238E27FC236}">
                <a16:creationId xmlns:a16="http://schemas.microsoft.com/office/drawing/2014/main" id="{117396BD-DAA9-B948-A65D-5BD2359DE58C}"/>
              </a:ext>
            </a:extLst>
          </p:cNvPr>
          <p:cNvSpPr/>
          <p:nvPr/>
        </p:nvSpPr>
        <p:spPr>
          <a:xfrm>
            <a:off x="4652156" y="3764126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zh-CN" alt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决策与记录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95" name="analyzer-sub3">
            <a:extLst>
              <a:ext uri="{FF2B5EF4-FFF2-40B4-BE49-F238E27FC236}">
                <a16:creationId xmlns:a16="http://schemas.microsoft.com/office/drawing/2014/main" id="{01B23C6A-2C56-3E4F-B2BA-25F2DF3860A8}"/>
              </a:ext>
            </a:extLst>
          </p:cNvPr>
          <p:cNvSpPr/>
          <p:nvPr/>
        </p:nvSpPr>
        <p:spPr>
          <a:xfrm>
            <a:off x="3350029" y="3486361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阻塞问题队列</a:t>
            </a:r>
          </a:p>
        </p:txBody>
      </p:sp>
      <p:sp>
        <p:nvSpPr>
          <p:cNvPr id="197" name="analyzer-sub3">
            <a:extLst>
              <a:ext uri="{FF2B5EF4-FFF2-40B4-BE49-F238E27FC236}">
                <a16:creationId xmlns:a16="http://schemas.microsoft.com/office/drawing/2014/main" id="{116F536A-0500-A546-9556-7E2E298A0ECA}"/>
              </a:ext>
            </a:extLst>
          </p:cNvPr>
          <p:cNvSpPr/>
          <p:nvPr/>
        </p:nvSpPr>
        <p:spPr>
          <a:xfrm>
            <a:off x="3352110" y="3773768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验收报告</a:t>
            </a:r>
          </a:p>
        </p:txBody>
      </p:sp>
      <p:sp>
        <p:nvSpPr>
          <p:cNvPr id="199" name="analyzer-sub3">
            <a:extLst>
              <a:ext uri="{FF2B5EF4-FFF2-40B4-BE49-F238E27FC236}">
                <a16:creationId xmlns:a16="http://schemas.microsoft.com/office/drawing/2014/main" id="{06B25DEF-6844-5B4B-86DA-34A50C25B7D2}"/>
              </a:ext>
            </a:extLst>
          </p:cNvPr>
          <p:cNvSpPr/>
          <p:nvPr/>
        </p:nvSpPr>
        <p:spPr>
          <a:xfrm>
            <a:off x="3351927" y="3177071"/>
            <a:ext cx="1119409" cy="222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 err="1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进度与结果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00" name="图形 199">
            <a:extLst>
              <a:ext uri="{FF2B5EF4-FFF2-40B4-BE49-F238E27FC236}">
                <a16:creationId xmlns:a16="http://schemas.microsoft.com/office/drawing/2014/main" id="{485072E7-32BE-124A-B7DE-59F5624DB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063" y="1906732"/>
            <a:ext cx="362296" cy="362296"/>
          </a:xfrm>
          <a:prstGeom prst="rect">
            <a:avLst/>
          </a:prstGeom>
        </p:spPr>
      </p:pic>
      <p:pic>
        <p:nvPicPr>
          <p:cNvPr id="201" name="图形 77">
            <a:extLst>
              <a:ext uri="{FF2B5EF4-FFF2-40B4-BE49-F238E27FC236}">
                <a16:creationId xmlns:a16="http://schemas.microsoft.com/office/drawing/2014/main" id="{B174ECF6-7DC7-374E-A5CB-1F7B60B62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9597" y="3446066"/>
            <a:ext cx="362296" cy="362296"/>
          </a:xfrm>
          <a:prstGeom prst="rect">
            <a:avLst/>
          </a:prstGeom>
        </p:spPr>
      </p:pic>
      <p:pic>
        <p:nvPicPr>
          <p:cNvPr id="202" name="图形 77">
            <a:extLst>
              <a:ext uri="{FF2B5EF4-FFF2-40B4-BE49-F238E27FC236}">
                <a16:creationId xmlns:a16="http://schemas.microsoft.com/office/drawing/2014/main" id="{B174ECF6-7DC7-374E-A5CB-1F7B60B62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2945" y="3388413"/>
            <a:ext cx="362296" cy="362296"/>
          </a:xfrm>
          <a:prstGeom prst="rect">
            <a:avLst/>
          </a:prstGeom>
        </p:spPr>
      </p:pic>
      <p:pic>
        <p:nvPicPr>
          <p:cNvPr id="203" name="图形 77">
            <a:extLst>
              <a:ext uri="{FF2B5EF4-FFF2-40B4-BE49-F238E27FC236}">
                <a16:creationId xmlns:a16="http://schemas.microsoft.com/office/drawing/2014/main" id="{D70F0AD7-0FFA-4948-837C-BBB07B078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258" y="4933422"/>
            <a:ext cx="326396" cy="326396"/>
          </a:xfrm>
          <a:prstGeom prst="rect">
            <a:avLst/>
          </a:prstGeom>
        </p:spPr>
      </p:pic>
      <p:sp>
        <p:nvSpPr>
          <p:cNvPr id="204" name="analyzer-sub3">
            <a:extLst>
              <a:ext uri="{FF2B5EF4-FFF2-40B4-BE49-F238E27FC236}">
                <a16:creationId xmlns:a16="http://schemas.microsoft.com/office/drawing/2014/main" id="{9C60A4B1-A8A4-DE46-9F68-C83706FDDF4F}"/>
              </a:ext>
            </a:extLst>
          </p:cNvPr>
          <p:cNvSpPr/>
          <p:nvPr/>
        </p:nvSpPr>
        <p:spPr>
          <a:xfrm>
            <a:off x="3992075" y="4880759"/>
            <a:ext cx="1218897" cy="247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 err="1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整体验收报告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5" name="analyzer-sub3">
            <a:extLst>
              <a:ext uri="{FF2B5EF4-FFF2-40B4-BE49-F238E27FC236}">
                <a16:creationId xmlns:a16="http://schemas.microsoft.com/office/drawing/2014/main" id="{AED4297D-D473-9746-8D88-1882B5B42BA7}"/>
              </a:ext>
            </a:extLst>
          </p:cNvPr>
          <p:cNvSpPr/>
          <p:nvPr/>
        </p:nvSpPr>
        <p:spPr>
          <a:xfrm>
            <a:off x="3981969" y="5460771"/>
            <a:ext cx="1218390" cy="24097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 err="1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差异与风险说明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6" name="analyzer-sub3">
            <a:extLst>
              <a:ext uri="{FF2B5EF4-FFF2-40B4-BE49-F238E27FC236}">
                <a16:creationId xmlns:a16="http://schemas.microsoft.com/office/drawing/2014/main" id="{ED476C21-756B-5147-97CE-9786D635FA23}"/>
              </a:ext>
            </a:extLst>
          </p:cNvPr>
          <p:cNvSpPr/>
          <p:nvPr/>
        </p:nvSpPr>
        <p:spPr>
          <a:xfrm>
            <a:off x="3992075" y="4612688"/>
            <a:ext cx="1227062" cy="22943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 err="1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翻译后的完整项目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7" name="analyzer-sub3">
            <a:extLst>
              <a:ext uri="{FF2B5EF4-FFF2-40B4-BE49-F238E27FC236}">
                <a16:creationId xmlns:a16="http://schemas.microsoft.com/office/drawing/2014/main" id="{55D80DD7-E81B-104C-9EAD-5E4516364007}"/>
              </a:ext>
            </a:extLst>
          </p:cNvPr>
          <p:cNvSpPr/>
          <p:nvPr/>
        </p:nvSpPr>
        <p:spPr>
          <a:xfrm>
            <a:off x="3992582" y="5168198"/>
            <a:ext cx="1218390" cy="24097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sz="1000" dirty="0" err="1">
                <a:solidFill>
                  <a:srgbClr val="11111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项目README</a:t>
            </a:r>
            <a:endParaRPr lang="en-US" sz="1000" dirty="0">
              <a:solidFill>
                <a:srgbClr val="11111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08" name="图形 77">
            <a:extLst>
              <a:ext uri="{FF2B5EF4-FFF2-40B4-BE49-F238E27FC236}">
                <a16:creationId xmlns:a16="http://schemas.microsoft.com/office/drawing/2014/main" id="{C51D9452-7062-4440-85F8-7314310A9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0731" y="4954229"/>
            <a:ext cx="362296" cy="362296"/>
          </a:xfrm>
          <a:prstGeom prst="rect">
            <a:avLst/>
          </a:prstGeom>
        </p:spPr>
      </p:pic>
      <p:sp>
        <p:nvSpPr>
          <p:cNvPr id="126" name="手杖形箭头 125">
            <a:extLst>
              <a:ext uri="{FF2B5EF4-FFF2-40B4-BE49-F238E27FC236}">
                <a16:creationId xmlns:a16="http://schemas.microsoft.com/office/drawing/2014/main" id="{C7E7C825-A5FB-3B4A-AC24-FD275C2D5576}"/>
              </a:ext>
            </a:extLst>
          </p:cNvPr>
          <p:cNvSpPr/>
          <p:nvPr/>
        </p:nvSpPr>
        <p:spPr>
          <a:xfrm rot="5400000">
            <a:off x="7681527" y="2759406"/>
            <a:ext cx="1506177" cy="417775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9" name="手杖形箭头 208">
            <a:extLst>
              <a:ext uri="{FF2B5EF4-FFF2-40B4-BE49-F238E27FC236}">
                <a16:creationId xmlns:a16="http://schemas.microsoft.com/office/drawing/2014/main" id="{49A7CD13-3E8E-6747-B64F-C3EA4C5AD2D2}"/>
              </a:ext>
            </a:extLst>
          </p:cNvPr>
          <p:cNvSpPr/>
          <p:nvPr/>
        </p:nvSpPr>
        <p:spPr>
          <a:xfrm rot="5400000" flipV="1">
            <a:off x="65281" y="4217273"/>
            <a:ext cx="1669325" cy="34103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0" name="右箭头 209">
            <a:extLst>
              <a:ext uri="{FF2B5EF4-FFF2-40B4-BE49-F238E27FC236}">
                <a16:creationId xmlns:a16="http://schemas.microsoft.com/office/drawing/2014/main" id="{BA6B7B5D-8EE5-614F-8D7A-691964876EF6}"/>
              </a:ext>
            </a:extLst>
          </p:cNvPr>
          <p:cNvSpPr/>
          <p:nvPr/>
        </p:nvSpPr>
        <p:spPr>
          <a:xfrm rot="10800000">
            <a:off x="847622" y="5475985"/>
            <a:ext cx="248804" cy="20701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648A0AA7-736D-694E-8E91-F0108758D205}"/>
              </a:ext>
            </a:extLst>
          </p:cNvPr>
          <p:cNvCxnSpPr>
            <a:cxnSpLocks/>
          </p:cNvCxnSpPr>
          <p:nvPr/>
        </p:nvCxnSpPr>
        <p:spPr>
          <a:xfrm>
            <a:off x="5982495" y="1318184"/>
            <a:ext cx="0" cy="54977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30B02DC8-5455-9948-A808-5749A8F14D4A}"/>
              </a:ext>
            </a:extLst>
          </p:cNvPr>
          <p:cNvCxnSpPr>
            <a:cxnSpLocks/>
          </p:cNvCxnSpPr>
          <p:nvPr/>
        </p:nvCxnSpPr>
        <p:spPr>
          <a:xfrm>
            <a:off x="6072132" y="1321880"/>
            <a:ext cx="0" cy="2013229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直线箭头连接符 212">
            <a:extLst>
              <a:ext uri="{FF2B5EF4-FFF2-40B4-BE49-F238E27FC236}">
                <a16:creationId xmlns:a16="http://schemas.microsoft.com/office/drawing/2014/main" id="{C80A99C2-B5E6-7C42-9C10-265C698E693F}"/>
              </a:ext>
            </a:extLst>
          </p:cNvPr>
          <p:cNvCxnSpPr>
            <a:cxnSpLocks/>
          </p:cNvCxnSpPr>
          <p:nvPr/>
        </p:nvCxnSpPr>
        <p:spPr>
          <a:xfrm>
            <a:off x="3012914" y="1361123"/>
            <a:ext cx="47831" cy="206787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直线箭头连接符 213">
            <a:extLst>
              <a:ext uri="{FF2B5EF4-FFF2-40B4-BE49-F238E27FC236}">
                <a16:creationId xmlns:a16="http://schemas.microsoft.com/office/drawing/2014/main" id="{9001E8BE-67FF-C445-9537-83876FFD51D7}"/>
              </a:ext>
            </a:extLst>
          </p:cNvPr>
          <p:cNvCxnSpPr>
            <a:cxnSpLocks/>
          </p:cNvCxnSpPr>
          <p:nvPr/>
        </p:nvCxnSpPr>
        <p:spPr>
          <a:xfrm>
            <a:off x="3097159" y="1383862"/>
            <a:ext cx="282956" cy="347171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直线箭头连接符 217">
            <a:extLst>
              <a:ext uri="{FF2B5EF4-FFF2-40B4-BE49-F238E27FC236}">
                <a16:creationId xmlns:a16="http://schemas.microsoft.com/office/drawing/2014/main" id="{3699613A-38D5-5748-857C-45E28D0A736B}"/>
              </a:ext>
            </a:extLst>
          </p:cNvPr>
          <p:cNvCxnSpPr>
            <a:cxnSpLocks/>
          </p:cNvCxnSpPr>
          <p:nvPr/>
        </p:nvCxnSpPr>
        <p:spPr>
          <a:xfrm flipH="1">
            <a:off x="6131985" y="1318184"/>
            <a:ext cx="26798" cy="368626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9" name="Rectangle 2">
            <a:extLst>
              <a:ext uri="{FF2B5EF4-FFF2-40B4-BE49-F238E27FC236}">
                <a16:creationId xmlns:a16="http://schemas.microsoft.com/office/drawing/2014/main" id="{24CD2634-4EF9-5948-A69B-0185399202C6}"/>
              </a:ext>
            </a:extLst>
          </p:cNvPr>
          <p:cNvSpPr/>
          <p:nvPr/>
        </p:nvSpPr>
        <p:spPr>
          <a:xfrm>
            <a:off x="8752377" y="3143325"/>
            <a:ext cx="3385836" cy="10596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任务执行粒度验证：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将翻译推进粒度收敛到翻译目标中的每个独立 </a:t>
            </a:r>
            <a:r>
              <a:rPr lang="en-US" altLang="zh-CN" sz="1200" dirty="0" err="1">
                <a:latin typeface="DengXian" panose="02010600030101010101" pitchFamily="2" charset="-122"/>
                <a:ea typeface="DengXian" panose="02010600030101010101" pitchFamily="2" charset="-122"/>
              </a:rPr>
              <a:t>todo</a:t>
            </a:r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，通过 </a:t>
            </a:r>
            <a:r>
              <a:rPr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TDD</a:t>
            </a:r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执行与独立 </a:t>
            </a:r>
            <a:r>
              <a:rPr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Verifier </a:t>
            </a:r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共同确认行为保留与证据完整，避免任务越界与弱证据完成</a:t>
            </a:r>
            <a:endParaRPr lang="en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30" name="图形 229">
            <a:extLst>
              <a:ext uri="{FF2B5EF4-FFF2-40B4-BE49-F238E27FC236}">
                <a16:creationId xmlns:a16="http://schemas.microsoft.com/office/drawing/2014/main" id="{CD0D1377-3FCC-E94F-AF25-DC908DACCD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0681" y="3209884"/>
            <a:ext cx="294714" cy="294714"/>
          </a:xfrm>
          <a:prstGeom prst="rect">
            <a:avLst/>
          </a:prstGeom>
        </p:spPr>
      </p:pic>
      <p:cxnSp>
        <p:nvCxnSpPr>
          <p:cNvPr id="234" name="肘形连接符 233">
            <a:extLst>
              <a:ext uri="{FF2B5EF4-FFF2-40B4-BE49-F238E27FC236}">
                <a16:creationId xmlns:a16="http://schemas.microsoft.com/office/drawing/2014/main" id="{D49CD3B9-8F40-A94D-8FE3-FDD2CEE5E868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933557" y="1016258"/>
            <a:ext cx="316650" cy="2268373"/>
          </a:xfrm>
          <a:prstGeom prst="bentConnector2">
            <a:avLst/>
          </a:prstGeom>
          <a:ln>
            <a:prstDash val="dash"/>
            <a:headEnd type="none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2" name="Rectangle 2">
            <a:extLst>
              <a:ext uri="{FF2B5EF4-FFF2-40B4-BE49-F238E27FC236}">
                <a16:creationId xmlns:a16="http://schemas.microsoft.com/office/drawing/2014/main" id="{55164443-90FC-8F41-9F8F-94643B28A875}"/>
              </a:ext>
            </a:extLst>
          </p:cNvPr>
          <p:cNvSpPr/>
          <p:nvPr/>
        </p:nvSpPr>
        <p:spPr>
          <a:xfrm>
            <a:off x="8731416" y="690811"/>
            <a:ext cx="3385836" cy="694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统一验证规则，形成可审计证据链：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从翻译状态中提取事实证据，用规则检查计划、任务和验收是否满足证据链追踪要求</a:t>
            </a:r>
            <a:endParaRPr lang="en-CN" altLang="zh-CN" sz="1200"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3" name="Rectangle 2">
            <a:extLst>
              <a:ext uri="{FF2B5EF4-FFF2-40B4-BE49-F238E27FC236}">
                <a16:creationId xmlns:a16="http://schemas.microsoft.com/office/drawing/2014/main" id="{6F9F4CE0-B2E1-A64B-856E-4E63E5DBF8DE}"/>
              </a:ext>
            </a:extLst>
          </p:cNvPr>
          <p:cNvSpPr/>
          <p:nvPr/>
        </p:nvSpPr>
        <p:spPr>
          <a:xfrm>
            <a:off x="8741838" y="5867900"/>
            <a:ext cx="3385836" cy="694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按需获取知识，支撑迁移落地：</a:t>
            </a:r>
            <a:endParaRPr lang="en-US" altLang="zh-CN" sz="12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将仓颉知识统一为可复用知识底座，并通过渐进式暴露与持久化文档来优化上下文占用</a:t>
            </a:r>
            <a:endParaRPr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843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1" grpId="0" animBg="1"/>
      <p:bldP spid="1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0"/>
          <p:cNvSpPr>
            <a:spLocks noGrp="1"/>
          </p:cNvSpPr>
          <p:nvPr/>
        </p:nvSpPr>
        <p:spPr>
          <a:xfrm>
            <a:off x="464128" y="543748"/>
            <a:ext cx="5196839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实验设置与结果（</a:t>
            </a: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97B86-BD30-774E-9F91-031D6CF008B0}"/>
              </a:ext>
            </a:extLst>
          </p:cNvPr>
          <p:cNvSpPr txBox="1"/>
          <p:nvPr/>
        </p:nvSpPr>
        <p:spPr>
          <a:xfrm>
            <a:off x="518499" y="1326469"/>
            <a:ext cx="10284936" cy="171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LLM</a:t>
            </a:r>
            <a:r>
              <a:rPr kumimoji="1" lang="zh-CN" altLang="en-US" dirty="0"/>
              <a:t>配置：</a:t>
            </a:r>
            <a:r>
              <a:rPr kumimoji="1" lang="en-US" altLang="zh-CN" dirty="0"/>
              <a:t>Codex+GPT-5.4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除</a:t>
            </a:r>
            <a:r>
              <a:rPr kumimoji="1" lang="en-US" altLang="zh-CN" dirty="0"/>
              <a:t>Lox</a:t>
            </a:r>
            <a:r>
              <a:rPr kumimoji="1" lang="zh-CN" altLang="en-US" dirty="0"/>
              <a:t>外，所有项目均使用项目本身自带的测试作为基准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我们将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版本的测试翻译成语义一致的测试，来评估翻译的准确率，而不仅是根据翻译过程中</a:t>
            </a:r>
            <a:r>
              <a:rPr kumimoji="1" lang="en-US" altLang="zh-CN" dirty="0"/>
              <a:t>LLM</a:t>
            </a:r>
            <a:r>
              <a:rPr kumimoji="1" lang="zh-CN" altLang="en-US" dirty="0"/>
              <a:t>生成的测试来评估</a:t>
            </a:r>
            <a:endParaRPr kumimoji="1"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DF8B6B8-5589-DB4A-89A6-CE4CE997B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792917"/>
              </p:ext>
            </p:extLst>
          </p:nvPr>
        </p:nvGraphicFramePr>
        <p:xfrm>
          <a:off x="827403" y="3038541"/>
          <a:ext cx="10284937" cy="3621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453">
                  <a:extLst>
                    <a:ext uri="{9D8B030D-6E8A-4147-A177-3AD203B41FA5}">
                      <a16:colId xmlns:a16="http://schemas.microsoft.com/office/drawing/2014/main" val="2644746285"/>
                    </a:ext>
                  </a:extLst>
                </a:gridCol>
                <a:gridCol w="993714">
                  <a:extLst>
                    <a:ext uri="{9D8B030D-6E8A-4147-A177-3AD203B41FA5}">
                      <a16:colId xmlns:a16="http://schemas.microsoft.com/office/drawing/2014/main" val="2514066352"/>
                    </a:ext>
                  </a:extLst>
                </a:gridCol>
                <a:gridCol w="973840">
                  <a:extLst>
                    <a:ext uri="{9D8B030D-6E8A-4147-A177-3AD203B41FA5}">
                      <a16:colId xmlns:a16="http://schemas.microsoft.com/office/drawing/2014/main" val="3647585294"/>
                    </a:ext>
                  </a:extLst>
                </a:gridCol>
                <a:gridCol w="1866250">
                  <a:extLst>
                    <a:ext uri="{9D8B030D-6E8A-4147-A177-3AD203B41FA5}">
                      <a16:colId xmlns:a16="http://schemas.microsoft.com/office/drawing/2014/main" val="1416683293"/>
                    </a:ext>
                  </a:extLst>
                </a:gridCol>
                <a:gridCol w="1665577">
                  <a:extLst>
                    <a:ext uri="{9D8B030D-6E8A-4147-A177-3AD203B41FA5}">
                      <a16:colId xmlns:a16="http://schemas.microsoft.com/office/drawing/2014/main" val="976433616"/>
                    </a:ext>
                  </a:extLst>
                </a:gridCol>
                <a:gridCol w="1307559">
                  <a:extLst>
                    <a:ext uri="{9D8B030D-6E8A-4147-A177-3AD203B41FA5}">
                      <a16:colId xmlns:a16="http://schemas.microsoft.com/office/drawing/2014/main" val="2758512507"/>
                    </a:ext>
                  </a:extLst>
                </a:gridCol>
                <a:gridCol w="1336544">
                  <a:extLst>
                    <a:ext uri="{9D8B030D-6E8A-4147-A177-3AD203B41FA5}">
                      <a16:colId xmlns:a16="http://schemas.microsoft.com/office/drawing/2014/main" val="2164962096"/>
                    </a:ext>
                  </a:extLst>
                </a:gridCol>
              </a:tblGrid>
              <a:tr h="32105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Repo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Loc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#Test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Single-Codex-Baseline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Our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Method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134118"/>
                  </a:ext>
                </a:extLst>
              </a:tr>
              <a:tr h="321057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#Pass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Pass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Rate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#Pass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Pass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Rate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84462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Lox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2828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0.773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049110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jansi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4045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0.952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3673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commons-cli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11243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977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161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0.176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858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0.878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634041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commons-fileupload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4129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51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0.797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0.906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431825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commons-csv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10092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924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396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0.434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0.893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205409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commons-exec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3943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129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0.254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0.853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947035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commons-graph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10165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109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0.690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0.838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768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commons-validator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16917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992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195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0.197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877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0.884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021047"/>
                  </a:ext>
                </a:extLst>
              </a:tr>
              <a:tr h="32105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Average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7920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424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134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0.534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376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0" i="0" kern="12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0.906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132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0"/>
          <p:cNvSpPr>
            <a:spLocks noGrp="1"/>
          </p:cNvSpPr>
          <p:nvPr/>
        </p:nvSpPr>
        <p:spPr>
          <a:xfrm>
            <a:off x="464128" y="543748"/>
            <a:ext cx="7087555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实验设置与结果（</a:t>
            </a:r>
            <a:r>
              <a:rPr lang="en-US" altLang="zh-CN" dirty="0">
                <a:sym typeface="+mn-ea"/>
              </a:rPr>
              <a:t>Swift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 err="1">
                <a:sym typeface="+mn-ea"/>
              </a:rPr>
              <a:t>Arkts</a:t>
            </a:r>
            <a:r>
              <a:rPr lang="zh-CN" altLang="en-US" dirty="0">
                <a:sym typeface="+mn-ea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97B86-BD30-774E-9F91-031D6CF008B0}"/>
              </a:ext>
            </a:extLst>
          </p:cNvPr>
          <p:cNvSpPr txBox="1"/>
          <p:nvPr/>
        </p:nvSpPr>
        <p:spPr>
          <a:xfrm>
            <a:off x="518499" y="1326469"/>
            <a:ext cx="10284936" cy="88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所有项目均使用项目本身自带的测试作为基准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使用</a:t>
            </a:r>
            <a:r>
              <a:rPr kumimoji="1" lang="en-US" altLang="zh-CN" dirty="0"/>
              <a:t>LLM</a:t>
            </a:r>
            <a:r>
              <a:rPr kumimoji="1" lang="zh-CN" altLang="en-US" dirty="0"/>
              <a:t>在翻译过程中一起生成的测试进行准确率的评估</a:t>
            </a:r>
            <a:endParaRPr kumimoji="1" lang="en-US" altLang="zh-CN" dirty="0"/>
          </a:p>
        </p:txBody>
      </p:sp>
      <p:graphicFrame>
        <p:nvGraphicFramePr>
          <p:cNvPr id="9" name="内容占位符 5">
            <a:extLst>
              <a:ext uri="{FF2B5EF4-FFF2-40B4-BE49-F238E27FC236}">
                <a16:creationId xmlns:a16="http://schemas.microsoft.com/office/drawing/2014/main" id="{30FC6FA6-8B8C-F341-AE7A-09191A0F27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846400"/>
              </p:ext>
            </p:extLst>
          </p:nvPr>
        </p:nvGraphicFramePr>
        <p:xfrm>
          <a:off x="681814" y="2468064"/>
          <a:ext cx="10828372" cy="34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604">
                  <a:extLst>
                    <a:ext uri="{9D8B030D-6E8A-4147-A177-3AD203B41FA5}">
                      <a16:colId xmlns:a16="http://schemas.microsoft.com/office/drawing/2014/main" val="411044268"/>
                    </a:ext>
                  </a:extLst>
                </a:gridCol>
                <a:gridCol w="852292">
                  <a:extLst>
                    <a:ext uri="{9D8B030D-6E8A-4147-A177-3AD203B41FA5}">
                      <a16:colId xmlns:a16="http://schemas.microsoft.com/office/drawing/2014/main" val="1927691506"/>
                    </a:ext>
                  </a:extLst>
                </a:gridCol>
                <a:gridCol w="1090523">
                  <a:extLst>
                    <a:ext uri="{9D8B030D-6E8A-4147-A177-3AD203B41FA5}">
                      <a16:colId xmlns:a16="http://schemas.microsoft.com/office/drawing/2014/main" val="266085486"/>
                    </a:ext>
                  </a:extLst>
                </a:gridCol>
                <a:gridCol w="967066">
                  <a:extLst>
                    <a:ext uri="{9D8B030D-6E8A-4147-A177-3AD203B41FA5}">
                      <a16:colId xmlns:a16="http://schemas.microsoft.com/office/drawing/2014/main" val="2804584637"/>
                    </a:ext>
                  </a:extLst>
                </a:gridCol>
                <a:gridCol w="1662119">
                  <a:extLst>
                    <a:ext uri="{9D8B030D-6E8A-4147-A177-3AD203B41FA5}">
                      <a16:colId xmlns:a16="http://schemas.microsoft.com/office/drawing/2014/main" val="564053117"/>
                    </a:ext>
                  </a:extLst>
                </a:gridCol>
                <a:gridCol w="683531">
                  <a:extLst>
                    <a:ext uri="{9D8B030D-6E8A-4147-A177-3AD203B41FA5}">
                      <a16:colId xmlns:a16="http://schemas.microsoft.com/office/drawing/2014/main" val="1951751082"/>
                    </a:ext>
                  </a:extLst>
                </a:gridCol>
                <a:gridCol w="1083622">
                  <a:extLst>
                    <a:ext uri="{9D8B030D-6E8A-4147-A177-3AD203B41FA5}">
                      <a16:colId xmlns:a16="http://schemas.microsoft.com/office/drawing/2014/main" val="1643751278"/>
                    </a:ext>
                  </a:extLst>
                </a:gridCol>
                <a:gridCol w="1117998">
                  <a:extLst>
                    <a:ext uri="{9D8B030D-6E8A-4147-A177-3AD203B41FA5}">
                      <a16:colId xmlns:a16="http://schemas.microsoft.com/office/drawing/2014/main" val="4160989018"/>
                    </a:ext>
                  </a:extLst>
                </a:gridCol>
                <a:gridCol w="1711617">
                  <a:extLst>
                    <a:ext uri="{9D8B030D-6E8A-4147-A177-3AD203B41FA5}">
                      <a16:colId xmlns:a16="http://schemas.microsoft.com/office/drawing/2014/main" val="2226320992"/>
                    </a:ext>
                  </a:extLst>
                </a:gridCol>
              </a:tblGrid>
              <a:tr h="205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Repo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Swift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Cangjie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95597"/>
                  </a:ext>
                </a:extLst>
              </a:tr>
              <a:tr h="298700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Core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Loc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Loc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#Test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Coverage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Core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Loc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Loc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#Test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Coverage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929109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HeapModule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1119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742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32/32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95.88</a:t>
                      </a:r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(651/679)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33/33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94.76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(271/286)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542008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SwiftyJSON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1398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2649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132/132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81.45</a:t>
                      </a:r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(663/814)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2211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2310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133/133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77.48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(1015/1310)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31471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GraphViz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1761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373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30/30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74.83</a:t>
                      </a:r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(782/1045)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1255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269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30/30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73.07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(559/765)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59257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Saga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2446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718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25/25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61.00</a:t>
                      </a:r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(1256/2059)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2452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34/34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72.14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(725/1005)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635903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Bigint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3318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6044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211/211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98.08</a:t>
                      </a:r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(2250/2294)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1740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2229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211/211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90.73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(940/1036)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054678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endParaRPr lang="en-US" sz="1100" b="0" i="0" kern="120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Arkts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端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0"/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0"/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0"/>
                      <a:endParaRPr lang="en-US" altLang="zh-CN" sz="900" b="0" i="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Cangjie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端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kern="120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812125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cipher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788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769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31/31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95.93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(330/344)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356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31/31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87.37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(173/198)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10785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picker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1619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604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42/42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85.6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(166/194)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2083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494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37/42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89.90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(365/406)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053734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Live-view-kit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6615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1645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51/51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51.7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(2280/4413)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7549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1335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48/48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88.03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(1331/1512)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04719"/>
                  </a:ext>
                </a:extLst>
              </a:tr>
              <a:tr h="20503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TelegramHarmonyOS</a:t>
                      </a:r>
                      <a:endParaRPr lang="en-US" sz="1100" b="0" i="0" kern="1200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50319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10882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150/150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11.28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(2853/25295)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29573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4837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256/256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82.94</a:t>
                      </a:r>
                      <a:r>
                        <a:rPr lang="zh-CN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i="0" kern="1200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(5971/7199)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75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3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C7162-A6F7-D344-AA22-50B415DE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536" y="2766218"/>
            <a:ext cx="3114381" cy="1325563"/>
          </a:xfrm>
        </p:spPr>
        <p:txBody>
          <a:bodyPr/>
          <a:lstStyle/>
          <a:p>
            <a:r>
              <a:rPr kumimoji="1" lang="en-US" altLang="zh-CN" dirty="0">
                <a:latin typeface="Arial Rounded MT Bold" panose="020F0704030504030204" pitchFamily="34" charset="0"/>
              </a:rPr>
              <a:t>Thanks</a:t>
            </a:r>
            <a:endParaRPr kumimoji="1" lang="zh-CN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29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>
            <a:extLst>
              <a:ext uri="{FF2B5EF4-FFF2-40B4-BE49-F238E27FC236}">
                <a16:creationId xmlns:a16="http://schemas.microsoft.com/office/drawing/2014/main" id="{89A31499-DD64-6044-AA02-6C3642B1BD88}"/>
              </a:ext>
            </a:extLst>
          </p:cNvPr>
          <p:cNvSpPr/>
          <p:nvPr/>
        </p:nvSpPr>
        <p:spPr>
          <a:xfrm>
            <a:off x="8399838" y="1802513"/>
            <a:ext cx="2758781" cy="39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083CAC5-BB5C-8B4A-B2AD-5BEBB525B492}"/>
              </a:ext>
            </a:extLst>
          </p:cNvPr>
          <p:cNvSpPr/>
          <p:nvPr/>
        </p:nvSpPr>
        <p:spPr>
          <a:xfrm>
            <a:off x="1119857" y="1810649"/>
            <a:ext cx="2492095" cy="4004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CF6630C8-8702-7644-8BB9-7BCC2C7ACB82}"/>
              </a:ext>
            </a:extLst>
          </p:cNvPr>
          <p:cNvSpPr/>
          <p:nvPr/>
        </p:nvSpPr>
        <p:spPr>
          <a:xfrm>
            <a:off x="4858732" y="1801668"/>
            <a:ext cx="2758780" cy="408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E4BDD-96A3-A04C-A56D-F9EF9ED8A013}"/>
              </a:ext>
            </a:extLst>
          </p:cNvPr>
          <p:cNvGrpSpPr/>
          <p:nvPr/>
        </p:nvGrpSpPr>
        <p:grpSpPr>
          <a:xfrm>
            <a:off x="42476" y="4687385"/>
            <a:ext cx="1164422" cy="394408"/>
            <a:chOff x="690370" y="3240548"/>
            <a:chExt cx="1164422" cy="394408"/>
          </a:xfrm>
        </p:grpSpPr>
        <p:sp>
          <p:nvSpPr>
            <p:cNvPr id="6" name="source-box">
              <a:extLst>
                <a:ext uri="{FF2B5EF4-FFF2-40B4-BE49-F238E27FC236}">
                  <a16:creationId xmlns:a16="http://schemas.microsoft.com/office/drawing/2014/main" id="{595B5142-7168-C74A-9642-ABD9991190E6}"/>
                </a:ext>
              </a:extLst>
            </p:cNvPr>
            <p:cNvSpPr/>
            <p:nvPr/>
          </p:nvSpPr>
          <p:spPr>
            <a:xfrm>
              <a:off x="690370" y="3240548"/>
              <a:ext cx="686917" cy="394408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11111"/>
              </a:solidFill>
            </a:ln>
          </p:spPr>
          <p:txBody>
            <a:bodyPr lIns="136800" tIns="136800" rIns="136800" bIns="136800" anchor="t"/>
            <a:lstStyle/>
            <a:p>
              <a:pPr algn="ctr"/>
              <a:endParaRPr lang="en-US" sz="119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7" name="ws-scan-text">
              <a:extLst>
                <a:ext uri="{FF2B5EF4-FFF2-40B4-BE49-F238E27FC236}">
                  <a16:creationId xmlns:a16="http://schemas.microsoft.com/office/drawing/2014/main" id="{F280421C-37B7-0049-A443-4DF848F95E71}"/>
                </a:ext>
              </a:extLst>
            </p:cNvPr>
            <p:cNvSpPr txBox="1"/>
            <p:nvPr/>
          </p:nvSpPr>
          <p:spPr>
            <a:xfrm>
              <a:off x="690372" y="3333910"/>
              <a:ext cx="1164420" cy="207684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Arial"/>
                  <a:ea typeface="Arial"/>
                </a:rPr>
                <a:t>Source</a:t>
              </a:r>
            </a:p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Arial"/>
                  <a:ea typeface="Arial"/>
                </a:rPr>
                <a:t>Project</a:t>
              </a:r>
              <a:endParaRPr lang="en-US" sz="12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6DC18826-E83A-F847-AA22-45FC282975ED}"/>
              </a:ext>
            </a:extLst>
          </p:cNvPr>
          <p:cNvGrpSpPr/>
          <p:nvPr/>
        </p:nvGrpSpPr>
        <p:grpSpPr>
          <a:xfrm>
            <a:off x="3047746" y="5880862"/>
            <a:ext cx="6119421" cy="884011"/>
            <a:chOff x="3087857" y="5696128"/>
            <a:chExt cx="6119421" cy="884011"/>
          </a:xfrm>
        </p:grpSpPr>
        <p:sp>
          <p:nvSpPr>
            <p:cNvPr id="9" name="k-mcp">
              <a:extLst>
                <a:ext uri="{FF2B5EF4-FFF2-40B4-BE49-F238E27FC236}">
                  <a16:creationId xmlns:a16="http://schemas.microsoft.com/office/drawing/2014/main" id="{85C149D8-820E-B548-A942-3A59E43FB046}"/>
                </a:ext>
              </a:extLst>
            </p:cNvPr>
            <p:cNvSpPr/>
            <p:nvPr/>
          </p:nvSpPr>
          <p:spPr>
            <a:xfrm>
              <a:off x="7837092" y="6044854"/>
              <a:ext cx="1274642" cy="46518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/>
            </a:p>
          </p:txBody>
        </p:sp>
        <p:sp>
          <p:nvSpPr>
            <p:cNvPr id="10" name="k-mapping">
              <a:extLst>
                <a:ext uri="{FF2B5EF4-FFF2-40B4-BE49-F238E27FC236}">
                  <a16:creationId xmlns:a16="http://schemas.microsoft.com/office/drawing/2014/main" id="{D32CB748-2CC4-054A-845C-2FA2657968D8}"/>
                </a:ext>
              </a:extLst>
            </p:cNvPr>
            <p:cNvSpPr/>
            <p:nvPr/>
          </p:nvSpPr>
          <p:spPr>
            <a:xfrm>
              <a:off x="6106792" y="6049275"/>
              <a:ext cx="1594539" cy="471686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 dirty="0"/>
            </a:p>
          </p:txBody>
        </p:sp>
        <p:sp>
          <p:nvSpPr>
            <p:cNvPr id="11" name="k-mapping-text">
              <a:extLst>
                <a:ext uri="{FF2B5EF4-FFF2-40B4-BE49-F238E27FC236}">
                  <a16:creationId xmlns:a16="http://schemas.microsoft.com/office/drawing/2014/main" id="{B20A012E-0292-204C-92DC-BE3972AF5017}"/>
                </a:ext>
              </a:extLst>
            </p:cNvPr>
            <p:cNvSpPr txBox="1"/>
            <p:nvPr/>
          </p:nvSpPr>
          <p:spPr>
            <a:xfrm>
              <a:off x="6086320" y="6145097"/>
              <a:ext cx="1635218" cy="2664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900" b="1" dirty="0">
                  <a:solidFill>
                    <a:srgbClr val="111111"/>
                  </a:solidFill>
                  <a:latin typeface="Arial"/>
                  <a:ea typeface="Arial"/>
                </a:rPr>
                <a:t>API Mapping and Retrieval</a:t>
              </a:r>
            </a:p>
          </p:txBody>
        </p:sp>
        <p:sp>
          <p:nvSpPr>
            <p:cNvPr id="12" name="k-mcp-text">
              <a:extLst>
                <a:ext uri="{FF2B5EF4-FFF2-40B4-BE49-F238E27FC236}">
                  <a16:creationId xmlns:a16="http://schemas.microsoft.com/office/drawing/2014/main" id="{44E74097-10F9-C340-85DB-3185773B54E3}"/>
                </a:ext>
              </a:extLst>
            </p:cNvPr>
            <p:cNvSpPr txBox="1"/>
            <p:nvPr/>
          </p:nvSpPr>
          <p:spPr>
            <a:xfrm>
              <a:off x="7836534" y="6165441"/>
              <a:ext cx="1355396" cy="2667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900" b="1" dirty="0">
                  <a:solidFill>
                    <a:srgbClr val="111111"/>
                  </a:solidFill>
                  <a:latin typeface="Arial"/>
                  <a:ea typeface="Arial"/>
                </a:rPr>
                <a:t>Third</a:t>
              </a:r>
              <a:r>
                <a:rPr lang="en-US" altLang="zh-CN" sz="900" b="1" dirty="0">
                  <a:solidFill>
                    <a:srgbClr val="111111"/>
                  </a:solidFill>
                  <a:latin typeface="Arial"/>
                  <a:ea typeface="Arial"/>
                </a:rPr>
                <a:t>-</a:t>
              </a:r>
              <a:r>
                <a:rPr lang="en-US" sz="900" b="1" dirty="0">
                  <a:solidFill>
                    <a:srgbClr val="111111"/>
                  </a:solidFill>
                  <a:latin typeface="Arial"/>
                  <a:ea typeface="Arial"/>
                </a:rPr>
                <a:t>party</a:t>
              </a:r>
              <a:r>
                <a:rPr lang="zh-CN" altLang="en-US" sz="9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sz="900" b="1" dirty="0">
                  <a:solidFill>
                    <a:srgbClr val="111111"/>
                  </a:solidFill>
                  <a:latin typeface="Arial"/>
                  <a:ea typeface="Arial"/>
                </a:rPr>
                <a:t>API MCP</a:t>
              </a:r>
            </a:p>
          </p:txBody>
        </p:sp>
        <p:sp>
          <p:nvSpPr>
            <p:cNvPr id="13" name="knowledge-label">
              <a:extLst>
                <a:ext uri="{FF2B5EF4-FFF2-40B4-BE49-F238E27FC236}">
                  <a16:creationId xmlns:a16="http://schemas.microsoft.com/office/drawing/2014/main" id="{468764FF-5405-5149-8B60-B104FC79EBE0}"/>
                </a:ext>
              </a:extLst>
            </p:cNvPr>
            <p:cNvSpPr txBox="1"/>
            <p:nvPr/>
          </p:nvSpPr>
          <p:spPr>
            <a:xfrm>
              <a:off x="4764533" y="5696128"/>
              <a:ext cx="2750016" cy="252000"/>
            </a:xfrm>
            <a:prstGeom prst="rect">
              <a:avLst/>
            </a:prstGeom>
            <a:noFill/>
            <a:ln>
              <a:noFill/>
            </a:ln>
          </p:spPr>
          <p:txBody>
            <a:bodyPr lIns="7200" tIns="7200" rIns="7200" bIns="7200" anchor="ctr"/>
            <a:lstStyle/>
            <a:p>
              <a:pPr algn="ctr"/>
              <a:r>
                <a:rPr lang="en-US" sz="1600" b="1" dirty="0">
                  <a:solidFill>
                    <a:srgbClr val="111111"/>
                  </a:solidFill>
                  <a:latin typeface="Arial"/>
                  <a:ea typeface="Arial"/>
                </a:rPr>
                <a:t>Cangjie Knowledge Layer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56E9C49-0C4F-294B-B1CA-FC28ACE82BB7}"/>
                </a:ext>
              </a:extLst>
            </p:cNvPr>
            <p:cNvGrpSpPr/>
            <p:nvPr/>
          </p:nvGrpSpPr>
          <p:grpSpPr>
            <a:xfrm>
              <a:off x="3136485" y="6051073"/>
              <a:ext cx="2747493" cy="467243"/>
              <a:chOff x="1764088" y="616478"/>
              <a:chExt cx="2747493" cy="467243"/>
            </a:xfrm>
          </p:grpSpPr>
          <p:sp>
            <p:nvSpPr>
              <p:cNvPr id="16" name="k-abstract">
                <a:extLst>
                  <a:ext uri="{FF2B5EF4-FFF2-40B4-BE49-F238E27FC236}">
                    <a16:creationId xmlns:a16="http://schemas.microsoft.com/office/drawing/2014/main" id="{143BF416-FB23-4F4C-9C84-23EFB1F05553}"/>
                  </a:ext>
                </a:extLst>
              </p:cNvPr>
              <p:cNvSpPr/>
              <p:nvPr/>
            </p:nvSpPr>
            <p:spPr>
              <a:xfrm>
                <a:off x="1764088" y="616478"/>
                <a:ext cx="2747493" cy="467243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36000" tIns="36000" rIns="36000" bIns="36000"/>
              <a:lstStyle/>
              <a:p>
                <a:endParaRPr dirty="0"/>
              </a:p>
            </p:txBody>
          </p:sp>
          <p:sp>
            <p:nvSpPr>
              <p:cNvPr id="17" name="k-abstract-text">
                <a:extLst>
                  <a:ext uri="{FF2B5EF4-FFF2-40B4-BE49-F238E27FC236}">
                    <a16:creationId xmlns:a16="http://schemas.microsoft.com/office/drawing/2014/main" id="{FE4C8106-08B5-D548-ACA0-9AFC5DDB598B}"/>
                  </a:ext>
                </a:extLst>
              </p:cNvPr>
              <p:cNvSpPr txBox="1"/>
              <p:nvPr/>
            </p:nvSpPr>
            <p:spPr>
              <a:xfrm>
                <a:off x="2174970" y="616478"/>
                <a:ext cx="1981077" cy="169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en-US" sz="9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Progressive </a:t>
                </a:r>
                <a:r>
                  <a:rPr lang="en-US" altLang="zh-CN" sz="9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Knowledge</a:t>
                </a:r>
                <a:r>
                  <a:rPr lang="zh-CN" altLang="en-US" sz="9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Access</a:t>
                </a:r>
                <a:endParaRPr lang="en-US" sz="900" b="1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8" name="analyzer-sub1">
                <a:extLst>
                  <a:ext uri="{FF2B5EF4-FFF2-40B4-BE49-F238E27FC236}">
                    <a16:creationId xmlns:a16="http://schemas.microsoft.com/office/drawing/2014/main" id="{DE1CA61B-5556-C841-9F80-6BA0454E2BB3}"/>
                  </a:ext>
                </a:extLst>
              </p:cNvPr>
              <p:cNvSpPr/>
              <p:nvPr/>
            </p:nvSpPr>
            <p:spPr>
              <a:xfrm>
                <a:off x="1802009" y="805082"/>
                <a:ext cx="697392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Abstract</a:t>
                </a:r>
                <a:endParaRPr lang="en-US" sz="109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9" name="analyzer-sub1">
                <a:extLst>
                  <a:ext uri="{FF2B5EF4-FFF2-40B4-BE49-F238E27FC236}">
                    <a16:creationId xmlns:a16="http://schemas.microsoft.com/office/drawing/2014/main" id="{84010FB3-82DA-4E41-950C-2CB90E3005E1}"/>
                  </a:ext>
                </a:extLst>
              </p:cNvPr>
              <p:cNvSpPr/>
              <p:nvPr/>
            </p:nvSpPr>
            <p:spPr>
              <a:xfrm>
                <a:off x="3471915" y="805082"/>
                <a:ext cx="999144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Whole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Corpus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0" name="analyzer-sub1">
                <a:extLst>
                  <a:ext uri="{FF2B5EF4-FFF2-40B4-BE49-F238E27FC236}">
                    <a16:creationId xmlns:a16="http://schemas.microsoft.com/office/drawing/2014/main" id="{59CDBFFB-BB67-0E4A-B7CC-9B4B432377DB}"/>
                  </a:ext>
                </a:extLst>
              </p:cNvPr>
              <p:cNvSpPr/>
              <p:nvPr/>
            </p:nvSpPr>
            <p:spPr>
              <a:xfrm>
                <a:off x="2565694" y="805167"/>
                <a:ext cx="839928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Quick-ref</a:t>
                </a:r>
                <a:endParaRPr lang="en-US" sz="109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00AF6D9-C621-3D4B-BFFD-49E4D2D876D4}"/>
                </a:ext>
              </a:extLst>
            </p:cNvPr>
            <p:cNvSpPr/>
            <p:nvPr/>
          </p:nvSpPr>
          <p:spPr>
            <a:xfrm>
              <a:off x="3087857" y="5996939"/>
              <a:ext cx="6119421" cy="583200"/>
            </a:xfrm>
            <a:prstGeom prst="rect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D694CC4-69F2-BA46-947C-B97DF7C95B2B}"/>
              </a:ext>
            </a:extLst>
          </p:cNvPr>
          <p:cNvGrpSpPr/>
          <p:nvPr/>
        </p:nvGrpSpPr>
        <p:grpSpPr>
          <a:xfrm>
            <a:off x="11371532" y="4616036"/>
            <a:ext cx="827874" cy="400110"/>
            <a:chOff x="-1073093" y="4148683"/>
            <a:chExt cx="827874" cy="400110"/>
          </a:xfrm>
        </p:grpSpPr>
        <p:sp>
          <p:nvSpPr>
            <p:cNvPr id="22" name="source-box">
              <a:extLst>
                <a:ext uri="{FF2B5EF4-FFF2-40B4-BE49-F238E27FC236}">
                  <a16:creationId xmlns:a16="http://schemas.microsoft.com/office/drawing/2014/main" id="{BF7A2E09-6CE2-AF4D-81F6-D6A5B630FB56}"/>
                </a:ext>
              </a:extLst>
            </p:cNvPr>
            <p:cNvSpPr/>
            <p:nvPr/>
          </p:nvSpPr>
          <p:spPr>
            <a:xfrm>
              <a:off x="-1073093" y="4148683"/>
              <a:ext cx="787848" cy="40011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11111"/>
              </a:solidFill>
            </a:ln>
          </p:spPr>
          <p:txBody>
            <a:bodyPr lIns="136800" tIns="136800" rIns="136800" bIns="136800" anchor="t"/>
            <a:lstStyle/>
            <a:p>
              <a:pPr algn="ctr"/>
              <a:endParaRPr lang="en-US" sz="119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23" name="ws-scan-text">
              <a:extLst>
                <a:ext uri="{FF2B5EF4-FFF2-40B4-BE49-F238E27FC236}">
                  <a16:creationId xmlns:a16="http://schemas.microsoft.com/office/drawing/2014/main" id="{52EAF7E6-64B1-E545-978C-D96DD28DBD89}"/>
                </a:ext>
              </a:extLst>
            </p:cNvPr>
            <p:cNvSpPr txBox="1"/>
            <p:nvPr/>
          </p:nvSpPr>
          <p:spPr>
            <a:xfrm>
              <a:off x="-1033067" y="4249577"/>
              <a:ext cx="787848" cy="207684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200" b="1" dirty="0">
                  <a:solidFill>
                    <a:srgbClr val="111111"/>
                  </a:solidFill>
                  <a:latin typeface="Arial"/>
                  <a:ea typeface="Arial"/>
                </a:rPr>
                <a:t>Cangjie</a:t>
              </a:r>
              <a:r>
                <a:rPr lang="zh-CN" altLang="en-US" sz="12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200" b="1" dirty="0">
                  <a:solidFill>
                    <a:srgbClr val="111111"/>
                  </a:solidFill>
                  <a:latin typeface="Arial"/>
                  <a:ea typeface="Arial"/>
                </a:rPr>
                <a:t>Project</a:t>
              </a:r>
              <a:endParaRPr lang="en-US" sz="12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24" name="shared-label">
            <a:extLst>
              <a:ext uri="{FF2B5EF4-FFF2-40B4-BE49-F238E27FC236}">
                <a16:creationId xmlns:a16="http://schemas.microsoft.com/office/drawing/2014/main" id="{8B98BCF5-2ADB-034E-A81F-02879163421B}"/>
              </a:ext>
            </a:extLst>
          </p:cNvPr>
          <p:cNvSpPr txBox="1"/>
          <p:nvPr/>
        </p:nvSpPr>
        <p:spPr>
          <a:xfrm>
            <a:off x="4249252" y="478624"/>
            <a:ext cx="3693495" cy="283046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Formalized Traceability Layer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502157-3F1A-B143-AC7F-3A65FAFA13AD}"/>
              </a:ext>
            </a:extLst>
          </p:cNvPr>
          <p:cNvSpPr/>
          <p:nvPr/>
        </p:nvSpPr>
        <p:spPr>
          <a:xfrm>
            <a:off x="1250208" y="771004"/>
            <a:ext cx="9639836" cy="913998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9EC7B54-01EA-4841-8C33-3BE64E47760D}"/>
              </a:ext>
            </a:extLst>
          </p:cNvPr>
          <p:cNvSpPr txBox="1"/>
          <p:nvPr/>
        </p:nvSpPr>
        <p:spPr>
          <a:xfrm>
            <a:off x="1499603" y="1831733"/>
            <a:ext cx="2152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Plan-Level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CA06FA8-2056-2641-AD52-D6AA096DC5AA}"/>
              </a:ext>
            </a:extLst>
          </p:cNvPr>
          <p:cNvGrpSpPr/>
          <p:nvPr/>
        </p:nvGrpSpPr>
        <p:grpSpPr>
          <a:xfrm>
            <a:off x="1127238" y="2311400"/>
            <a:ext cx="1707886" cy="3553271"/>
            <a:chOff x="416295" y="2742643"/>
            <a:chExt cx="1707886" cy="3553271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B5E3B3A2-138C-1347-B9A1-BE692DF42430}"/>
                </a:ext>
              </a:extLst>
            </p:cNvPr>
            <p:cNvSpPr/>
            <p:nvPr/>
          </p:nvSpPr>
          <p:spPr>
            <a:xfrm>
              <a:off x="416295" y="2742643"/>
              <a:ext cx="1707886" cy="3553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E9BCC694-DC78-FE41-8BB6-1FE22B030472}"/>
                </a:ext>
              </a:extLst>
            </p:cNvPr>
            <p:cNvGrpSpPr/>
            <p:nvPr/>
          </p:nvGrpSpPr>
          <p:grpSpPr>
            <a:xfrm>
              <a:off x="548227" y="2829265"/>
              <a:ext cx="1473922" cy="1781600"/>
              <a:chOff x="1897066" y="3015249"/>
              <a:chExt cx="1473922" cy="1781600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8C703FB8-29B1-8740-A9F3-4E5EECF55095}"/>
                  </a:ext>
                </a:extLst>
              </p:cNvPr>
              <p:cNvGrpSpPr/>
              <p:nvPr/>
            </p:nvGrpSpPr>
            <p:grpSpPr>
              <a:xfrm>
                <a:off x="1897066" y="3015249"/>
                <a:ext cx="1473922" cy="1781600"/>
                <a:chOff x="1981062" y="2703676"/>
                <a:chExt cx="1473922" cy="1781600"/>
              </a:xfrm>
            </p:grpSpPr>
            <p:sp>
              <p:nvSpPr>
                <p:cNvPr id="88" name="analyzer-title">
                  <a:extLst>
                    <a:ext uri="{FF2B5EF4-FFF2-40B4-BE49-F238E27FC236}">
                      <a16:creationId xmlns:a16="http://schemas.microsoft.com/office/drawing/2014/main" id="{7AA99009-323E-6E48-BE1E-7BBDC7BDB7DE}"/>
                    </a:ext>
                  </a:extLst>
                </p:cNvPr>
                <p:cNvSpPr txBox="1"/>
                <p:nvPr/>
              </p:nvSpPr>
              <p:spPr>
                <a:xfrm>
                  <a:off x="2300330" y="2703676"/>
                  <a:ext cx="936000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altLang="zh-CN" sz="1620" b="1" dirty="0">
                      <a:solidFill>
                        <a:schemeClr val="accent6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Analyzer</a:t>
                  </a:r>
                  <a:endParaRPr lang="en-US" sz="1620" b="1" dirty="0">
                    <a:solidFill>
                      <a:schemeClr val="accent6">
                        <a:lumMod val="75000"/>
                      </a:schemeClr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89" name="analyzer-sub2">
                  <a:extLst>
                    <a:ext uri="{FF2B5EF4-FFF2-40B4-BE49-F238E27FC236}">
                      <a16:creationId xmlns:a16="http://schemas.microsoft.com/office/drawing/2014/main" id="{AA60D65E-DFBF-5346-9447-0F88BA81E364}"/>
                    </a:ext>
                  </a:extLst>
                </p:cNvPr>
                <p:cNvSpPr/>
                <p:nvPr/>
              </p:nvSpPr>
              <p:spPr>
                <a:xfrm>
                  <a:off x="2046138" y="3295808"/>
                  <a:ext cx="1371073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Extract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Dependency</a:t>
                  </a:r>
                </a:p>
              </p:txBody>
            </p:sp>
            <p:sp>
              <p:nvSpPr>
                <p:cNvPr id="90" name="analyzer-sub3">
                  <a:extLst>
                    <a:ext uri="{FF2B5EF4-FFF2-40B4-BE49-F238E27FC236}">
                      <a16:creationId xmlns:a16="http://schemas.microsoft.com/office/drawing/2014/main" id="{8F954AAA-8A3B-D34E-B15A-D2AA9EF6CD92}"/>
                    </a:ext>
                  </a:extLst>
                </p:cNvPr>
                <p:cNvSpPr/>
                <p:nvPr/>
              </p:nvSpPr>
              <p:spPr>
                <a:xfrm>
                  <a:off x="2039604" y="3897665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Slice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Features</a:t>
                  </a:r>
                </a:p>
              </p:txBody>
            </p:sp>
            <p:sp>
              <p:nvSpPr>
                <p:cNvPr id="91" name="analyzer-sub3">
                  <a:extLst>
                    <a:ext uri="{FF2B5EF4-FFF2-40B4-BE49-F238E27FC236}">
                      <a16:creationId xmlns:a16="http://schemas.microsoft.com/office/drawing/2014/main" id="{21BFE61D-39F9-F54A-B94D-561527BE5EDD}"/>
                    </a:ext>
                  </a:extLst>
                </p:cNvPr>
                <p:cNvSpPr/>
                <p:nvPr/>
              </p:nvSpPr>
              <p:spPr>
                <a:xfrm>
                  <a:off x="2041099" y="4201828"/>
                  <a:ext cx="1376112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sz="900" dirty="0">
                      <a:solidFill>
                        <a:srgbClr val="111111"/>
                      </a:solidFill>
                      <a:latin typeface="Arial"/>
                    </a:rPr>
                    <a:t>Build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</a:rPr>
                    <a:t>Checklist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</a:rPr>
                    <a:t> 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</a:endParaRPr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DF6CF1D9-F44C-C549-982F-8B82AF5DACB2}"/>
                    </a:ext>
                  </a:extLst>
                </p:cNvPr>
                <p:cNvSpPr/>
                <p:nvPr/>
              </p:nvSpPr>
              <p:spPr>
                <a:xfrm>
                  <a:off x="1981062" y="2721305"/>
                  <a:ext cx="1473922" cy="1763971"/>
                </a:xfrm>
                <a:prstGeom prst="rect">
                  <a:avLst/>
                </a:prstGeom>
                <a:noFill/>
                <a:ln w="15875" cap="flat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86" name="analyzer-sub1">
                <a:extLst>
                  <a:ext uri="{FF2B5EF4-FFF2-40B4-BE49-F238E27FC236}">
                    <a16:creationId xmlns:a16="http://schemas.microsoft.com/office/drawing/2014/main" id="{A8BBA652-ACF7-A44D-8AF8-7FCB630CAC23}"/>
                  </a:ext>
                </a:extLst>
              </p:cNvPr>
              <p:cNvSpPr/>
              <p:nvPr/>
            </p:nvSpPr>
            <p:spPr>
              <a:xfrm>
                <a:off x="1956894" y="3310134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Scan </a:t>
                </a:r>
                <a:r>
                  <a:rPr 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</a:p>
            </p:txBody>
          </p:sp>
          <p:sp>
            <p:nvSpPr>
              <p:cNvPr id="87" name="analyzer-sub1">
                <a:extLst>
                  <a:ext uri="{FF2B5EF4-FFF2-40B4-BE49-F238E27FC236}">
                    <a16:creationId xmlns:a16="http://schemas.microsoft.com/office/drawing/2014/main" id="{14F161D2-67CB-424F-8E48-3E4EA10573EE}"/>
                  </a:ext>
                </a:extLst>
              </p:cNvPr>
              <p:cNvSpPr/>
              <p:nvPr/>
            </p:nvSpPr>
            <p:spPr>
              <a:xfrm>
                <a:off x="1957223" y="3915088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Collect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Source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532D445-C3EE-0748-A8F6-52A2177B2D33}"/>
                </a:ext>
              </a:extLst>
            </p:cNvPr>
            <p:cNvGrpSpPr/>
            <p:nvPr/>
          </p:nvGrpSpPr>
          <p:grpSpPr>
            <a:xfrm>
              <a:off x="548227" y="5046672"/>
              <a:ext cx="1473922" cy="1118670"/>
              <a:chOff x="567619" y="4956144"/>
              <a:chExt cx="1473922" cy="1118670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2DFB5AB7-346D-BB42-BDCD-A40D9AA95BDA}"/>
                  </a:ext>
                </a:extLst>
              </p:cNvPr>
              <p:cNvGrpSpPr/>
              <p:nvPr/>
            </p:nvGrpSpPr>
            <p:grpSpPr>
              <a:xfrm>
                <a:off x="567619" y="4956144"/>
                <a:ext cx="1473922" cy="1118670"/>
                <a:chOff x="3837571" y="2537305"/>
                <a:chExt cx="1473922" cy="1118670"/>
              </a:xfrm>
            </p:grpSpPr>
            <p:sp>
              <p:nvSpPr>
                <p:cNvPr id="83" name="analyzer-title">
                  <a:extLst>
                    <a:ext uri="{FF2B5EF4-FFF2-40B4-BE49-F238E27FC236}">
                      <a16:creationId xmlns:a16="http://schemas.microsoft.com/office/drawing/2014/main" id="{C98195DC-1D9D-4E4C-9564-7D36A16BD117}"/>
                    </a:ext>
                  </a:extLst>
                </p:cNvPr>
                <p:cNvSpPr txBox="1"/>
                <p:nvPr/>
              </p:nvSpPr>
              <p:spPr>
                <a:xfrm>
                  <a:off x="4211418" y="2537305"/>
                  <a:ext cx="936000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r>
                    <a:rPr lang="en-US" altLang="zh-CN" sz="1620" b="1" dirty="0">
                      <a:solidFill>
                        <a:schemeClr val="accent4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Verifier</a:t>
                  </a: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2DA8AFDC-C097-E64B-9CAF-813EFFC7BFFA}"/>
                    </a:ext>
                  </a:extLst>
                </p:cNvPr>
                <p:cNvSpPr/>
                <p:nvPr/>
              </p:nvSpPr>
              <p:spPr>
                <a:xfrm>
                  <a:off x="3837571" y="2558116"/>
                  <a:ext cx="1473922" cy="1097859"/>
                </a:xfrm>
                <a:prstGeom prst="rect">
                  <a:avLst/>
                </a:prstGeom>
                <a:noFill/>
                <a:ln w="15875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80" name="analyzer-sub1">
                <a:extLst>
                  <a:ext uri="{FF2B5EF4-FFF2-40B4-BE49-F238E27FC236}">
                    <a16:creationId xmlns:a16="http://schemas.microsoft.com/office/drawing/2014/main" id="{7BEA49E9-5D39-234C-B87F-63D58DE27A25}"/>
                  </a:ext>
                </a:extLst>
              </p:cNvPr>
              <p:cNvSpPr/>
              <p:nvPr/>
            </p:nvSpPr>
            <p:spPr>
              <a:xfrm>
                <a:off x="605383" y="5239776"/>
                <a:ext cx="1400064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plan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rationality</a:t>
                </a:r>
                <a:endParaRPr lang="en-US" sz="900" dirty="0">
                  <a:solidFill>
                    <a:srgbClr val="111111"/>
                  </a:solidFill>
                  <a:latin typeface="Arial"/>
                </a:endParaRPr>
              </a:p>
            </p:txBody>
          </p:sp>
          <p:sp>
            <p:nvSpPr>
              <p:cNvPr id="81" name="analyzer-sub1">
                <a:extLst>
                  <a:ext uri="{FF2B5EF4-FFF2-40B4-BE49-F238E27FC236}">
                    <a16:creationId xmlns:a16="http://schemas.microsoft.com/office/drawing/2014/main" id="{E771D694-8C11-DF40-8CA9-A2D1D4499DD4}"/>
                  </a:ext>
                </a:extLst>
              </p:cNvPr>
              <p:cNvSpPr/>
              <p:nvPr/>
            </p:nvSpPr>
            <p:spPr>
              <a:xfrm>
                <a:off x="600331" y="5518413"/>
                <a:ext cx="1405116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completeness</a:t>
                </a:r>
                <a:endParaRPr lang="en-US" sz="900" dirty="0">
                  <a:solidFill>
                    <a:srgbClr val="111111"/>
                  </a:solidFill>
                  <a:latin typeface="Arial"/>
                </a:endParaRPr>
              </a:p>
            </p:txBody>
          </p:sp>
          <p:sp>
            <p:nvSpPr>
              <p:cNvPr id="82" name="analyzer-sub1">
                <a:extLst>
                  <a:ext uri="{FF2B5EF4-FFF2-40B4-BE49-F238E27FC236}">
                    <a16:creationId xmlns:a16="http://schemas.microsoft.com/office/drawing/2014/main" id="{A4F5887D-2C3F-E34B-9FAF-CEFF6D6D8095}"/>
                  </a:ext>
                </a:extLst>
              </p:cNvPr>
              <p:cNvSpPr/>
              <p:nvPr/>
            </p:nvSpPr>
            <p:spPr>
              <a:xfrm>
                <a:off x="600331" y="5788346"/>
                <a:ext cx="1405116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coverage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pic>
          <p:nvPicPr>
            <p:cNvPr id="78" name="图形 77">
              <a:extLst>
                <a:ext uri="{FF2B5EF4-FFF2-40B4-BE49-F238E27FC236}">
                  <a16:creationId xmlns:a16="http://schemas.microsoft.com/office/drawing/2014/main" id="{B174ECF6-7DC7-374E-A5CB-1F7B60B62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69757" y="4614893"/>
              <a:ext cx="443371" cy="443371"/>
            </a:xfrm>
            <a:prstGeom prst="rect">
              <a:avLst/>
            </a:prstGeom>
          </p:spPr>
        </p:pic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ABB4A480-D6E8-3B40-BEE7-82EAA8E6DD0F}"/>
              </a:ext>
            </a:extLst>
          </p:cNvPr>
          <p:cNvGrpSpPr/>
          <p:nvPr/>
        </p:nvGrpSpPr>
        <p:grpSpPr>
          <a:xfrm>
            <a:off x="4489247" y="2312097"/>
            <a:ext cx="3422611" cy="1681451"/>
            <a:chOff x="4549307" y="1911793"/>
            <a:chExt cx="3422611" cy="16814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92C7A92-7F32-4A4F-BA4D-9A9FE85B2110}"/>
                </a:ext>
              </a:extLst>
            </p:cNvPr>
            <p:cNvSpPr/>
            <p:nvPr/>
          </p:nvSpPr>
          <p:spPr>
            <a:xfrm>
              <a:off x="4549307" y="1911793"/>
              <a:ext cx="3422611" cy="16814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30801F6-DB2B-1F4C-B112-26F5B48EE26B}"/>
                </a:ext>
              </a:extLst>
            </p:cNvPr>
            <p:cNvGrpSpPr/>
            <p:nvPr/>
          </p:nvGrpSpPr>
          <p:grpSpPr>
            <a:xfrm>
              <a:off x="4648818" y="1973345"/>
              <a:ext cx="3243030" cy="624566"/>
              <a:chOff x="2447866" y="1528184"/>
              <a:chExt cx="3243030" cy="624566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A5AA80B1-7284-C649-A5F3-91128AF905D9}"/>
                  </a:ext>
                </a:extLst>
              </p:cNvPr>
              <p:cNvGrpSpPr/>
              <p:nvPr/>
            </p:nvGrpSpPr>
            <p:grpSpPr>
              <a:xfrm>
                <a:off x="2447866" y="1528184"/>
                <a:ext cx="3243030" cy="624566"/>
                <a:chOff x="1911134" y="2517678"/>
                <a:chExt cx="3243030" cy="624566"/>
              </a:xfrm>
            </p:grpSpPr>
            <p:sp>
              <p:nvSpPr>
                <p:cNvPr id="32" name="analyzer-title">
                  <a:extLst>
                    <a:ext uri="{FF2B5EF4-FFF2-40B4-BE49-F238E27FC236}">
                      <a16:creationId xmlns:a16="http://schemas.microsoft.com/office/drawing/2014/main" id="{0A14C71F-4328-7644-B9CD-33FAC576EA3E}"/>
                    </a:ext>
                  </a:extLst>
                </p:cNvPr>
                <p:cNvSpPr txBox="1"/>
                <p:nvPr/>
              </p:nvSpPr>
              <p:spPr>
                <a:xfrm>
                  <a:off x="2080089" y="2539696"/>
                  <a:ext cx="1045298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sz="1620" b="1" dirty="0">
                      <a:solidFill>
                        <a:srgbClr val="7030A0"/>
                      </a:solidFill>
                      <a:latin typeface="Arial"/>
                      <a:ea typeface="Arial"/>
                    </a:rPr>
                    <a:t>Translator</a:t>
                  </a: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BC4A1427-56FD-254A-B8D4-B138E02DA867}"/>
                    </a:ext>
                  </a:extLst>
                </p:cNvPr>
                <p:cNvSpPr/>
                <p:nvPr/>
              </p:nvSpPr>
              <p:spPr>
                <a:xfrm>
                  <a:off x="1911134" y="2517678"/>
                  <a:ext cx="3243030" cy="624566"/>
                </a:xfrm>
                <a:prstGeom prst="rect">
                  <a:avLst/>
                </a:prstGeom>
                <a:noFill/>
                <a:ln w="15875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28" name="analyzer-sub1">
                <a:extLst>
                  <a:ext uri="{FF2B5EF4-FFF2-40B4-BE49-F238E27FC236}">
                    <a16:creationId xmlns:a16="http://schemas.microsoft.com/office/drawing/2014/main" id="{A1917658-AA4E-7642-8644-EE7A96898F6E}"/>
                  </a:ext>
                </a:extLst>
              </p:cNvPr>
              <p:cNvSpPr/>
              <p:nvPr/>
            </p:nvSpPr>
            <p:spPr>
              <a:xfrm>
                <a:off x="3850080" y="1586202"/>
                <a:ext cx="1798200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Drive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TDD-based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Implementation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endParaRPr lang="en-US" altLang="zh-CN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" name="analyzer-sub1">
                <a:extLst>
                  <a:ext uri="{FF2B5EF4-FFF2-40B4-BE49-F238E27FC236}">
                    <a16:creationId xmlns:a16="http://schemas.microsoft.com/office/drawing/2014/main" id="{534ADA13-28AC-204F-82AB-CB3F944467B5}"/>
                  </a:ext>
                </a:extLst>
              </p:cNvPr>
              <p:cNvSpPr/>
              <p:nvPr/>
            </p:nvSpPr>
            <p:spPr>
              <a:xfrm>
                <a:off x="3831116" y="1860279"/>
                <a:ext cx="870259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Migrate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</a:p>
            </p:txBody>
          </p:sp>
          <p:sp>
            <p:nvSpPr>
              <p:cNvPr id="30" name="analyzer-sub1">
                <a:extLst>
                  <a:ext uri="{FF2B5EF4-FFF2-40B4-BE49-F238E27FC236}">
                    <a16:creationId xmlns:a16="http://schemas.microsoft.com/office/drawing/2014/main" id="{797DA133-FC96-1A44-9883-AE5843677A04}"/>
                  </a:ext>
                </a:extLst>
              </p:cNvPr>
              <p:cNvSpPr/>
              <p:nvPr/>
            </p:nvSpPr>
            <p:spPr>
              <a:xfrm>
                <a:off x="2499477" y="1855630"/>
                <a:ext cx="1279987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Record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Decisions</a:t>
                </a:r>
              </a:p>
            </p:txBody>
          </p:sp>
          <p:sp>
            <p:nvSpPr>
              <p:cNvPr id="31" name="analyzer-sub1">
                <a:extLst>
                  <a:ext uri="{FF2B5EF4-FFF2-40B4-BE49-F238E27FC236}">
                    <a16:creationId xmlns:a16="http://schemas.microsoft.com/office/drawing/2014/main" id="{32EE57A6-97A2-D147-AC27-C2D081967431}"/>
                  </a:ext>
                </a:extLst>
              </p:cNvPr>
              <p:cNvSpPr/>
              <p:nvPr/>
            </p:nvSpPr>
            <p:spPr>
              <a:xfrm>
                <a:off x="4742179" y="1863173"/>
                <a:ext cx="906101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Update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Contract</a:t>
                </a: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2F3C203-0B91-EF46-86D6-FD2C02AFC4F6}"/>
                </a:ext>
              </a:extLst>
            </p:cNvPr>
            <p:cNvGrpSpPr/>
            <p:nvPr/>
          </p:nvGrpSpPr>
          <p:grpSpPr>
            <a:xfrm>
              <a:off x="4650649" y="2877859"/>
              <a:ext cx="3241199" cy="620040"/>
              <a:chOff x="5886639" y="1539894"/>
              <a:chExt cx="3241199" cy="620040"/>
            </a:xfrm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817235A8-7620-E344-9B82-D8778FF887EF}"/>
                  </a:ext>
                </a:extLst>
              </p:cNvPr>
              <p:cNvGrpSpPr/>
              <p:nvPr/>
            </p:nvGrpSpPr>
            <p:grpSpPr>
              <a:xfrm>
                <a:off x="5886639" y="1539894"/>
                <a:ext cx="3241199" cy="620040"/>
                <a:chOff x="3745368" y="2859627"/>
                <a:chExt cx="3241199" cy="620040"/>
              </a:xfrm>
            </p:grpSpPr>
            <p:sp>
              <p:nvSpPr>
                <p:cNvPr id="71" name="analyzer-title">
                  <a:extLst>
                    <a:ext uri="{FF2B5EF4-FFF2-40B4-BE49-F238E27FC236}">
                      <a16:creationId xmlns:a16="http://schemas.microsoft.com/office/drawing/2014/main" id="{F8ED9317-B0BD-F740-95C8-690E6C2EB497}"/>
                    </a:ext>
                  </a:extLst>
                </p:cNvPr>
                <p:cNvSpPr txBox="1"/>
                <p:nvPr/>
              </p:nvSpPr>
              <p:spPr>
                <a:xfrm>
                  <a:off x="3938849" y="2886857"/>
                  <a:ext cx="774228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r>
                    <a:rPr lang="en-US" altLang="zh-CN" sz="1620" b="1" dirty="0">
                      <a:solidFill>
                        <a:schemeClr val="accent4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Verifier</a:t>
                  </a: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3A721841-9368-1E44-B4D8-1D04D37406C1}"/>
                    </a:ext>
                  </a:extLst>
                </p:cNvPr>
                <p:cNvSpPr/>
                <p:nvPr/>
              </p:nvSpPr>
              <p:spPr>
                <a:xfrm>
                  <a:off x="3745368" y="2859627"/>
                  <a:ext cx="3241199" cy="620040"/>
                </a:xfrm>
                <a:prstGeom prst="rect">
                  <a:avLst/>
                </a:prstGeom>
                <a:noFill/>
                <a:ln w="15875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68" name="analyzer-sub1">
                <a:extLst>
                  <a:ext uri="{FF2B5EF4-FFF2-40B4-BE49-F238E27FC236}">
                    <a16:creationId xmlns:a16="http://schemas.microsoft.com/office/drawing/2014/main" id="{BA11CE8C-C25A-5840-B58B-75FBC1E323B9}"/>
                  </a:ext>
                </a:extLst>
              </p:cNvPr>
              <p:cNvSpPr/>
              <p:nvPr/>
            </p:nvSpPr>
            <p:spPr>
              <a:xfrm>
                <a:off x="7235030" y="1592529"/>
                <a:ext cx="1794589" cy="23425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preservation</a:t>
                </a:r>
              </a:p>
            </p:txBody>
          </p:sp>
          <p:sp>
            <p:nvSpPr>
              <p:cNvPr id="69" name="analyzer-sub1">
                <a:extLst>
                  <a:ext uri="{FF2B5EF4-FFF2-40B4-BE49-F238E27FC236}">
                    <a16:creationId xmlns:a16="http://schemas.microsoft.com/office/drawing/2014/main" id="{EB6B77B4-7109-A041-B6B2-B12A8B18D29C}"/>
                  </a:ext>
                </a:extLst>
              </p:cNvPr>
              <p:cNvSpPr/>
              <p:nvPr/>
            </p:nvSpPr>
            <p:spPr>
              <a:xfrm>
                <a:off x="5949729" y="1865183"/>
                <a:ext cx="1215268" cy="25317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Test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Results</a:t>
                </a:r>
              </a:p>
            </p:txBody>
          </p:sp>
          <p:sp>
            <p:nvSpPr>
              <p:cNvPr id="70" name="analyzer-sub1">
                <a:extLst>
                  <a:ext uri="{FF2B5EF4-FFF2-40B4-BE49-F238E27FC236}">
                    <a16:creationId xmlns:a16="http://schemas.microsoft.com/office/drawing/2014/main" id="{E14352CE-3542-3B49-A15B-BFC32E91B419}"/>
                  </a:ext>
                </a:extLst>
              </p:cNvPr>
              <p:cNvSpPr/>
              <p:nvPr/>
            </p:nvSpPr>
            <p:spPr>
              <a:xfrm>
                <a:off x="7235031" y="1853122"/>
                <a:ext cx="1794588" cy="26523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obligation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satisfaction</a:t>
                </a:r>
              </a:p>
            </p:txBody>
          </p:sp>
        </p:grp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8A92E70-F897-B341-9971-E7622ED1E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6180959" y="2610980"/>
              <a:ext cx="270177" cy="270177"/>
            </a:xfrm>
            <a:prstGeom prst="rect">
              <a:avLst/>
            </a:prstGeom>
          </p:spPr>
        </p:pic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62C4C83-A32E-4F47-ADCD-AE8BE0760C8B}"/>
              </a:ext>
            </a:extLst>
          </p:cNvPr>
          <p:cNvGrpSpPr/>
          <p:nvPr/>
        </p:nvGrpSpPr>
        <p:grpSpPr>
          <a:xfrm>
            <a:off x="9456746" y="2316663"/>
            <a:ext cx="1707886" cy="3547146"/>
            <a:chOff x="9182160" y="2973752"/>
            <a:chExt cx="1707886" cy="3547146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2030935-39AC-F644-974F-B2CB62C9C0E7}"/>
                </a:ext>
              </a:extLst>
            </p:cNvPr>
            <p:cNvSpPr/>
            <p:nvPr/>
          </p:nvSpPr>
          <p:spPr>
            <a:xfrm>
              <a:off x="9182160" y="2973752"/>
              <a:ext cx="1707886" cy="35471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7923A9A-BE2B-9040-8622-BACEA5C19EA2}"/>
                </a:ext>
              </a:extLst>
            </p:cNvPr>
            <p:cNvGrpSpPr/>
            <p:nvPr/>
          </p:nvGrpSpPr>
          <p:grpSpPr>
            <a:xfrm>
              <a:off x="9269529" y="3049931"/>
              <a:ext cx="1534984" cy="1204549"/>
              <a:chOff x="1884874" y="2950794"/>
              <a:chExt cx="1534984" cy="1204549"/>
            </a:xfrm>
          </p:grpSpPr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FF936BD3-D6F7-2A40-BDEA-F310EA3F96C3}"/>
                  </a:ext>
                </a:extLst>
              </p:cNvPr>
              <p:cNvGrpSpPr/>
              <p:nvPr/>
            </p:nvGrpSpPr>
            <p:grpSpPr>
              <a:xfrm>
                <a:off x="1884874" y="2950794"/>
                <a:ext cx="1534984" cy="1204549"/>
                <a:chOff x="1968870" y="2639221"/>
                <a:chExt cx="1534984" cy="1204549"/>
              </a:xfrm>
            </p:grpSpPr>
            <p:sp>
              <p:nvSpPr>
                <p:cNvPr id="99" name="analyzer-title">
                  <a:extLst>
                    <a:ext uri="{FF2B5EF4-FFF2-40B4-BE49-F238E27FC236}">
                      <a16:creationId xmlns:a16="http://schemas.microsoft.com/office/drawing/2014/main" id="{AA9A3ED9-EF77-654D-BF62-EDF2921A55E8}"/>
                    </a:ext>
                  </a:extLst>
                </p:cNvPr>
                <p:cNvSpPr txBox="1"/>
                <p:nvPr/>
              </p:nvSpPr>
              <p:spPr>
                <a:xfrm>
                  <a:off x="2235013" y="2639221"/>
                  <a:ext cx="1127501" cy="34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sz="1620" b="1" dirty="0">
                      <a:solidFill>
                        <a:srgbClr val="7030A0"/>
                      </a:solidFill>
                      <a:latin typeface="Arial"/>
                      <a:ea typeface="Arial"/>
                    </a:rPr>
                    <a:t>Translator</a:t>
                  </a:r>
                </a:p>
              </p:txBody>
            </p:sp>
            <p:sp>
              <p:nvSpPr>
                <p:cNvPr id="100" name="analyzer-sub2">
                  <a:extLst>
                    <a:ext uri="{FF2B5EF4-FFF2-40B4-BE49-F238E27FC236}">
                      <a16:creationId xmlns:a16="http://schemas.microsoft.com/office/drawing/2014/main" id="{B55F5898-DE9B-024E-897F-8FF78019C195}"/>
                    </a:ext>
                  </a:extLst>
                </p:cNvPr>
                <p:cNvSpPr/>
                <p:nvPr/>
              </p:nvSpPr>
              <p:spPr>
                <a:xfrm>
                  <a:off x="2046138" y="3247682"/>
                  <a:ext cx="1371073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Fix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residual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issues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CC0FE2B1-4767-8D4B-8295-4BA841B90BD3}"/>
                    </a:ext>
                  </a:extLst>
                </p:cNvPr>
                <p:cNvSpPr/>
                <p:nvPr/>
              </p:nvSpPr>
              <p:spPr>
                <a:xfrm>
                  <a:off x="1968870" y="2673179"/>
                  <a:ext cx="1534984" cy="1170591"/>
                </a:xfrm>
                <a:prstGeom prst="rect">
                  <a:avLst/>
                </a:prstGeom>
                <a:noFill/>
                <a:ln w="15875" cap="flat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97" name="analyzer-sub1">
                <a:extLst>
                  <a:ext uri="{FF2B5EF4-FFF2-40B4-BE49-F238E27FC236}">
                    <a16:creationId xmlns:a16="http://schemas.microsoft.com/office/drawing/2014/main" id="{07FFD04D-F541-5E4F-B295-7869B35F6A83}"/>
                  </a:ext>
                </a:extLst>
              </p:cNvPr>
              <p:cNvSpPr/>
              <p:nvPr/>
            </p:nvSpPr>
            <p:spPr>
              <a:xfrm>
                <a:off x="1956894" y="3262008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Aggregate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artifacts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98" name="analyzer-sub1">
                <a:extLst>
                  <a:ext uri="{FF2B5EF4-FFF2-40B4-BE49-F238E27FC236}">
                    <a16:creationId xmlns:a16="http://schemas.microsoft.com/office/drawing/2014/main" id="{675F1E91-5131-8448-938D-23405CF1105E}"/>
                  </a:ext>
                </a:extLst>
              </p:cNvPr>
              <p:cNvSpPr/>
              <p:nvPr/>
            </p:nvSpPr>
            <p:spPr>
              <a:xfrm>
                <a:off x="1957223" y="3866962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Summarize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deviations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78045113-E3BA-7D46-B17E-130CC68BD41F}"/>
                </a:ext>
              </a:extLst>
            </p:cNvPr>
            <p:cNvGrpSpPr/>
            <p:nvPr/>
          </p:nvGrpSpPr>
          <p:grpSpPr>
            <a:xfrm>
              <a:off x="9264841" y="4843346"/>
              <a:ext cx="1534984" cy="1497030"/>
              <a:chOff x="9359187" y="4122056"/>
              <a:chExt cx="1534984" cy="1497030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8FD0023C-99F7-484A-973B-D4DAEE291C18}"/>
                  </a:ext>
                </a:extLst>
              </p:cNvPr>
              <p:cNvGrpSpPr/>
              <p:nvPr/>
            </p:nvGrpSpPr>
            <p:grpSpPr>
              <a:xfrm>
                <a:off x="9359187" y="4122056"/>
                <a:ext cx="1534984" cy="1497030"/>
                <a:chOff x="1884874" y="2998920"/>
                <a:chExt cx="1534984" cy="1497030"/>
              </a:xfrm>
            </p:grpSpPr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5DC90011-4320-6346-88E8-1DB7A1025322}"/>
                    </a:ext>
                  </a:extLst>
                </p:cNvPr>
                <p:cNvGrpSpPr/>
                <p:nvPr/>
              </p:nvGrpSpPr>
              <p:grpSpPr>
                <a:xfrm>
                  <a:off x="1884874" y="2998920"/>
                  <a:ext cx="1534984" cy="1497030"/>
                  <a:chOff x="1968870" y="2687347"/>
                  <a:chExt cx="1534984" cy="1497030"/>
                </a:xfrm>
              </p:grpSpPr>
              <p:sp>
                <p:nvSpPr>
                  <p:cNvPr id="108" name="analyzer-title">
                    <a:extLst>
                      <a:ext uri="{FF2B5EF4-FFF2-40B4-BE49-F238E27FC236}">
                        <a16:creationId xmlns:a16="http://schemas.microsoft.com/office/drawing/2014/main" id="{31CFB142-02BB-0D4F-8CCF-7D0C21AD53F0}"/>
                      </a:ext>
                    </a:extLst>
                  </p:cNvPr>
                  <p:cNvSpPr txBox="1"/>
                  <p:nvPr/>
                </p:nvSpPr>
                <p:spPr>
                  <a:xfrm>
                    <a:off x="2235013" y="2687347"/>
                    <a:ext cx="1127501" cy="34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7200" tIns="7200" rIns="7200" bIns="7200" anchor="ctr"/>
                  <a:lstStyle/>
                  <a:p>
                    <a:pPr algn="l"/>
                    <a:r>
                      <a:rPr lang="en-US" sz="162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ea typeface="Arial"/>
                      </a:rPr>
                      <a:t>Reviewer</a:t>
                    </a:r>
                  </a:p>
                </p:txBody>
              </p:sp>
              <p:sp>
                <p:nvSpPr>
                  <p:cNvPr id="109" name="analyzer-sub2">
                    <a:extLst>
                      <a:ext uri="{FF2B5EF4-FFF2-40B4-BE49-F238E27FC236}">
                        <a16:creationId xmlns:a16="http://schemas.microsoft.com/office/drawing/2014/main" id="{426DABDD-10F0-CF48-B278-5EABEE76EC66}"/>
                      </a:ext>
                    </a:extLst>
                  </p:cNvPr>
                  <p:cNvSpPr/>
                  <p:nvPr/>
                </p:nvSpPr>
                <p:spPr>
                  <a:xfrm>
                    <a:off x="2046138" y="3295808"/>
                    <a:ext cx="1371073" cy="23760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15875">
                    <a:solidFill>
                      <a:srgbClr val="BDBDBD"/>
                    </a:solidFill>
                  </a:ln>
                </p:spPr>
                <p:txBody>
                  <a:bodyPr lIns="14400" tIns="14400" rIns="14400" bIns="14400" anchor="ctr"/>
                  <a:lstStyle/>
                  <a:p>
                    <a:pPr algn="ctr"/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Check</a:t>
                    </a:r>
                    <a:r>
                      <a:rPr lang="zh-CN" altLang="en-US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 </a:t>
                    </a:r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evidence</a:t>
                    </a:r>
                    <a:r>
                      <a:rPr lang="zh-CN" altLang="en-US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 </a:t>
                    </a:r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coverage</a:t>
                    </a:r>
                    <a:endPara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" name="矩形 109">
                    <a:extLst>
                      <a:ext uri="{FF2B5EF4-FFF2-40B4-BE49-F238E27FC236}">
                        <a16:creationId xmlns:a16="http://schemas.microsoft.com/office/drawing/2014/main" id="{BC7801DA-3C1B-EA46-AA54-937BBF91E49C}"/>
                      </a:ext>
                    </a:extLst>
                  </p:cNvPr>
                  <p:cNvSpPr/>
                  <p:nvPr/>
                </p:nvSpPr>
                <p:spPr>
                  <a:xfrm>
                    <a:off x="1968870" y="2733497"/>
                    <a:ext cx="1534984" cy="1450880"/>
                  </a:xfrm>
                  <a:prstGeom prst="rect">
                    <a:avLst/>
                  </a:prstGeom>
                  <a:noFill/>
                  <a:ln w="15875" cap="flat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/>
                  </a:p>
                </p:txBody>
              </p:sp>
            </p:grpSp>
            <p:sp>
              <p:nvSpPr>
                <p:cNvPr id="106" name="analyzer-sub1">
                  <a:extLst>
                    <a:ext uri="{FF2B5EF4-FFF2-40B4-BE49-F238E27FC236}">
                      <a16:creationId xmlns:a16="http://schemas.microsoft.com/office/drawing/2014/main" id="{EFE61BE5-BF63-6443-AD68-A416E8F20AC4}"/>
                    </a:ext>
                  </a:extLst>
                </p:cNvPr>
                <p:cNvSpPr/>
                <p:nvPr/>
              </p:nvSpPr>
              <p:spPr>
                <a:xfrm>
                  <a:off x="1956894" y="3310134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Audit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terminal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obligations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07" name="analyzer-sub1">
                  <a:extLst>
                    <a:ext uri="{FF2B5EF4-FFF2-40B4-BE49-F238E27FC236}">
                      <a16:creationId xmlns:a16="http://schemas.microsoft.com/office/drawing/2014/main" id="{019CD6A4-3A33-CE47-99D3-E9CAE994B938}"/>
                    </a:ext>
                  </a:extLst>
                </p:cNvPr>
                <p:cNvSpPr/>
                <p:nvPr/>
              </p:nvSpPr>
              <p:spPr>
                <a:xfrm>
                  <a:off x="1957223" y="3915088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Check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consistency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</p:grpSp>
          <p:sp>
            <p:nvSpPr>
              <p:cNvPr id="104" name="analyzer-sub1">
                <a:extLst>
                  <a:ext uri="{FF2B5EF4-FFF2-40B4-BE49-F238E27FC236}">
                    <a16:creationId xmlns:a16="http://schemas.microsoft.com/office/drawing/2014/main" id="{150A24C9-FDF9-CB40-A475-BC6959CE04D6}"/>
                  </a:ext>
                </a:extLst>
              </p:cNvPr>
              <p:cNvSpPr/>
              <p:nvPr/>
            </p:nvSpPr>
            <p:spPr>
              <a:xfrm>
                <a:off x="9431207" y="5315480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Review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unresolved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risk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</p:grpSp>
      <p:pic>
        <p:nvPicPr>
          <p:cNvPr id="111" name="图形 110">
            <a:extLst>
              <a:ext uri="{FF2B5EF4-FFF2-40B4-BE49-F238E27FC236}">
                <a16:creationId xmlns:a16="http://schemas.microsoft.com/office/drawing/2014/main" id="{8812F302-E623-914A-B080-528ACD88D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0109267" y="3673252"/>
            <a:ext cx="443371" cy="443371"/>
          </a:xfrm>
          <a:prstGeom prst="rect">
            <a:avLst/>
          </a:prstGeom>
        </p:spPr>
      </p:pic>
      <p:sp>
        <p:nvSpPr>
          <p:cNvPr id="113" name="文本框 112">
            <a:extLst>
              <a:ext uri="{FF2B5EF4-FFF2-40B4-BE49-F238E27FC236}">
                <a16:creationId xmlns:a16="http://schemas.microsoft.com/office/drawing/2014/main" id="{191E1209-81D9-3F49-B679-8B87976FE906}"/>
              </a:ext>
            </a:extLst>
          </p:cNvPr>
          <p:cNvSpPr txBox="1"/>
          <p:nvPr/>
        </p:nvSpPr>
        <p:spPr>
          <a:xfrm>
            <a:off x="8738309" y="1837191"/>
            <a:ext cx="2479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Closure-Level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D19D243-8AC6-814A-BF52-0B14EFE3C4A7}"/>
              </a:ext>
            </a:extLst>
          </p:cNvPr>
          <p:cNvSpPr txBox="1"/>
          <p:nvPr/>
        </p:nvSpPr>
        <p:spPr>
          <a:xfrm>
            <a:off x="5388435" y="1830167"/>
            <a:ext cx="2653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Task-Level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pic>
        <p:nvPicPr>
          <p:cNvPr id="115" name="图形 114">
            <a:extLst>
              <a:ext uri="{FF2B5EF4-FFF2-40B4-BE49-F238E27FC236}">
                <a16:creationId xmlns:a16="http://schemas.microsoft.com/office/drawing/2014/main" id="{AC313091-8108-CA44-91AB-34B60E92B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3243" y="1827270"/>
            <a:ext cx="356705" cy="35670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6BED90C2-E1BC-744B-A9CD-CC69AE5971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9060" y="1810375"/>
            <a:ext cx="400529" cy="400529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2742B1DF-EE54-CB4B-8CCE-BE190943BF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5212" y="1817685"/>
            <a:ext cx="391563" cy="391563"/>
          </a:xfrm>
          <a:prstGeom prst="rect">
            <a:avLst/>
          </a:prstGeom>
        </p:spPr>
      </p:pic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DCCC109-52CF-F549-B61F-264ABD337A34}"/>
              </a:ext>
            </a:extLst>
          </p:cNvPr>
          <p:cNvGrpSpPr/>
          <p:nvPr/>
        </p:nvGrpSpPr>
        <p:grpSpPr>
          <a:xfrm>
            <a:off x="3047936" y="4076161"/>
            <a:ext cx="6119422" cy="1778889"/>
            <a:chOff x="2772179" y="3523541"/>
            <a:chExt cx="6119422" cy="1778889"/>
          </a:xfrm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4459017F-6BBB-104F-ACA2-3FC231124435}"/>
                </a:ext>
              </a:extLst>
            </p:cNvPr>
            <p:cNvGrpSpPr/>
            <p:nvPr/>
          </p:nvGrpSpPr>
          <p:grpSpPr>
            <a:xfrm>
              <a:off x="2883595" y="3523541"/>
              <a:ext cx="3959941" cy="1681474"/>
              <a:chOff x="-3292644" y="2242453"/>
              <a:chExt cx="3959941" cy="1681474"/>
            </a:xfrm>
          </p:grpSpPr>
          <p:sp>
            <p:nvSpPr>
              <p:cNvPr id="35" name="shared-label">
                <a:extLst>
                  <a:ext uri="{FF2B5EF4-FFF2-40B4-BE49-F238E27FC236}">
                    <a16:creationId xmlns:a16="http://schemas.microsoft.com/office/drawing/2014/main" id="{CC7ECB83-4C66-0545-9217-9D342A2F966F}"/>
                  </a:ext>
                </a:extLst>
              </p:cNvPr>
              <p:cNvSpPr txBox="1"/>
              <p:nvPr/>
            </p:nvSpPr>
            <p:spPr>
              <a:xfrm>
                <a:off x="-1186225" y="2242453"/>
                <a:ext cx="185352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ctr"/>
                <a:r>
                  <a:rPr lang="en-US" sz="16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Shared Workspace</a:t>
                </a:r>
              </a:p>
            </p:txBody>
          </p:sp>
          <p:sp>
            <p:nvSpPr>
              <p:cNvPr id="36" name="ws-todo-text">
                <a:extLst>
                  <a:ext uri="{FF2B5EF4-FFF2-40B4-BE49-F238E27FC236}">
                    <a16:creationId xmlns:a16="http://schemas.microsoft.com/office/drawing/2014/main" id="{B019819C-7471-2B4B-A385-6AF87A86CA35}"/>
                  </a:ext>
                </a:extLst>
              </p:cNvPr>
              <p:cNvSpPr txBox="1"/>
              <p:nvPr/>
            </p:nvSpPr>
            <p:spPr>
              <a:xfrm>
                <a:off x="-3058334" y="2683786"/>
                <a:ext cx="2596918" cy="247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en-US" sz="1200" b="1" dirty="0">
                    <a:solidFill>
                      <a:srgbClr val="111111"/>
                    </a:solidFill>
                    <a:latin typeface="Arial"/>
                  </a:rPr>
                  <a:t>Behavior-Centered Checklist IR</a:t>
                </a: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72DF8F9D-B1C0-4F41-A7B3-3AAB97390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264607" y="2679390"/>
                <a:ext cx="271090" cy="271090"/>
              </a:xfrm>
              <a:prstGeom prst="rect">
                <a:avLst/>
              </a:prstGeom>
            </p:spPr>
          </p:pic>
          <p:sp>
            <p:nvSpPr>
              <p:cNvPr id="38" name="analyzer-sub3">
                <a:extLst>
                  <a:ext uri="{FF2B5EF4-FFF2-40B4-BE49-F238E27FC236}">
                    <a16:creationId xmlns:a16="http://schemas.microsoft.com/office/drawing/2014/main" id="{F66915CA-A7A5-DC45-991F-5919D2A5030F}"/>
                  </a:ext>
                </a:extLst>
              </p:cNvPr>
              <p:cNvSpPr/>
              <p:nvPr/>
            </p:nvSpPr>
            <p:spPr>
              <a:xfrm>
                <a:off x="-3209237" y="3592901"/>
                <a:ext cx="1119409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Feature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Slice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" name="analyzer-sub3">
                <a:extLst>
                  <a:ext uri="{FF2B5EF4-FFF2-40B4-BE49-F238E27FC236}">
                    <a16:creationId xmlns:a16="http://schemas.microsoft.com/office/drawing/2014/main" id="{A509891B-6201-0D40-BBD1-FF9FF1ACA17E}"/>
                  </a:ext>
                </a:extLst>
              </p:cNvPr>
              <p:cNvSpPr/>
              <p:nvPr/>
            </p:nvSpPr>
            <p:spPr>
              <a:xfrm>
                <a:off x="-1985663" y="3302504"/>
                <a:ext cx="148959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" name="analyzer-sub3">
                <a:extLst>
                  <a:ext uri="{FF2B5EF4-FFF2-40B4-BE49-F238E27FC236}">
                    <a16:creationId xmlns:a16="http://schemas.microsoft.com/office/drawing/2014/main" id="{18BDC368-BC45-5646-BA1A-284B5C8CFA1E}"/>
                  </a:ext>
                </a:extLst>
              </p:cNvPr>
              <p:cNvSpPr/>
              <p:nvPr/>
            </p:nvSpPr>
            <p:spPr>
              <a:xfrm>
                <a:off x="-1981443" y="3010286"/>
                <a:ext cx="148546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Refs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1" name="analyzer-sub3">
                <a:extLst>
                  <a:ext uri="{FF2B5EF4-FFF2-40B4-BE49-F238E27FC236}">
                    <a16:creationId xmlns:a16="http://schemas.microsoft.com/office/drawing/2014/main" id="{5B8FA533-CDB7-A446-8D8F-EF387F3E172D}"/>
                  </a:ext>
                </a:extLst>
              </p:cNvPr>
              <p:cNvSpPr/>
              <p:nvPr/>
            </p:nvSpPr>
            <p:spPr>
              <a:xfrm>
                <a:off x="-3205709" y="3009309"/>
                <a:ext cx="113112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Priority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&amp;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Order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2" name="analyzer-sub3">
                <a:extLst>
                  <a:ext uri="{FF2B5EF4-FFF2-40B4-BE49-F238E27FC236}">
                    <a16:creationId xmlns:a16="http://schemas.microsoft.com/office/drawing/2014/main" id="{86106097-085D-4D43-B47F-0BBC434D9235}"/>
                  </a:ext>
                </a:extLst>
              </p:cNvPr>
              <p:cNvSpPr/>
              <p:nvPr/>
            </p:nvSpPr>
            <p:spPr>
              <a:xfrm>
                <a:off x="-3213271" y="3304650"/>
                <a:ext cx="112485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Validation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Plan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3" name="analyzer-sub3">
                <a:extLst>
                  <a:ext uri="{FF2B5EF4-FFF2-40B4-BE49-F238E27FC236}">
                    <a16:creationId xmlns:a16="http://schemas.microsoft.com/office/drawing/2014/main" id="{7D61BF1A-5532-BE44-B679-69A9D553E92E}"/>
                  </a:ext>
                </a:extLst>
              </p:cNvPr>
              <p:cNvSpPr/>
              <p:nvPr/>
            </p:nvSpPr>
            <p:spPr>
              <a:xfrm>
                <a:off x="-1978274" y="3593518"/>
                <a:ext cx="1482208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6D4A8BD-C027-014B-A6FD-CFD4C25857E7}"/>
                  </a:ext>
                </a:extLst>
              </p:cNvPr>
              <p:cNvSpPr/>
              <p:nvPr/>
            </p:nvSpPr>
            <p:spPr>
              <a:xfrm>
                <a:off x="-3292644" y="2652241"/>
                <a:ext cx="2861518" cy="1271686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46" name="ws-repair">
              <a:extLst>
                <a:ext uri="{FF2B5EF4-FFF2-40B4-BE49-F238E27FC236}">
                  <a16:creationId xmlns:a16="http://schemas.microsoft.com/office/drawing/2014/main" id="{706C6BD9-E23D-2949-A160-81B7A9DBA183}"/>
                </a:ext>
              </a:extLst>
            </p:cNvPr>
            <p:cNvSpPr/>
            <p:nvPr/>
          </p:nvSpPr>
          <p:spPr>
            <a:xfrm>
              <a:off x="5946079" y="4241927"/>
              <a:ext cx="1216625" cy="28341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E46070F-2C97-234E-A4DA-7BEE452B0277}"/>
                </a:ext>
              </a:extLst>
            </p:cNvPr>
            <p:cNvGrpSpPr/>
            <p:nvPr/>
          </p:nvGrpSpPr>
          <p:grpSpPr>
            <a:xfrm>
              <a:off x="5944648" y="3906573"/>
              <a:ext cx="1218056" cy="277867"/>
              <a:chOff x="2222784" y="5381886"/>
              <a:chExt cx="1218056" cy="277867"/>
            </a:xfrm>
          </p:grpSpPr>
          <p:sp>
            <p:nvSpPr>
              <p:cNvPr id="63" name="ws-scan">
                <a:extLst>
                  <a:ext uri="{FF2B5EF4-FFF2-40B4-BE49-F238E27FC236}">
                    <a16:creationId xmlns:a16="http://schemas.microsoft.com/office/drawing/2014/main" id="{97F938BF-5D39-6C4E-803B-D6FF1A3EA5F2}"/>
                  </a:ext>
                </a:extLst>
              </p:cNvPr>
              <p:cNvSpPr/>
              <p:nvPr/>
            </p:nvSpPr>
            <p:spPr>
              <a:xfrm>
                <a:off x="2222784" y="5381886"/>
                <a:ext cx="1218056" cy="277867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4" name="ws-scan-text">
                <a:extLst>
                  <a:ext uri="{FF2B5EF4-FFF2-40B4-BE49-F238E27FC236}">
                    <a16:creationId xmlns:a16="http://schemas.microsoft.com/office/drawing/2014/main" id="{9C473926-44A7-4341-B4A8-5C5140436DA1}"/>
                  </a:ext>
                </a:extLst>
              </p:cNvPr>
              <p:cNvSpPr txBox="1"/>
              <p:nvPr/>
            </p:nvSpPr>
            <p:spPr>
              <a:xfrm>
                <a:off x="2418080" y="5431938"/>
                <a:ext cx="914400" cy="1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can</a:t>
                </a: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E00CFD1-6882-BD4D-B5EB-372A527849E3}"/>
                </a:ext>
              </a:extLst>
            </p:cNvPr>
            <p:cNvGrpSpPr/>
            <p:nvPr/>
          </p:nvGrpSpPr>
          <p:grpSpPr>
            <a:xfrm>
              <a:off x="7227547" y="3899453"/>
              <a:ext cx="1552011" cy="271934"/>
              <a:chOff x="2131917" y="5409007"/>
              <a:chExt cx="1552011" cy="271934"/>
            </a:xfrm>
          </p:grpSpPr>
          <p:sp>
            <p:nvSpPr>
              <p:cNvPr id="61" name="ws-ledger">
                <a:extLst>
                  <a:ext uri="{FF2B5EF4-FFF2-40B4-BE49-F238E27FC236}">
                    <a16:creationId xmlns:a16="http://schemas.microsoft.com/office/drawing/2014/main" id="{C157A98D-212C-9744-B33B-A316CEFAD0B4}"/>
                  </a:ext>
                </a:extLst>
              </p:cNvPr>
              <p:cNvSpPr/>
              <p:nvPr/>
            </p:nvSpPr>
            <p:spPr>
              <a:xfrm>
                <a:off x="2131917" y="5409007"/>
                <a:ext cx="1534751" cy="27193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2" name="ws-ledger-text">
                <a:extLst>
                  <a:ext uri="{FF2B5EF4-FFF2-40B4-BE49-F238E27FC236}">
                    <a16:creationId xmlns:a16="http://schemas.microsoft.com/office/drawing/2014/main" id="{2E102C04-1C70-564C-A709-382300F73D69}"/>
                  </a:ext>
                </a:extLst>
              </p:cNvPr>
              <p:cNvSpPr txBox="1"/>
              <p:nvPr/>
            </p:nvSpPr>
            <p:spPr>
              <a:xfrm>
                <a:off x="2171796" y="5466178"/>
                <a:ext cx="1512132" cy="189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Translation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L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edger</a:t>
                </a:r>
              </a:p>
            </p:txBody>
          </p:sp>
        </p:grp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539D36D-5632-0B40-A91F-14F4DC0FFC06}"/>
                </a:ext>
              </a:extLst>
            </p:cNvPr>
            <p:cNvSpPr/>
            <p:nvPr/>
          </p:nvSpPr>
          <p:spPr>
            <a:xfrm>
              <a:off x="2772179" y="3796539"/>
              <a:ext cx="6119422" cy="150589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ws-decision-text">
              <a:extLst>
                <a:ext uri="{FF2B5EF4-FFF2-40B4-BE49-F238E27FC236}">
                  <a16:creationId xmlns:a16="http://schemas.microsoft.com/office/drawing/2014/main" id="{4678D838-E801-5540-A5F5-E75D126729BC}"/>
                </a:ext>
              </a:extLst>
            </p:cNvPr>
            <p:cNvSpPr txBox="1"/>
            <p:nvPr/>
          </p:nvSpPr>
          <p:spPr>
            <a:xfrm>
              <a:off x="6060089" y="4963621"/>
              <a:ext cx="1166313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Agent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Report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1" name="ws-scan-text">
              <a:extLst>
                <a:ext uri="{FF2B5EF4-FFF2-40B4-BE49-F238E27FC236}">
                  <a16:creationId xmlns:a16="http://schemas.microsoft.com/office/drawing/2014/main" id="{DE5A08CE-BDBF-D744-8104-87A7F1D205EC}"/>
                </a:ext>
              </a:extLst>
            </p:cNvPr>
            <p:cNvSpPr txBox="1"/>
            <p:nvPr/>
          </p:nvSpPr>
          <p:spPr>
            <a:xfrm>
              <a:off x="6060089" y="4242180"/>
              <a:ext cx="1103035" cy="272832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Decision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Log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2" name="ws-scan-text">
              <a:extLst>
                <a:ext uri="{FF2B5EF4-FFF2-40B4-BE49-F238E27FC236}">
                  <a16:creationId xmlns:a16="http://schemas.microsoft.com/office/drawing/2014/main" id="{9D1C4ED8-8244-074A-B448-574DE2ECDAE9}"/>
                </a:ext>
              </a:extLst>
            </p:cNvPr>
            <p:cNvSpPr txBox="1"/>
            <p:nvPr/>
          </p:nvSpPr>
          <p:spPr>
            <a:xfrm>
              <a:off x="7344707" y="4597028"/>
              <a:ext cx="1441071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Feature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Contract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3" name="ws-decision-text">
              <a:extLst>
                <a:ext uri="{FF2B5EF4-FFF2-40B4-BE49-F238E27FC236}">
                  <a16:creationId xmlns:a16="http://schemas.microsoft.com/office/drawing/2014/main" id="{31B5A0CB-664D-CF4F-8FBF-C15970B133F2}"/>
                </a:ext>
              </a:extLst>
            </p:cNvPr>
            <p:cNvSpPr txBox="1"/>
            <p:nvPr/>
          </p:nvSpPr>
          <p:spPr>
            <a:xfrm>
              <a:off x="6085944" y="4627368"/>
              <a:ext cx="10224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Issue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Queue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4" name="ws-decision-text">
              <a:extLst>
                <a:ext uri="{FF2B5EF4-FFF2-40B4-BE49-F238E27FC236}">
                  <a16:creationId xmlns:a16="http://schemas.microsoft.com/office/drawing/2014/main" id="{09F23ECC-13FC-3D42-B543-85FC948F77E0}"/>
                </a:ext>
              </a:extLst>
            </p:cNvPr>
            <p:cNvSpPr txBox="1"/>
            <p:nvPr/>
          </p:nvSpPr>
          <p:spPr>
            <a:xfrm>
              <a:off x="7325567" y="4275439"/>
              <a:ext cx="1415073" cy="194358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Progress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Memory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5" name="ws-decision-text">
              <a:extLst>
                <a:ext uri="{FF2B5EF4-FFF2-40B4-BE49-F238E27FC236}">
                  <a16:creationId xmlns:a16="http://schemas.microsoft.com/office/drawing/2014/main" id="{CCFA014F-ED04-BB41-B6AA-BD3E6765EFD8}"/>
                </a:ext>
              </a:extLst>
            </p:cNvPr>
            <p:cNvSpPr txBox="1"/>
            <p:nvPr/>
          </p:nvSpPr>
          <p:spPr>
            <a:xfrm>
              <a:off x="7215886" y="4965563"/>
              <a:ext cx="1563672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Verified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Gate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History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6" name="ws-scan">
              <a:extLst>
                <a:ext uri="{FF2B5EF4-FFF2-40B4-BE49-F238E27FC236}">
                  <a16:creationId xmlns:a16="http://schemas.microsoft.com/office/drawing/2014/main" id="{CA705341-8677-2B42-B2A1-1EECCB50E14F}"/>
                </a:ext>
              </a:extLst>
            </p:cNvPr>
            <p:cNvSpPr/>
            <p:nvPr/>
          </p:nvSpPr>
          <p:spPr>
            <a:xfrm>
              <a:off x="7229407" y="4240822"/>
              <a:ext cx="1550151" cy="27786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 dirty="0"/>
            </a:p>
          </p:txBody>
        </p:sp>
        <p:sp>
          <p:nvSpPr>
            <p:cNvPr id="57" name="ws-repair">
              <a:extLst>
                <a:ext uri="{FF2B5EF4-FFF2-40B4-BE49-F238E27FC236}">
                  <a16:creationId xmlns:a16="http://schemas.microsoft.com/office/drawing/2014/main" id="{C9EDB408-6355-B445-A640-F00D6E2979BD}"/>
                </a:ext>
              </a:extLst>
            </p:cNvPr>
            <p:cNvSpPr/>
            <p:nvPr/>
          </p:nvSpPr>
          <p:spPr>
            <a:xfrm>
              <a:off x="5946079" y="4582030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8" name="ws-repair">
              <a:extLst>
                <a:ext uri="{FF2B5EF4-FFF2-40B4-BE49-F238E27FC236}">
                  <a16:creationId xmlns:a16="http://schemas.microsoft.com/office/drawing/2014/main" id="{664F5E0A-3E1F-FD4B-A5C7-54DB68CB6069}"/>
                </a:ext>
              </a:extLst>
            </p:cNvPr>
            <p:cNvSpPr/>
            <p:nvPr/>
          </p:nvSpPr>
          <p:spPr>
            <a:xfrm>
              <a:off x="7227547" y="4580233"/>
              <a:ext cx="155823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9" name="ws-repair">
              <a:extLst>
                <a:ext uri="{FF2B5EF4-FFF2-40B4-BE49-F238E27FC236}">
                  <a16:creationId xmlns:a16="http://schemas.microsoft.com/office/drawing/2014/main" id="{DE24D773-FF0E-FC46-852A-2A7EDD72C0F7}"/>
                </a:ext>
              </a:extLst>
            </p:cNvPr>
            <p:cNvSpPr/>
            <p:nvPr/>
          </p:nvSpPr>
          <p:spPr>
            <a:xfrm>
              <a:off x="5944648" y="4921598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60" name="ws-repair">
              <a:extLst>
                <a:ext uri="{FF2B5EF4-FFF2-40B4-BE49-F238E27FC236}">
                  <a16:creationId xmlns:a16="http://schemas.microsoft.com/office/drawing/2014/main" id="{EDA189A1-5340-B047-BEAA-BBBEBB749C58}"/>
                </a:ext>
              </a:extLst>
            </p:cNvPr>
            <p:cNvSpPr/>
            <p:nvPr/>
          </p:nvSpPr>
          <p:spPr>
            <a:xfrm>
              <a:off x="7227547" y="4921598"/>
              <a:ext cx="155201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22" name="矩形 121">
            <a:extLst>
              <a:ext uri="{FF2B5EF4-FFF2-40B4-BE49-F238E27FC236}">
                <a16:creationId xmlns:a16="http://schemas.microsoft.com/office/drawing/2014/main" id="{8F8ED01A-47DF-A14C-A240-B868340A5C00}"/>
              </a:ext>
            </a:extLst>
          </p:cNvPr>
          <p:cNvSpPr/>
          <p:nvPr/>
        </p:nvSpPr>
        <p:spPr>
          <a:xfrm>
            <a:off x="1332215" y="847756"/>
            <a:ext cx="3530845" cy="769615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8" name="analyzer-title">
            <a:extLst>
              <a:ext uri="{FF2B5EF4-FFF2-40B4-BE49-F238E27FC236}">
                <a16:creationId xmlns:a16="http://schemas.microsoft.com/office/drawing/2014/main" id="{AC8F89E4-F804-AE47-AC93-FDA62592A2B1}"/>
              </a:ext>
            </a:extLst>
          </p:cNvPr>
          <p:cNvSpPr txBox="1"/>
          <p:nvPr/>
        </p:nvSpPr>
        <p:spPr>
          <a:xfrm>
            <a:off x="1622442" y="834639"/>
            <a:ext cx="3204386" cy="346351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Extract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Facts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from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workspace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74BAE61-F023-4642-BFD6-EFF060BEFB73}"/>
              </a:ext>
            </a:extLst>
          </p:cNvPr>
          <p:cNvSpPr/>
          <p:nvPr/>
        </p:nvSpPr>
        <p:spPr>
          <a:xfrm>
            <a:off x="4968347" y="851655"/>
            <a:ext cx="4018056" cy="769167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0" name="analyzer-title">
            <a:extLst>
              <a:ext uri="{FF2B5EF4-FFF2-40B4-BE49-F238E27FC236}">
                <a16:creationId xmlns:a16="http://schemas.microsoft.com/office/drawing/2014/main" id="{0E97DA08-5FE6-A44C-973F-F65D3D3B9E92}"/>
              </a:ext>
            </a:extLst>
          </p:cNvPr>
          <p:cNvSpPr txBox="1"/>
          <p:nvPr/>
        </p:nvSpPr>
        <p:spPr>
          <a:xfrm>
            <a:off x="5081536" y="776609"/>
            <a:ext cx="2108244" cy="430732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Check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Rule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Contract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32" name="analyzer-sub1">
            <a:extLst>
              <a:ext uri="{FF2B5EF4-FFF2-40B4-BE49-F238E27FC236}">
                <a16:creationId xmlns:a16="http://schemas.microsoft.com/office/drawing/2014/main" id="{45D13146-50BA-1844-8FC8-0B915AEA0390}"/>
              </a:ext>
            </a:extLst>
          </p:cNvPr>
          <p:cNvSpPr/>
          <p:nvPr/>
        </p:nvSpPr>
        <p:spPr>
          <a:xfrm>
            <a:off x="1378204" y="1199341"/>
            <a:ext cx="3424418" cy="3339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behaviors,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todos,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obligations,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tests,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evidences,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decisions</a:t>
            </a:r>
            <a:endParaRPr lang="en-US" sz="10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3" name="analyzer-sub1">
            <a:extLst>
              <a:ext uri="{FF2B5EF4-FFF2-40B4-BE49-F238E27FC236}">
                <a16:creationId xmlns:a16="http://schemas.microsoft.com/office/drawing/2014/main" id="{6E5C44EA-7E1E-9646-9ED8-E1E3993576D9}"/>
              </a:ext>
            </a:extLst>
          </p:cNvPr>
          <p:cNvSpPr/>
          <p:nvPr/>
        </p:nvSpPr>
        <p:spPr>
          <a:xfrm>
            <a:off x="7276044" y="1142953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Graph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Integrity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4" name="analyzer-sub1">
            <a:extLst>
              <a:ext uri="{FF2B5EF4-FFF2-40B4-BE49-F238E27FC236}">
                <a16:creationId xmlns:a16="http://schemas.microsoft.com/office/drawing/2014/main" id="{97CEEBF7-3C3D-6049-960A-C4B7CF16AB93}"/>
              </a:ext>
            </a:extLst>
          </p:cNvPr>
          <p:cNvSpPr/>
          <p:nvPr/>
        </p:nvSpPr>
        <p:spPr>
          <a:xfrm>
            <a:off x="5094051" y="1143179"/>
            <a:ext cx="2015130" cy="21355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/>
              <a:t>Contract / Todo Evidence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5" name="analyzer-sub1">
            <a:extLst>
              <a:ext uri="{FF2B5EF4-FFF2-40B4-BE49-F238E27FC236}">
                <a16:creationId xmlns:a16="http://schemas.microsoft.com/office/drawing/2014/main" id="{680294C1-FA09-D14D-9CC3-B5FC3ECED424}"/>
              </a:ext>
            </a:extLst>
          </p:cNvPr>
          <p:cNvSpPr/>
          <p:nvPr/>
        </p:nvSpPr>
        <p:spPr>
          <a:xfrm>
            <a:off x="7276044" y="905391"/>
            <a:ext cx="1594562" cy="18867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Inventory Coverage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6" name="analyzer-sub1">
            <a:extLst>
              <a:ext uri="{FF2B5EF4-FFF2-40B4-BE49-F238E27FC236}">
                <a16:creationId xmlns:a16="http://schemas.microsoft.com/office/drawing/2014/main" id="{4B35EB6A-792F-3D4A-BE8E-4475595C5884}"/>
              </a:ext>
            </a:extLst>
          </p:cNvPr>
          <p:cNvSpPr/>
          <p:nvPr/>
        </p:nvSpPr>
        <p:spPr>
          <a:xfrm>
            <a:off x="7276044" y="1388988"/>
            <a:ext cx="1594561" cy="18099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/>
              <a:t>Closure / Decision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7" name="analyzer-sub1">
            <a:extLst>
              <a:ext uri="{FF2B5EF4-FFF2-40B4-BE49-F238E27FC236}">
                <a16:creationId xmlns:a16="http://schemas.microsoft.com/office/drawing/2014/main" id="{24B28340-C930-554B-8553-95090D2A7E9F}"/>
              </a:ext>
            </a:extLst>
          </p:cNvPr>
          <p:cNvSpPr/>
          <p:nvPr/>
        </p:nvSpPr>
        <p:spPr>
          <a:xfrm>
            <a:off x="5105968" y="1391733"/>
            <a:ext cx="2015130" cy="1968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Plan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Traceability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47E3B2-6357-8F41-B490-C4B7653005E1}"/>
              </a:ext>
            </a:extLst>
          </p:cNvPr>
          <p:cNvSpPr/>
          <p:nvPr/>
        </p:nvSpPr>
        <p:spPr>
          <a:xfrm>
            <a:off x="9083796" y="850685"/>
            <a:ext cx="1708855" cy="769167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analyzer-title">
            <a:extLst>
              <a:ext uri="{FF2B5EF4-FFF2-40B4-BE49-F238E27FC236}">
                <a16:creationId xmlns:a16="http://schemas.microsoft.com/office/drawing/2014/main" id="{8E78105F-60CB-BE49-9695-6BAB0BE907EB}"/>
              </a:ext>
            </a:extLst>
          </p:cNvPr>
          <p:cNvSpPr txBox="1"/>
          <p:nvPr/>
        </p:nvSpPr>
        <p:spPr>
          <a:xfrm>
            <a:off x="9318611" y="776854"/>
            <a:ext cx="1306784" cy="430732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Emit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Results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40" name="analyzer-sub1">
            <a:extLst>
              <a:ext uri="{FF2B5EF4-FFF2-40B4-BE49-F238E27FC236}">
                <a16:creationId xmlns:a16="http://schemas.microsoft.com/office/drawing/2014/main" id="{37CE6EB5-36AA-1B4B-AB58-2401759B4DE4}"/>
              </a:ext>
            </a:extLst>
          </p:cNvPr>
          <p:cNvSpPr/>
          <p:nvPr/>
        </p:nvSpPr>
        <p:spPr>
          <a:xfrm>
            <a:off x="9125950" y="1156789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Pass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/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Fail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41" name="analyzer-sub1">
            <a:extLst>
              <a:ext uri="{FF2B5EF4-FFF2-40B4-BE49-F238E27FC236}">
                <a16:creationId xmlns:a16="http://schemas.microsoft.com/office/drawing/2014/main" id="{652EEAD0-6315-D14F-A680-064D66404622}"/>
              </a:ext>
            </a:extLst>
          </p:cNvPr>
          <p:cNvSpPr/>
          <p:nvPr/>
        </p:nvSpPr>
        <p:spPr>
          <a:xfrm>
            <a:off x="9134617" y="1388988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Audit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Certificate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pic>
        <p:nvPicPr>
          <p:cNvPr id="142" name="图片 141">
            <a:extLst>
              <a:ext uri="{FF2B5EF4-FFF2-40B4-BE49-F238E27FC236}">
                <a16:creationId xmlns:a16="http://schemas.microsoft.com/office/drawing/2014/main" id="{8CF60A85-A991-6046-A75D-762840668A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042" y="4674459"/>
            <a:ext cx="289915" cy="289915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B8BE0F45-279D-1747-B520-3E4C5E7AC2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7" y="4764174"/>
            <a:ext cx="289915" cy="289915"/>
          </a:xfrm>
          <a:prstGeom prst="rect">
            <a:avLst/>
          </a:prstGeom>
        </p:spPr>
      </p:pic>
      <p:sp>
        <p:nvSpPr>
          <p:cNvPr id="160" name="右箭头 159">
            <a:extLst>
              <a:ext uri="{FF2B5EF4-FFF2-40B4-BE49-F238E27FC236}">
                <a16:creationId xmlns:a16="http://schemas.microsoft.com/office/drawing/2014/main" id="{59625A76-5907-624B-BCA3-D638D4DF2AD9}"/>
              </a:ext>
            </a:extLst>
          </p:cNvPr>
          <p:cNvSpPr/>
          <p:nvPr/>
        </p:nvSpPr>
        <p:spPr>
          <a:xfrm>
            <a:off x="8065644" y="2986807"/>
            <a:ext cx="1085946" cy="46795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62" name="直线箭头连接符 161">
            <a:extLst>
              <a:ext uri="{FF2B5EF4-FFF2-40B4-BE49-F238E27FC236}">
                <a16:creationId xmlns:a16="http://schemas.microsoft.com/office/drawing/2014/main" id="{36626A7B-29AB-B446-B239-B5B27E08B4D8}"/>
              </a:ext>
            </a:extLst>
          </p:cNvPr>
          <p:cNvCxnSpPr>
            <a:cxnSpLocks/>
          </p:cNvCxnSpPr>
          <p:nvPr/>
        </p:nvCxnSpPr>
        <p:spPr>
          <a:xfrm>
            <a:off x="3801151" y="1750317"/>
            <a:ext cx="0" cy="124550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226B6A67-7830-8348-89AB-CE0930640AF0}"/>
              </a:ext>
            </a:extLst>
          </p:cNvPr>
          <p:cNvCxnSpPr/>
          <p:nvPr/>
        </p:nvCxnSpPr>
        <p:spPr>
          <a:xfrm>
            <a:off x="8270679" y="1724191"/>
            <a:ext cx="0" cy="133609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肘形连接符 165">
            <a:extLst>
              <a:ext uri="{FF2B5EF4-FFF2-40B4-BE49-F238E27FC236}">
                <a16:creationId xmlns:a16="http://schemas.microsoft.com/office/drawing/2014/main" id="{56FA5BF8-1EC2-7149-AF42-AE074ECEC177}"/>
              </a:ext>
            </a:extLst>
          </p:cNvPr>
          <p:cNvCxnSpPr>
            <a:stCxn id="25" idx="1"/>
            <a:endCxn id="78" idx="2"/>
          </p:cNvCxnSpPr>
          <p:nvPr/>
        </p:nvCxnSpPr>
        <p:spPr>
          <a:xfrm rot="10800000" flipH="1" flipV="1">
            <a:off x="1250208" y="1228002"/>
            <a:ext cx="530492" cy="3177333"/>
          </a:xfrm>
          <a:prstGeom prst="bentConnector3">
            <a:avLst>
              <a:gd name="adj1" fmla="val -72224"/>
            </a:avLst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肘形连接符 168">
            <a:extLst>
              <a:ext uri="{FF2B5EF4-FFF2-40B4-BE49-F238E27FC236}">
                <a16:creationId xmlns:a16="http://schemas.microsoft.com/office/drawing/2014/main" id="{7A20CD6D-7FE5-7949-875D-F67169B09CE2}"/>
              </a:ext>
            </a:extLst>
          </p:cNvPr>
          <p:cNvCxnSpPr>
            <a:stCxn id="25" idx="3"/>
            <a:endCxn id="111" idx="0"/>
          </p:cNvCxnSpPr>
          <p:nvPr/>
        </p:nvCxnSpPr>
        <p:spPr>
          <a:xfrm flipH="1">
            <a:off x="10552638" y="1228003"/>
            <a:ext cx="337406" cy="2666935"/>
          </a:xfrm>
          <a:prstGeom prst="bentConnector3">
            <a:avLst>
              <a:gd name="adj1" fmla="val -158491"/>
            </a:avLst>
          </a:prstGeom>
          <a:ln>
            <a:prstDash val="dash"/>
            <a:headEnd type="none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733B33DE-912E-B648-9F34-0A5B9CB59CA6}"/>
              </a:ext>
            </a:extLst>
          </p:cNvPr>
          <p:cNvCxnSpPr>
            <a:cxnSpLocks/>
          </p:cNvCxnSpPr>
          <p:nvPr/>
        </p:nvCxnSpPr>
        <p:spPr>
          <a:xfrm>
            <a:off x="2875382" y="3902198"/>
            <a:ext cx="472471" cy="338980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线箭头连接符 173">
            <a:extLst>
              <a:ext uri="{FF2B5EF4-FFF2-40B4-BE49-F238E27FC236}">
                <a16:creationId xmlns:a16="http://schemas.microsoft.com/office/drawing/2014/main" id="{31509337-8577-A448-8C9D-F2C9126866E0}"/>
              </a:ext>
            </a:extLst>
          </p:cNvPr>
          <p:cNvCxnSpPr>
            <a:cxnSpLocks/>
          </p:cNvCxnSpPr>
          <p:nvPr/>
        </p:nvCxnSpPr>
        <p:spPr>
          <a:xfrm>
            <a:off x="4821599" y="4035031"/>
            <a:ext cx="0" cy="245231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75E7D263-F171-8144-8D02-27D1E7C4308F}"/>
              </a:ext>
            </a:extLst>
          </p:cNvPr>
          <p:cNvCxnSpPr>
            <a:cxnSpLocks/>
          </p:cNvCxnSpPr>
          <p:nvPr/>
        </p:nvCxnSpPr>
        <p:spPr>
          <a:xfrm flipH="1">
            <a:off x="8863300" y="3849017"/>
            <a:ext cx="472471" cy="372029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DBAF6DA2-1957-5A4E-BB7C-BF4D0F80F50A}"/>
              </a:ext>
            </a:extLst>
          </p:cNvPr>
          <p:cNvCxnSpPr>
            <a:cxnSpLocks/>
          </p:cNvCxnSpPr>
          <p:nvPr/>
        </p:nvCxnSpPr>
        <p:spPr>
          <a:xfrm>
            <a:off x="2035998" y="6008483"/>
            <a:ext cx="799126" cy="415928"/>
          </a:xfrm>
          <a:prstGeom prst="straightConnector1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 186">
            <a:extLst>
              <a:ext uri="{FF2B5EF4-FFF2-40B4-BE49-F238E27FC236}">
                <a16:creationId xmlns:a16="http://schemas.microsoft.com/office/drawing/2014/main" id="{BC68BDF7-48FE-3346-BEED-C78791A7116E}"/>
              </a:ext>
            </a:extLst>
          </p:cNvPr>
          <p:cNvCxnSpPr>
            <a:cxnSpLocks/>
          </p:cNvCxnSpPr>
          <p:nvPr/>
        </p:nvCxnSpPr>
        <p:spPr>
          <a:xfrm flipH="1">
            <a:off x="9335771" y="6022072"/>
            <a:ext cx="995181" cy="402339"/>
          </a:xfrm>
          <a:prstGeom prst="straightConnector1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右箭头 195">
            <a:extLst>
              <a:ext uri="{FF2B5EF4-FFF2-40B4-BE49-F238E27FC236}">
                <a16:creationId xmlns:a16="http://schemas.microsoft.com/office/drawing/2014/main" id="{2F7B2B6D-11A1-A94D-8979-EC4B584CA0B7}"/>
              </a:ext>
            </a:extLst>
          </p:cNvPr>
          <p:cNvSpPr/>
          <p:nvPr/>
        </p:nvSpPr>
        <p:spPr>
          <a:xfrm>
            <a:off x="3215806" y="2957877"/>
            <a:ext cx="1085946" cy="46795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8" name="标题 10">
            <a:extLst>
              <a:ext uri="{FF2B5EF4-FFF2-40B4-BE49-F238E27FC236}">
                <a16:creationId xmlns:a16="http://schemas.microsoft.com/office/drawing/2014/main" id="{2D7BFCD8-C04D-F44B-BECE-7CFCF3B26A3F}"/>
              </a:ext>
            </a:extLst>
          </p:cNvPr>
          <p:cNvSpPr>
            <a:spLocks noGrp="1"/>
          </p:cNvSpPr>
          <p:nvPr/>
        </p:nvSpPr>
        <p:spPr>
          <a:xfrm>
            <a:off x="154498" y="126454"/>
            <a:ext cx="5196839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>
                <a:sym typeface="+mn-ea"/>
              </a:rPr>
              <a:t>Overview</a:t>
            </a:r>
            <a:endParaRPr lang="zh-CN" altLang="en-US" dirty="0">
              <a:sym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B606D-7C14-2B45-8AC2-6E83D175AE54}"/>
              </a:ext>
            </a:extLst>
          </p:cNvPr>
          <p:cNvSpPr/>
          <p:nvPr/>
        </p:nvSpPr>
        <p:spPr>
          <a:xfrm>
            <a:off x="151049" y="623378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仓颉知识层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A99E4-0130-7943-90FC-C72628DC9240}"/>
              </a:ext>
            </a:extLst>
          </p:cNvPr>
          <p:cNvSpPr/>
          <p:nvPr/>
        </p:nvSpPr>
        <p:spPr>
          <a:xfrm>
            <a:off x="275884" y="2372707"/>
            <a:ext cx="41549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多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级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验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证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机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制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E0084-BE1E-9447-B68E-71F917CED16E}"/>
              </a:ext>
            </a:extLst>
          </p:cNvPr>
          <p:cNvSpPr/>
          <p:nvPr/>
        </p:nvSpPr>
        <p:spPr>
          <a:xfrm>
            <a:off x="926272" y="1724191"/>
            <a:ext cx="2029827" cy="4184123"/>
          </a:xfrm>
          <a:prstGeom prst="rect">
            <a:avLst/>
          </a:prstGeom>
          <a:solidFill>
            <a:schemeClr val="accent4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7987838-B6B1-0042-BCBE-4213D34E1F3E}"/>
              </a:ext>
            </a:extLst>
          </p:cNvPr>
          <p:cNvSpPr/>
          <p:nvPr/>
        </p:nvSpPr>
        <p:spPr>
          <a:xfrm>
            <a:off x="2944238" y="1727382"/>
            <a:ext cx="6357292" cy="2288303"/>
          </a:xfrm>
          <a:prstGeom prst="rect">
            <a:avLst/>
          </a:prstGeom>
          <a:solidFill>
            <a:schemeClr val="accent4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D5C6CB8-F212-AA45-9B8E-7D7E762D7A1E}"/>
              </a:ext>
            </a:extLst>
          </p:cNvPr>
          <p:cNvSpPr/>
          <p:nvPr/>
        </p:nvSpPr>
        <p:spPr>
          <a:xfrm>
            <a:off x="9294267" y="1731185"/>
            <a:ext cx="2029827" cy="4184123"/>
          </a:xfrm>
          <a:prstGeom prst="rect">
            <a:avLst/>
          </a:prstGeom>
          <a:solidFill>
            <a:schemeClr val="accent4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B27CF33-E272-9B42-937F-834F97632033}"/>
              </a:ext>
            </a:extLst>
          </p:cNvPr>
          <p:cNvSpPr/>
          <p:nvPr/>
        </p:nvSpPr>
        <p:spPr>
          <a:xfrm>
            <a:off x="2928810" y="6137584"/>
            <a:ext cx="6357292" cy="627289"/>
          </a:xfrm>
          <a:prstGeom prst="rect">
            <a:avLst/>
          </a:prstGeom>
          <a:solidFill>
            <a:schemeClr val="accent5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318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 animBg="1"/>
      <p:bldP spid="151" grpId="0" animBg="1"/>
      <p:bldP spid="152" grpId="0" animBg="1"/>
      <p:bldP spid="1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0"/>
          <p:cNvSpPr>
            <a:spLocks noGrp="1"/>
          </p:cNvSpPr>
          <p:nvPr/>
        </p:nvSpPr>
        <p:spPr>
          <a:xfrm>
            <a:off x="464128" y="543748"/>
            <a:ext cx="10121046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仓颉知识层：维护文档库与查询系统</a:t>
            </a:r>
          </a:p>
        </p:txBody>
      </p: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2F90C0DA-A997-B140-A4D7-4A760F97CA64}"/>
              </a:ext>
            </a:extLst>
          </p:cNvPr>
          <p:cNvGrpSpPr/>
          <p:nvPr/>
        </p:nvGrpSpPr>
        <p:grpSpPr>
          <a:xfrm>
            <a:off x="1849204" y="1378517"/>
            <a:ext cx="8493592" cy="1053042"/>
            <a:chOff x="1732056" y="784614"/>
            <a:chExt cx="8493592" cy="1053042"/>
          </a:xfrm>
        </p:grpSpPr>
        <p:sp>
          <p:nvSpPr>
            <p:cNvPr id="297" name="k-mcp">
              <a:extLst>
                <a:ext uri="{FF2B5EF4-FFF2-40B4-BE49-F238E27FC236}">
                  <a16:creationId xmlns:a16="http://schemas.microsoft.com/office/drawing/2014/main" id="{D73ACAED-429C-BC42-AEB7-DDAB733F9EB3}"/>
                </a:ext>
              </a:extLst>
            </p:cNvPr>
            <p:cNvSpPr/>
            <p:nvPr/>
          </p:nvSpPr>
          <p:spPr>
            <a:xfrm>
              <a:off x="7951720" y="1145772"/>
              <a:ext cx="2002960" cy="6318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/>
            </a:p>
          </p:txBody>
        </p:sp>
        <p:pic>
          <p:nvPicPr>
            <p:cNvPr id="298" name="图片 297">
              <a:extLst>
                <a:ext uri="{FF2B5EF4-FFF2-40B4-BE49-F238E27FC236}">
                  <a16:creationId xmlns:a16="http://schemas.microsoft.com/office/drawing/2014/main" id="{F918CB8C-B1A0-6749-966D-9BD46B0BF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7596" y="1260726"/>
              <a:ext cx="394116" cy="394116"/>
            </a:xfrm>
            <a:prstGeom prst="rect">
              <a:avLst/>
            </a:prstGeom>
          </p:spPr>
        </p:pic>
        <p:sp>
          <p:nvSpPr>
            <p:cNvPr id="299" name="k-abstract">
              <a:extLst>
                <a:ext uri="{FF2B5EF4-FFF2-40B4-BE49-F238E27FC236}">
                  <a16:creationId xmlns:a16="http://schemas.microsoft.com/office/drawing/2014/main" id="{070C657B-1584-B845-BD3E-CABF9BF16695}"/>
                </a:ext>
              </a:extLst>
            </p:cNvPr>
            <p:cNvSpPr/>
            <p:nvPr/>
          </p:nvSpPr>
          <p:spPr>
            <a:xfrm>
              <a:off x="1990325" y="1145772"/>
              <a:ext cx="3200976" cy="6318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 dirty="0"/>
            </a:p>
          </p:txBody>
        </p:sp>
        <p:sp>
          <p:nvSpPr>
            <p:cNvPr id="300" name="k-mapping">
              <a:extLst>
                <a:ext uri="{FF2B5EF4-FFF2-40B4-BE49-F238E27FC236}">
                  <a16:creationId xmlns:a16="http://schemas.microsoft.com/office/drawing/2014/main" id="{7FA0C08D-A697-9E49-97F4-748FFE4C8F33}"/>
                </a:ext>
              </a:extLst>
            </p:cNvPr>
            <p:cNvSpPr/>
            <p:nvPr/>
          </p:nvSpPr>
          <p:spPr>
            <a:xfrm>
              <a:off x="5426157" y="1142172"/>
              <a:ext cx="2290705" cy="6318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36000" tIns="36000" rIns="36000" bIns="36000"/>
            <a:lstStyle/>
            <a:p>
              <a:endParaRPr dirty="0"/>
            </a:p>
          </p:txBody>
        </p:sp>
        <p:sp>
          <p:nvSpPr>
            <p:cNvPr id="301" name="k-abstract-text">
              <a:extLst>
                <a:ext uri="{FF2B5EF4-FFF2-40B4-BE49-F238E27FC236}">
                  <a16:creationId xmlns:a16="http://schemas.microsoft.com/office/drawing/2014/main" id="{F2E7D370-8A45-4444-99E7-F2A4BB2A1BC0}"/>
                </a:ext>
              </a:extLst>
            </p:cNvPr>
            <p:cNvSpPr txBox="1"/>
            <p:nvPr/>
          </p:nvSpPr>
          <p:spPr>
            <a:xfrm>
              <a:off x="2436485" y="1186956"/>
              <a:ext cx="2706075" cy="2232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r>
                <a:rPr 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Progressive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Knowledge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Access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302" name="k-mapping-text">
              <a:extLst>
                <a:ext uri="{FF2B5EF4-FFF2-40B4-BE49-F238E27FC236}">
                  <a16:creationId xmlns:a16="http://schemas.microsoft.com/office/drawing/2014/main" id="{1386BCBB-F628-6D4D-A8BA-41FE48AC3DEE}"/>
                </a:ext>
              </a:extLst>
            </p:cNvPr>
            <p:cNvSpPr txBox="1"/>
            <p:nvPr/>
          </p:nvSpPr>
          <p:spPr>
            <a:xfrm>
              <a:off x="5778611" y="1336176"/>
              <a:ext cx="1938252" cy="2664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070" b="1" dirty="0">
                  <a:solidFill>
                    <a:srgbClr val="111111"/>
                  </a:solidFill>
                  <a:latin typeface="Arial"/>
                  <a:ea typeface="Arial"/>
                </a:rPr>
                <a:t>API Mapping and Retrieval</a:t>
              </a:r>
            </a:p>
          </p:txBody>
        </p:sp>
        <p:sp>
          <p:nvSpPr>
            <p:cNvPr id="303" name="k-mcp-text">
              <a:extLst>
                <a:ext uri="{FF2B5EF4-FFF2-40B4-BE49-F238E27FC236}">
                  <a16:creationId xmlns:a16="http://schemas.microsoft.com/office/drawing/2014/main" id="{361674B5-8676-EF4E-9447-63DEFFC91D7F}"/>
                </a:ext>
              </a:extLst>
            </p:cNvPr>
            <p:cNvSpPr txBox="1"/>
            <p:nvPr/>
          </p:nvSpPr>
          <p:spPr>
            <a:xfrm>
              <a:off x="8371008" y="1361160"/>
              <a:ext cx="1854640" cy="2664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070" b="1" dirty="0">
                  <a:solidFill>
                    <a:srgbClr val="111111"/>
                  </a:solidFill>
                  <a:latin typeface="Arial"/>
                  <a:ea typeface="Arial"/>
                </a:rPr>
                <a:t>Third</a:t>
              </a:r>
              <a:r>
                <a:rPr lang="en-US" altLang="zh-CN" sz="1070" b="1" dirty="0">
                  <a:solidFill>
                    <a:srgbClr val="111111"/>
                  </a:solidFill>
                  <a:latin typeface="Arial"/>
                  <a:ea typeface="Arial"/>
                </a:rPr>
                <a:t>-</a:t>
              </a:r>
              <a:r>
                <a:rPr lang="en-US" sz="1070" b="1" dirty="0">
                  <a:solidFill>
                    <a:srgbClr val="111111"/>
                  </a:solidFill>
                  <a:latin typeface="Arial"/>
                  <a:ea typeface="Arial"/>
                </a:rPr>
                <a:t>party</a:t>
              </a:r>
              <a:r>
                <a:rPr lang="zh-CN" altLang="en-US" sz="107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sz="1070" b="1" dirty="0">
                  <a:solidFill>
                    <a:srgbClr val="111111"/>
                  </a:solidFill>
                  <a:latin typeface="Arial"/>
                  <a:ea typeface="Arial"/>
                </a:rPr>
                <a:t>API MCP</a:t>
              </a:r>
            </a:p>
          </p:txBody>
        </p:sp>
        <p:sp>
          <p:nvSpPr>
            <p:cNvPr id="304" name="knowledge-label">
              <a:extLst>
                <a:ext uri="{FF2B5EF4-FFF2-40B4-BE49-F238E27FC236}">
                  <a16:creationId xmlns:a16="http://schemas.microsoft.com/office/drawing/2014/main" id="{4531AB00-E943-DC4C-A61D-3F2B0654615F}"/>
                </a:ext>
              </a:extLst>
            </p:cNvPr>
            <p:cNvSpPr txBox="1"/>
            <p:nvPr/>
          </p:nvSpPr>
          <p:spPr>
            <a:xfrm>
              <a:off x="4589251" y="784614"/>
              <a:ext cx="2750016" cy="252000"/>
            </a:xfrm>
            <a:prstGeom prst="rect">
              <a:avLst/>
            </a:prstGeom>
            <a:noFill/>
            <a:ln>
              <a:noFill/>
            </a:ln>
          </p:spPr>
          <p:txBody>
            <a:bodyPr lIns="7200" tIns="7200" rIns="7200" bIns="7200" anchor="ctr"/>
            <a:lstStyle/>
            <a:p>
              <a:pPr algn="ctr"/>
              <a:r>
                <a:rPr lang="en-US" sz="1480" b="1" dirty="0">
                  <a:solidFill>
                    <a:srgbClr val="111111"/>
                  </a:solidFill>
                  <a:latin typeface="Arial"/>
                  <a:ea typeface="Arial"/>
                </a:rPr>
                <a:t>Cangjie Knowledge Layer</a:t>
              </a:r>
            </a:p>
          </p:txBody>
        </p:sp>
        <p:sp>
          <p:nvSpPr>
            <p:cNvPr id="305" name="analyzer-sub1">
              <a:extLst>
                <a:ext uri="{FF2B5EF4-FFF2-40B4-BE49-F238E27FC236}">
                  <a16:creationId xmlns:a16="http://schemas.microsoft.com/office/drawing/2014/main" id="{D373B9E9-2A4E-544A-A5F0-E256DB7F2EE8}"/>
                </a:ext>
              </a:extLst>
            </p:cNvPr>
            <p:cNvSpPr/>
            <p:nvPr/>
          </p:nvSpPr>
          <p:spPr>
            <a:xfrm>
              <a:off x="2087789" y="1423260"/>
              <a:ext cx="697392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en-US" altLang="zh-CN" sz="1090" dirty="0">
                  <a:solidFill>
                    <a:srgbClr val="111111"/>
                  </a:solidFill>
                  <a:latin typeface="Arial"/>
                  <a:ea typeface="Arial"/>
                </a:rPr>
                <a:t>Abstract</a:t>
              </a:r>
              <a:endParaRPr lang="en-US" sz="1090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306" name="analyzer-sub1">
              <a:extLst>
                <a:ext uri="{FF2B5EF4-FFF2-40B4-BE49-F238E27FC236}">
                  <a16:creationId xmlns:a16="http://schemas.microsoft.com/office/drawing/2014/main" id="{556615BF-D34B-5046-BBF2-750D7B020B0B}"/>
                </a:ext>
              </a:extLst>
            </p:cNvPr>
            <p:cNvSpPr/>
            <p:nvPr/>
          </p:nvSpPr>
          <p:spPr>
            <a:xfrm>
              <a:off x="4101605" y="1425204"/>
              <a:ext cx="999144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en-US" altLang="zh-CN" sz="1090" dirty="0">
                  <a:solidFill>
                    <a:srgbClr val="111111"/>
                  </a:solidFill>
                  <a:latin typeface="Arial"/>
                  <a:ea typeface="Arial"/>
                </a:rPr>
                <a:t>Whole</a:t>
              </a:r>
              <a:r>
                <a:rPr lang="zh-CN" altLang="en-US" sz="1090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090" dirty="0">
                  <a:solidFill>
                    <a:srgbClr val="111111"/>
                  </a:solidFill>
                  <a:latin typeface="Arial"/>
                  <a:ea typeface="Arial"/>
                </a:rPr>
                <a:t>Corpus</a:t>
              </a:r>
              <a:endParaRPr lang="en-US" sz="1090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307" name="analyzer-sub1">
              <a:extLst>
                <a:ext uri="{FF2B5EF4-FFF2-40B4-BE49-F238E27FC236}">
                  <a16:creationId xmlns:a16="http://schemas.microsoft.com/office/drawing/2014/main" id="{0458E7BA-2D17-1446-9781-E9E653A135F7}"/>
                </a:ext>
              </a:extLst>
            </p:cNvPr>
            <p:cNvSpPr/>
            <p:nvPr/>
          </p:nvSpPr>
          <p:spPr>
            <a:xfrm>
              <a:off x="3029885" y="1427148"/>
              <a:ext cx="839928" cy="237600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14400" tIns="14400" rIns="14400" bIns="14400" anchor="ctr"/>
            <a:lstStyle/>
            <a:p>
              <a:pPr algn="ctr"/>
              <a:r>
                <a:rPr lang="en-US" altLang="zh-CN" sz="1090" dirty="0">
                  <a:solidFill>
                    <a:srgbClr val="111111"/>
                  </a:solidFill>
                  <a:latin typeface="Arial"/>
                  <a:ea typeface="Arial"/>
                </a:rPr>
                <a:t>Quick-ref</a:t>
              </a:r>
              <a:endParaRPr lang="en-US" sz="1090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pic>
          <p:nvPicPr>
            <p:cNvPr id="308" name="图片 307">
              <a:extLst>
                <a:ext uri="{FF2B5EF4-FFF2-40B4-BE49-F238E27FC236}">
                  <a16:creationId xmlns:a16="http://schemas.microsoft.com/office/drawing/2014/main" id="{7B566F6D-E02A-964A-A020-292F270D0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366" y="1291296"/>
              <a:ext cx="302136" cy="302136"/>
            </a:xfrm>
            <a:prstGeom prst="rect">
              <a:avLst/>
            </a:prstGeom>
          </p:spPr>
        </p:pic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BB9BBB3D-7A9F-3240-9289-E717842D795A}"/>
                </a:ext>
              </a:extLst>
            </p:cNvPr>
            <p:cNvSpPr/>
            <p:nvPr/>
          </p:nvSpPr>
          <p:spPr>
            <a:xfrm>
              <a:off x="1732056" y="1066428"/>
              <a:ext cx="8483856" cy="77122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10" name="图片 309">
            <a:extLst>
              <a:ext uri="{FF2B5EF4-FFF2-40B4-BE49-F238E27FC236}">
                <a16:creationId xmlns:a16="http://schemas.microsoft.com/office/drawing/2014/main" id="{4FCC9F44-2D62-F342-A4DD-E23428FDB6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182" y="2004437"/>
            <a:ext cx="268416" cy="268416"/>
          </a:xfrm>
          <a:prstGeom prst="rect">
            <a:avLst/>
          </a:prstGeom>
        </p:spPr>
      </p:pic>
      <p:pic>
        <p:nvPicPr>
          <p:cNvPr id="311" name="图片 310">
            <a:extLst>
              <a:ext uri="{FF2B5EF4-FFF2-40B4-BE49-F238E27FC236}">
                <a16:creationId xmlns:a16="http://schemas.microsoft.com/office/drawing/2014/main" id="{DD6D7AF8-D4BE-DD41-98BC-2B1AC77D0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116" y="2001245"/>
            <a:ext cx="268416" cy="268416"/>
          </a:xfrm>
          <a:prstGeom prst="rect">
            <a:avLst/>
          </a:prstGeom>
        </p:spPr>
      </p:pic>
      <p:cxnSp>
        <p:nvCxnSpPr>
          <p:cNvPr id="335" name="直线箭头连接符 334">
            <a:extLst>
              <a:ext uri="{FF2B5EF4-FFF2-40B4-BE49-F238E27FC236}">
                <a16:creationId xmlns:a16="http://schemas.microsoft.com/office/drawing/2014/main" id="{90BCDCEC-9536-1747-A321-D23DC814B00E}"/>
              </a:ext>
            </a:extLst>
          </p:cNvPr>
          <p:cNvCxnSpPr>
            <a:cxnSpLocks/>
          </p:cNvCxnSpPr>
          <p:nvPr/>
        </p:nvCxnSpPr>
        <p:spPr>
          <a:xfrm>
            <a:off x="2727486" y="2510903"/>
            <a:ext cx="1656" cy="35842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线箭头连接符 336">
            <a:extLst>
              <a:ext uri="{FF2B5EF4-FFF2-40B4-BE49-F238E27FC236}">
                <a16:creationId xmlns:a16="http://schemas.microsoft.com/office/drawing/2014/main" id="{4D403B5F-DBFC-F943-9E70-4189201CDC4D}"/>
              </a:ext>
            </a:extLst>
          </p:cNvPr>
          <p:cNvCxnSpPr>
            <a:cxnSpLocks/>
          </p:cNvCxnSpPr>
          <p:nvPr/>
        </p:nvCxnSpPr>
        <p:spPr>
          <a:xfrm>
            <a:off x="6561503" y="2510903"/>
            <a:ext cx="0" cy="318800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线箭头连接符 337">
            <a:extLst>
              <a:ext uri="{FF2B5EF4-FFF2-40B4-BE49-F238E27FC236}">
                <a16:creationId xmlns:a16="http://schemas.microsoft.com/office/drawing/2014/main" id="{6B7FD4DB-8091-F24C-AED2-22B23FBA0E37}"/>
              </a:ext>
            </a:extLst>
          </p:cNvPr>
          <p:cNvCxnSpPr>
            <a:cxnSpLocks/>
          </p:cNvCxnSpPr>
          <p:nvPr/>
        </p:nvCxnSpPr>
        <p:spPr>
          <a:xfrm>
            <a:off x="9462858" y="2477685"/>
            <a:ext cx="1656" cy="35842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F01D718-CC1C-4343-8114-689BC5E4C395}"/>
              </a:ext>
            </a:extLst>
          </p:cNvPr>
          <p:cNvSpPr txBox="1"/>
          <p:nvPr/>
        </p:nvSpPr>
        <p:spPr>
          <a:xfrm>
            <a:off x="721377" y="2789973"/>
            <a:ext cx="4405892" cy="330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渐进式的仓颉知识披露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 err="1"/>
              <a:t>Abstract+Index</a:t>
            </a:r>
            <a:r>
              <a:rPr kumimoji="1" lang="zh-CN" altLang="en-US" sz="1400" dirty="0"/>
              <a:t> ：保存</a:t>
            </a:r>
            <a:r>
              <a:rPr kumimoji="1" lang="zh-CN" altLang="en-US" sz="1400" dirty="0">
                <a:solidFill>
                  <a:srgbClr val="C00000"/>
                </a:solidFill>
              </a:rPr>
              <a:t>简单的相关知识</a:t>
            </a:r>
            <a:r>
              <a:rPr kumimoji="1" lang="zh-CN" altLang="en-US" sz="1400" dirty="0"/>
              <a:t>与到各种知识的</a:t>
            </a:r>
            <a:r>
              <a:rPr kumimoji="1" lang="zh-CN" altLang="en-US" sz="1400" dirty="0">
                <a:solidFill>
                  <a:srgbClr val="C00000"/>
                </a:solidFill>
              </a:rPr>
              <a:t>路由索引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Quick-ref</a:t>
            </a:r>
            <a:r>
              <a:rPr kumimoji="1" lang="zh-CN" altLang="en-US" sz="1400" dirty="0"/>
              <a:t>：包含</a:t>
            </a:r>
            <a:r>
              <a:rPr kumimoji="1" lang="zh-CN" altLang="en-US" sz="1400" dirty="0">
                <a:solidFill>
                  <a:srgbClr val="C00000"/>
                </a:solidFill>
              </a:rPr>
              <a:t>人工总结的各类总览知识</a:t>
            </a:r>
            <a:r>
              <a:rPr kumimoji="1" lang="zh-CN" altLang="en-US" sz="1400" dirty="0"/>
              <a:t>，比如语法，测试，构建，</a:t>
            </a:r>
            <a:r>
              <a:rPr kumimoji="1" lang="en-US" altLang="zh-CN" sz="1400" dirty="0"/>
              <a:t>UI</a:t>
            </a:r>
            <a:r>
              <a:rPr kumimoji="1" lang="zh-CN" altLang="en-US" sz="1400" dirty="0"/>
              <a:t>组件，互操作等；同时在相关知识部分仍保留到全量手册的索引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Corpus</a:t>
            </a:r>
            <a:r>
              <a:rPr kumimoji="1" lang="zh-CN" altLang="en-US" sz="1400" dirty="0"/>
              <a:t>：从官网获取的</a:t>
            </a:r>
            <a:r>
              <a:rPr kumimoji="1" lang="zh-CN" altLang="en-US" sz="1400" dirty="0">
                <a:solidFill>
                  <a:srgbClr val="C00000"/>
                </a:solidFill>
              </a:rPr>
              <a:t>仓颉知识手册</a:t>
            </a:r>
            <a:r>
              <a:rPr kumimoji="1" lang="zh-CN" altLang="en-US" sz="1400" dirty="0"/>
              <a:t>，作为最后兜底的全量信息库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Example</a:t>
            </a:r>
            <a:r>
              <a:rPr kumimoji="1" lang="zh-CN" altLang="en-US" sz="1400" dirty="0"/>
              <a:t>（</a:t>
            </a:r>
            <a:r>
              <a:rPr kumimoji="1" lang="en-US" altLang="zh-CN" sz="1400" dirty="0"/>
              <a:t>Only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For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UI</a:t>
            </a:r>
            <a:r>
              <a:rPr kumimoji="1" lang="zh-CN" altLang="en-US" sz="1400" dirty="0"/>
              <a:t>）：一些</a:t>
            </a:r>
            <a:r>
              <a:rPr kumimoji="1" lang="zh-CN" altLang="en-US" sz="1400" dirty="0">
                <a:solidFill>
                  <a:srgbClr val="C00000"/>
                </a:solidFill>
              </a:rPr>
              <a:t>示例的仓颉实现的鸿蒙应用</a:t>
            </a:r>
            <a:r>
              <a:rPr kumimoji="1" lang="zh-CN" altLang="en-US" sz="1400" dirty="0"/>
              <a:t>，用于给</a:t>
            </a:r>
            <a:r>
              <a:rPr kumimoji="1" lang="en-US" altLang="zh-CN" sz="1400" dirty="0"/>
              <a:t>Agent</a:t>
            </a:r>
            <a:r>
              <a:rPr kumimoji="1" lang="zh-CN" altLang="en-US" sz="1400" dirty="0"/>
              <a:t>作为参考实现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endParaRPr kumimoji="1"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DCC2173-54AE-184F-9A6B-134E5223863F}"/>
              </a:ext>
            </a:extLst>
          </p:cNvPr>
          <p:cNvSpPr txBox="1"/>
          <p:nvPr/>
        </p:nvSpPr>
        <p:spPr>
          <a:xfrm>
            <a:off x="5076183" y="2789973"/>
            <a:ext cx="3151761" cy="330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标准库</a:t>
            </a:r>
            <a:r>
              <a:rPr kumimoji="1" lang="en-US" altLang="zh-CN" sz="1400" dirty="0"/>
              <a:t>API</a:t>
            </a:r>
            <a:r>
              <a:rPr kumimoji="1" lang="zh-CN" altLang="en-US" sz="1400" dirty="0"/>
              <a:t>的映射与查询系统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通过处理仓颉端与源语言端的手册中的内容，</a:t>
            </a:r>
            <a:r>
              <a:rPr kumimoji="1" lang="zh-CN" altLang="en-US" sz="1400" dirty="0">
                <a:solidFill>
                  <a:srgbClr val="C00000"/>
                </a:solidFill>
              </a:rPr>
              <a:t>结构化的抽取每个</a:t>
            </a:r>
            <a:r>
              <a:rPr kumimoji="1" lang="en-US" altLang="zh-CN" sz="1400" dirty="0">
                <a:solidFill>
                  <a:srgbClr val="C00000"/>
                </a:solidFill>
              </a:rPr>
              <a:t>API</a:t>
            </a:r>
            <a:r>
              <a:rPr kumimoji="1" lang="zh-CN" altLang="en-US" sz="1400" dirty="0"/>
              <a:t>的参数，使用场景以及用法等</a:t>
            </a:r>
            <a:endParaRPr kumimoji="1" lang="en-US" altLang="zh-CN" sz="14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针对结构化的</a:t>
            </a:r>
            <a:r>
              <a:rPr kumimoji="1" lang="en-US" altLang="zh-CN" sz="1400" dirty="0"/>
              <a:t>API</a:t>
            </a:r>
            <a:r>
              <a:rPr kumimoji="1" lang="zh-CN" altLang="en-US" sz="1400" dirty="0"/>
              <a:t>信息，先使用</a:t>
            </a:r>
            <a:r>
              <a:rPr kumimoji="1" lang="zh-CN" altLang="en-US" sz="1400" dirty="0">
                <a:solidFill>
                  <a:srgbClr val="C00000"/>
                </a:solidFill>
              </a:rPr>
              <a:t>模糊匹配选出候选映射，然后用</a:t>
            </a:r>
            <a:r>
              <a:rPr kumimoji="1" lang="en-US" altLang="zh-CN" sz="1400" dirty="0">
                <a:solidFill>
                  <a:srgbClr val="C00000"/>
                </a:solidFill>
              </a:rPr>
              <a:t>LLM</a:t>
            </a:r>
            <a:r>
              <a:rPr kumimoji="1" lang="zh-CN" altLang="en-US" sz="1400" dirty="0">
                <a:solidFill>
                  <a:srgbClr val="C00000"/>
                </a:solidFill>
              </a:rPr>
              <a:t>进行匹配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将可能的所有映射，</a:t>
            </a:r>
            <a:r>
              <a:rPr kumimoji="1" lang="en-US" altLang="zh-CN" sz="1400" dirty="0"/>
              <a:t>API</a:t>
            </a:r>
            <a:r>
              <a:rPr kumimoji="1" lang="zh-CN" altLang="en-US" sz="1400" dirty="0"/>
              <a:t>信息及对应的</a:t>
            </a:r>
            <a:r>
              <a:rPr kumimoji="1" lang="en-US" altLang="zh-CN" sz="1400" dirty="0"/>
              <a:t>confidence</a:t>
            </a:r>
            <a:r>
              <a:rPr kumimoji="1" lang="zh-CN" altLang="en-US" sz="1400" dirty="0">
                <a:solidFill>
                  <a:srgbClr val="C00000"/>
                </a:solidFill>
              </a:rPr>
              <a:t>储存到数据库中便于查询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endParaRPr kumimoji="1" lang="zh-CN" altLang="en-US" sz="1400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8AAEEE9-CB0C-8345-860B-314EF8A3C9ED}"/>
              </a:ext>
            </a:extLst>
          </p:cNvPr>
          <p:cNvSpPr txBox="1"/>
          <p:nvPr/>
        </p:nvSpPr>
        <p:spPr>
          <a:xfrm>
            <a:off x="8068868" y="2789973"/>
            <a:ext cx="3798978" cy="3035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三方库</a:t>
            </a:r>
            <a:r>
              <a:rPr kumimoji="1" lang="en-US" altLang="zh-CN" sz="1400" dirty="0"/>
              <a:t>API</a:t>
            </a:r>
            <a:r>
              <a:rPr kumimoji="1" lang="zh-CN" altLang="en-US" sz="1400" dirty="0"/>
              <a:t>的查询</a:t>
            </a:r>
            <a:r>
              <a:rPr kumimoji="1" lang="en-US" altLang="zh-CN" sz="1400" dirty="0"/>
              <a:t>MCP</a:t>
            </a:r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使用</a:t>
            </a:r>
            <a:r>
              <a:rPr kumimoji="1" lang="en-US" altLang="zh-CN" sz="1400" dirty="0"/>
              <a:t>Cangjie-TPC</a:t>
            </a:r>
            <a:r>
              <a:rPr kumimoji="1" lang="zh-CN" altLang="en-US" sz="1400" dirty="0"/>
              <a:t>作为候选的三方库数据集，并</a:t>
            </a:r>
            <a:r>
              <a:rPr kumimoji="1" lang="zh-CN" altLang="en-US" sz="1400" dirty="0">
                <a:solidFill>
                  <a:srgbClr val="C00000"/>
                </a:solidFill>
              </a:rPr>
              <a:t>构建库索引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根据模型提出的查询请求：</a:t>
            </a:r>
            <a:endParaRPr kumimoji="1" lang="en-US" altLang="zh-CN" sz="1400" dirty="0"/>
          </a:p>
          <a:p>
            <a:pPr marL="1200150" lvl="2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100" dirty="0"/>
              <a:t>将需求进行标准化改写与</a:t>
            </a:r>
            <a:r>
              <a:rPr kumimoji="1" lang="zh-CN" altLang="en-US" sz="1100" dirty="0">
                <a:solidFill>
                  <a:srgbClr val="C00000"/>
                </a:solidFill>
              </a:rPr>
              <a:t>原子化拆分</a:t>
            </a:r>
            <a:endParaRPr kumimoji="1" lang="en-US" altLang="zh-CN" sz="1100" dirty="0">
              <a:solidFill>
                <a:srgbClr val="C00000"/>
              </a:solidFill>
            </a:endParaRPr>
          </a:p>
          <a:p>
            <a:pPr marL="1200150" lvl="2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100" dirty="0"/>
              <a:t>根据库索引信息为</a:t>
            </a:r>
            <a:r>
              <a:rPr kumimoji="1" lang="zh-CN" altLang="en-US" sz="1100" dirty="0">
                <a:solidFill>
                  <a:srgbClr val="C00000"/>
                </a:solidFill>
              </a:rPr>
              <a:t>每个原子需求匹配到可能的仓库</a:t>
            </a:r>
            <a:r>
              <a:rPr kumimoji="1" lang="zh-CN" altLang="en-US" sz="1100" dirty="0"/>
              <a:t>，并合并匹配到同一仓库的需求</a:t>
            </a:r>
            <a:endParaRPr kumimoji="1" lang="en-US" altLang="zh-CN" sz="1100" dirty="0"/>
          </a:p>
          <a:p>
            <a:pPr marL="742950" lvl="1" indent="-285750">
              <a:lnSpc>
                <a:spcPts val="208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然后针对每个匹配到的仓库，启动并行化仓库读取与分析的</a:t>
            </a:r>
            <a:r>
              <a:rPr kumimoji="1" lang="en-US" altLang="zh-CN" sz="1400" dirty="0"/>
              <a:t>Agent</a:t>
            </a:r>
            <a:r>
              <a:rPr kumimoji="1" lang="zh-CN" altLang="en-US" sz="1400" dirty="0"/>
              <a:t>，</a:t>
            </a:r>
            <a:r>
              <a:rPr kumimoji="1" lang="zh-CN" altLang="en-US" sz="1400" dirty="0">
                <a:solidFill>
                  <a:srgbClr val="C00000"/>
                </a:solidFill>
              </a:rPr>
              <a:t>输出</a:t>
            </a:r>
            <a:r>
              <a:rPr kumimoji="1" lang="en-US" altLang="zh-CN" sz="1400" dirty="0">
                <a:solidFill>
                  <a:srgbClr val="C00000"/>
                </a:solidFill>
              </a:rPr>
              <a:t>API</a:t>
            </a:r>
            <a:r>
              <a:rPr kumimoji="1" lang="zh-CN" altLang="en-US" sz="1400" dirty="0">
                <a:solidFill>
                  <a:srgbClr val="C00000"/>
                </a:solidFill>
              </a:rPr>
              <a:t>，实现位置，用法与最小示例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7C9E7-40D2-554E-88C2-7D96E0EC1635}"/>
              </a:ext>
            </a:extLst>
          </p:cNvPr>
          <p:cNvSpPr/>
          <p:nvPr/>
        </p:nvSpPr>
        <p:spPr>
          <a:xfrm>
            <a:off x="485409" y="6061259"/>
            <a:ext cx="11382437" cy="6492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将仓颉文档、</a:t>
            </a:r>
            <a:r>
              <a:rPr lang="en-US" altLang="zh-CN" dirty="0"/>
              <a:t>API </a:t>
            </a:r>
            <a:r>
              <a:rPr lang="zh-CN" altLang="en-US" dirty="0"/>
              <a:t>映射和三方库检索统一为可复用知识底座，为多级验证提供稳定依据，</a:t>
            </a:r>
            <a:endParaRPr lang="en-US" altLang="zh-CN" dirty="0"/>
          </a:p>
          <a:p>
            <a:pPr algn="ctr"/>
            <a:r>
              <a:rPr lang="zh-CN" altLang="en-US" dirty="0"/>
              <a:t>并通过渐进式暴露与持久化文档来优化</a:t>
            </a:r>
            <a:r>
              <a:rPr lang="en-US" altLang="zh-CN" dirty="0"/>
              <a:t>Agent</a:t>
            </a:r>
            <a:r>
              <a:rPr lang="zh-CN" altLang="en-US" dirty="0"/>
              <a:t>上下文占用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59211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>
            <a:extLst>
              <a:ext uri="{FF2B5EF4-FFF2-40B4-BE49-F238E27FC236}">
                <a16:creationId xmlns:a16="http://schemas.microsoft.com/office/drawing/2014/main" id="{2083CAC5-BB5C-8B4A-B2AD-5BEBB525B492}"/>
              </a:ext>
            </a:extLst>
          </p:cNvPr>
          <p:cNvSpPr/>
          <p:nvPr/>
        </p:nvSpPr>
        <p:spPr>
          <a:xfrm>
            <a:off x="3515350" y="1928821"/>
            <a:ext cx="2492095" cy="4004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9EC7B54-01EA-4841-8C33-3BE64E47760D}"/>
              </a:ext>
            </a:extLst>
          </p:cNvPr>
          <p:cNvSpPr txBox="1"/>
          <p:nvPr/>
        </p:nvSpPr>
        <p:spPr>
          <a:xfrm>
            <a:off x="3895096" y="1949905"/>
            <a:ext cx="2152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Plan-Level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CA06FA8-2056-2641-AD52-D6AA096DC5AA}"/>
              </a:ext>
            </a:extLst>
          </p:cNvPr>
          <p:cNvGrpSpPr/>
          <p:nvPr/>
        </p:nvGrpSpPr>
        <p:grpSpPr>
          <a:xfrm>
            <a:off x="3522731" y="2429572"/>
            <a:ext cx="1707886" cy="3553271"/>
            <a:chOff x="416295" y="2742643"/>
            <a:chExt cx="1707886" cy="3553271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B5E3B3A2-138C-1347-B9A1-BE692DF42430}"/>
                </a:ext>
              </a:extLst>
            </p:cNvPr>
            <p:cNvSpPr/>
            <p:nvPr/>
          </p:nvSpPr>
          <p:spPr>
            <a:xfrm>
              <a:off x="416295" y="2742643"/>
              <a:ext cx="1707886" cy="3553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E9BCC694-DC78-FE41-8BB6-1FE22B030472}"/>
                </a:ext>
              </a:extLst>
            </p:cNvPr>
            <p:cNvGrpSpPr/>
            <p:nvPr/>
          </p:nvGrpSpPr>
          <p:grpSpPr>
            <a:xfrm>
              <a:off x="548227" y="2829265"/>
              <a:ext cx="1473922" cy="1781600"/>
              <a:chOff x="1897066" y="3015249"/>
              <a:chExt cx="1473922" cy="1781600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8C703FB8-29B1-8740-A9F3-4E5EECF55095}"/>
                  </a:ext>
                </a:extLst>
              </p:cNvPr>
              <p:cNvGrpSpPr/>
              <p:nvPr/>
            </p:nvGrpSpPr>
            <p:grpSpPr>
              <a:xfrm>
                <a:off x="1897066" y="3015249"/>
                <a:ext cx="1473922" cy="1781600"/>
                <a:chOff x="1981062" y="2703676"/>
                <a:chExt cx="1473922" cy="1781600"/>
              </a:xfrm>
            </p:grpSpPr>
            <p:sp>
              <p:nvSpPr>
                <p:cNvPr id="88" name="analyzer-title">
                  <a:extLst>
                    <a:ext uri="{FF2B5EF4-FFF2-40B4-BE49-F238E27FC236}">
                      <a16:creationId xmlns:a16="http://schemas.microsoft.com/office/drawing/2014/main" id="{7AA99009-323E-6E48-BE1E-7BBDC7BDB7DE}"/>
                    </a:ext>
                  </a:extLst>
                </p:cNvPr>
                <p:cNvSpPr txBox="1"/>
                <p:nvPr/>
              </p:nvSpPr>
              <p:spPr>
                <a:xfrm>
                  <a:off x="2300330" y="2703676"/>
                  <a:ext cx="936000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altLang="zh-CN" sz="1620" b="1" dirty="0">
                      <a:solidFill>
                        <a:schemeClr val="accent6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Analyzer</a:t>
                  </a:r>
                  <a:endParaRPr lang="en-US" sz="1620" b="1" dirty="0">
                    <a:solidFill>
                      <a:schemeClr val="accent6">
                        <a:lumMod val="75000"/>
                      </a:schemeClr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89" name="analyzer-sub2">
                  <a:extLst>
                    <a:ext uri="{FF2B5EF4-FFF2-40B4-BE49-F238E27FC236}">
                      <a16:creationId xmlns:a16="http://schemas.microsoft.com/office/drawing/2014/main" id="{AA60D65E-DFBF-5346-9447-0F88BA81E364}"/>
                    </a:ext>
                  </a:extLst>
                </p:cNvPr>
                <p:cNvSpPr/>
                <p:nvPr/>
              </p:nvSpPr>
              <p:spPr>
                <a:xfrm>
                  <a:off x="2046138" y="3295808"/>
                  <a:ext cx="1371073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Extract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Dependency</a:t>
                  </a:r>
                </a:p>
              </p:txBody>
            </p:sp>
            <p:sp>
              <p:nvSpPr>
                <p:cNvPr id="90" name="analyzer-sub3">
                  <a:extLst>
                    <a:ext uri="{FF2B5EF4-FFF2-40B4-BE49-F238E27FC236}">
                      <a16:creationId xmlns:a16="http://schemas.microsoft.com/office/drawing/2014/main" id="{8F954AAA-8A3B-D34E-B15A-D2AA9EF6CD92}"/>
                    </a:ext>
                  </a:extLst>
                </p:cNvPr>
                <p:cNvSpPr/>
                <p:nvPr/>
              </p:nvSpPr>
              <p:spPr>
                <a:xfrm>
                  <a:off x="2039604" y="3897665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Slice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Features</a:t>
                  </a:r>
                </a:p>
              </p:txBody>
            </p:sp>
            <p:sp>
              <p:nvSpPr>
                <p:cNvPr id="91" name="analyzer-sub3">
                  <a:extLst>
                    <a:ext uri="{FF2B5EF4-FFF2-40B4-BE49-F238E27FC236}">
                      <a16:creationId xmlns:a16="http://schemas.microsoft.com/office/drawing/2014/main" id="{21BFE61D-39F9-F54A-B94D-561527BE5EDD}"/>
                    </a:ext>
                  </a:extLst>
                </p:cNvPr>
                <p:cNvSpPr/>
                <p:nvPr/>
              </p:nvSpPr>
              <p:spPr>
                <a:xfrm>
                  <a:off x="2041099" y="4201828"/>
                  <a:ext cx="1376112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sz="900" dirty="0">
                      <a:solidFill>
                        <a:srgbClr val="111111"/>
                      </a:solidFill>
                      <a:latin typeface="Arial"/>
                    </a:rPr>
                    <a:t>Build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</a:rPr>
                    <a:t>Checklist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</a:rPr>
                    <a:t> 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</a:endParaRPr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DF6CF1D9-F44C-C549-982F-8B82AF5DACB2}"/>
                    </a:ext>
                  </a:extLst>
                </p:cNvPr>
                <p:cNvSpPr/>
                <p:nvPr/>
              </p:nvSpPr>
              <p:spPr>
                <a:xfrm>
                  <a:off x="1981062" y="2721305"/>
                  <a:ext cx="1473922" cy="1763971"/>
                </a:xfrm>
                <a:prstGeom prst="rect">
                  <a:avLst/>
                </a:prstGeom>
                <a:noFill/>
                <a:ln w="15875" cap="flat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86" name="analyzer-sub1">
                <a:extLst>
                  <a:ext uri="{FF2B5EF4-FFF2-40B4-BE49-F238E27FC236}">
                    <a16:creationId xmlns:a16="http://schemas.microsoft.com/office/drawing/2014/main" id="{A8BBA652-ACF7-A44D-8AF8-7FCB630CAC23}"/>
                  </a:ext>
                </a:extLst>
              </p:cNvPr>
              <p:cNvSpPr/>
              <p:nvPr/>
            </p:nvSpPr>
            <p:spPr>
              <a:xfrm>
                <a:off x="1956894" y="3310134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Scan </a:t>
                </a:r>
                <a:r>
                  <a:rPr 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</a:p>
            </p:txBody>
          </p:sp>
          <p:sp>
            <p:nvSpPr>
              <p:cNvPr id="87" name="analyzer-sub1">
                <a:extLst>
                  <a:ext uri="{FF2B5EF4-FFF2-40B4-BE49-F238E27FC236}">
                    <a16:creationId xmlns:a16="http://schemas.microsoft.com/office/drawing/2014/main" id="{14F161D2-67CB-424F-8E48-3E4EA10573EE}"/>
                  </a:ext>
                </a:extLst>
              </p:cNvPr>
              <p:cNvSpPr/>
              <p:nvPr/>
            </p:nvSpPr>
            <p:spPr>
              <a:xfrm>
                <a:off x="1957223" y="3915088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Collect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Source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532D445-C3EE-0748-A8F6-52A2177B2D33}"/>
                </a:ext>
              </a:extLst>
            </p:cNvPr>
            <p:cNvGrpSpPr/>
            <p:nvPr/>
          </p:nvGrpSpPr>
          <p:grpSpPr>
            <a:xfrm>
              <a:off x="548227" y="5046672"/>
              <a:ext cx="1473922" cy="1118670"/>
              <a:chOff x="567619" y="4956144"/>
              <a:chExt cx="1473922" cy="1118670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2DFB5AB7-346D-BB42-BDCD-A40D9AA95BDA}"/>
                  </a:ext>
                </a:extLst>
              </p:cNvPr>
              <p:cNvGrpSpPr/>
              <p:nvPr/>
            </p:nvGrpSpPr>
            <p:grpSpPr>
              <a:xfrm>
                <a:off x="567619" y="4956144"/>
                <a:ext cx="1473922" cy="1118670"/>
                <a:chOff x="3837571" y="2537305"/>
                <a:chExt cx="1473922" cy="1118670"/>
              </a:xfrm>
            </p:grpSpPr>
            <p:sp>
              <p:nvSpPr>
                <p:cNvPr id="83" name="analyzer-title">
                  <a:extLst>
                    <a:ext uri="{FF2B5EF4-FFF2-40B4-BE49-F238E27FC236}">
                      <a16:creationId xmlns:a16="http://schemas.microsoft.com/office/drawing/2014/main" id="{C98195DC-1D9D-4E4C-9564-7D36A16BD117}"/>
                    </a:ext>
                  </a:extLst>
                </p:cNvPr>
                <p:cNvSpPr txBox="1"/>
                <p:nvPr/>
              </p:nvSpPr>
              <p:spPr>
                <a:xfrm>
                  <a:off x="4211418" y="2537305"/>
                  <a:ext cx="936000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r>
                    <a:rPr lang="en-US" altLang="zh-CN" sz="1620" b="1" dirty="0">
                      <a:solidFill>
                        <a:schemeClr val="accent4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Verifier</a:t>
                  </a: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2DA8AFDC-C097-E64B-9CAF-813EFFC7BFFA}"/>
                    </a:ext>
                  </a:extLst>
                </p:cNvPr>
                <p:cNvSpPr/>
                <p:nvPr/>
              </p:nvSpPr>
              <p:spPr>
                <a:xfrm>
                  <a:off x="3837571" y="2558116"/>
                  <a:ext cx="1473922" cy="1097859"/>
                </a:xfrm>
                <a:prstGeom prst="rect">
                  <a:avLst/>
                </a:prstGeom>
                <a:noFill/>
                <a:ln w="15875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80" name="analyzer-sub1">
                <a:extLst>
                  <a:ext uri="{FF2B5EF4-FFF2-40B4-BE49-F238E27FC236}">
                    <a16:creationId xmlns:a16="http://schemas.microsoft.com/office/drawing/2014/main" id="{7BEA49E9-5D39-234C-B87F-63D58DE27A25}"/>
                  </a:ext>
                </a:extLst>
              </p:cNvPr>
              <p:cNvSpPr/>
              <p:nvPr/>
            </p:nvSpPr>
            <p:spPr>
              <a:xfrm>
                <a:off x="605383" y="5239776"/>
                <a:ext cx="1400064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plan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rationality</a:t>
                </a:r>
                <a:endParaRPr lang="en-US" sz="900" dirty="0">
                  <a:solidFill>
                    <a:srgbClr val="111111"/>
                  </a:solidFill>
                  <a:latin typeface="Arial"/>
                </a:endParaRPr>
              </a:p>
            </p:txBody>
          </p:sp>
          <p:sp>
            <p:nvSpPr>
              <p:cNvPr id="81" name="analyzer-sub1">
                <a:extLst>
                  <a:ext uri="{FF2B5EF4-FFF2-40B4-BE49-F238E27FC236}">
                    <a16:creationId xmlns:a16="http://schemas.microsoft.com/office/drawing/2014/main" id="{E771D694-8C11-DF40-8CA9-A2D1D4499DD4}"/>
                  </a:ext>
                </a:extLst>
              </p:cNvPr>
              <p:cNvSpPr/>
              <p:nvPr/>
            </p:nvSpPr>
            <p:spPr>
              <a:xfrm>
                <a:off x="600331" y="5518413"/>
                <a:ext cx="1405116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</a:rPr>
                  <a:t>completeness</a:t>
                </a:r>
                <a:endParaRPr lang="en-US" sz="900" dirty="0">
                  <a:solidFill>
                    <a:srgbClr val="111111"/>
                  </a:solidFill>
                  <a:latin typeface="Arial"/>
                </a:endParaRPr>
              </a:p>
            </p:txBody>
          </p:sp>
          <p:sp>
            <p:nvSpPr>
              <p:cNvPr id="82" name="analyzer-sub1">
                <a:extLst>
                  <a:ext uri="{FF2B5EF4-FFF2-40B4-BE49-F238E27FC236}">
                    <a16:creationId xmlns:a16="http://schemas.microsoft.com/office/drawing/2014/main" id="{A4F5887D-2C3F-E34B-9FAF-CEFF6D6D8095}"/>
                  </a:ext>
                </a:extLst>
              </p:cNvPr>
              <p:cNvSpPr/>
              <p:nvPr/>
            </p:nvSpPr>
            <p:spPr>
              <a:xfrm>
                <a:off x="600331" y="5788346"/>
                <a:ext cx="1405116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coverage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pic>
          <p:nvPicPr>
            <p:cNvPr id="78" name="图形 77">
              <a:extLst>
                <a:ext uri="{FF2B5EF4-FFF2-40B4-BE49-F238E27FC236}">
                  <a16:creationId xmlns:a16="http://schemas.microsoft.com/office/drawing/2014/main" id="{B174ECF6-7DC7-374E-A5CB-1F7B60B62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69757" y="4614893"/>
              <a:ext cx="443371" cy="443371"/>
            </a:xfrm>
            <a:prstGeom prst="rect">
              <a:avLst/>
            </a:prstGeom>
          </p:spPr>
        </p:pic>
      </p:grpSp>
      <p:pic>
        <p:nvPicPr>
          <p:cNvPr id="117" name="图形 116">
            <a:extLst>
              <a:ext uri="{FF2B5EF4-FFF2-40B4-BE49-F238E27FC236}">
                <a16:creationId xmlns:a16="http://schemas.microsoft.com/office/drawing/2014/main" id="{2742B1DF-EE54-CB4B-8CCE-BE190943BF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0705" y="1935857"/>
            <a:ext cx="391563" cy="391563"/>
          </a:xfrm>
          <a:prstGeom prst="rect">
            <a:avLst/>
          </a:prstGeom>
        </p:spPr>
      </p:pic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DCCC109-52CF-F549-B61F-264ABD337A34}"/>
              </a:ext>
            </a:extLst>
          </p:cNvPr>
          <p:cNvGrpSpPr/>
          <p:nvPr/>
        </p:nvGrpSpPr>
        <p:grpSpPr>
          <a:xfrm>
            <a:off x="5443429" y="4194333"/>
            <a:ext cx="6119422" cy="1778889"/>
            <a:chOff x="2772179" y="3523541"/>
            <a:chExt cx="6119422" cy="1778889"/>
          </a:xfrm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4459017F-6BBB-104F-ACA2-3FC231124435}"/>
                </a:ext>
              </a:extLst>
            </p:cNvPr>
            <p:cNvGrpSpPr/>
            <p:nvPr/>
          </p:nvGrpSpPr>
          <p:grpSpPr>
            <a:xfrm>
              <a:off x="2883595" y="3523541"/>
              <a:ext cx="3959941" cy="1681474"/>
              <a:chOff x="-3292644" y="2242453"/>
              <a:chExt cx="3959941" cy="1681474"/>
            </a:xfrm>
          </p:grpSpPr>
          <p:sp>
            <p:nvSpPr>
              <p:cNvPr id="35" name="shared-label">
                <a:extLst>
                  <a:ext uri="{FF2B5EF4-FFF2-40B4-BE49-F238E27FC236}">
                    <a16:creationId xmlns:a16="http://schemas.microsoft.com/office/drawing/2014/main" id="{CC7ECB83-4C66-0545-9217-9D342A2F966F}"/>
                  </a:ext>
                </a:extLst>
              </p:cNvPr>
              <p:cNvSpPr txBox="1"/>
              <p:nvPr/>
            </p:nvSpPr>
            <p:spPr>
              <a:xfrm>
                <a:off x="-1186225" y="2242453"/>
                <a:ext cx="185352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ctr"/>
                <a:r>
                  <a:rPr lang="en-US" sz="16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Shared Workspace</a:t>
                </a:r>
              </a:p>
            </p:txBody>
          </p:sp>
          <p:sp>
            <p:nvSpPr>
              <p:cNvPr id="36" name="ws-todo-text">
                <a:extLst>
                  <a:ext uri="{FF2B5EF4-FFF2-40B4-BE49-F238E27FC236}">
                    <a16:creationId xmlns:a16="http://schemas.microsoft.com/office/drawing/2014/main" id="{B019819C-7471-2B4B-A385-6AF87A86CA35}"/>
                  </a:ext>
                </a:extLst>
              </p:cNvPr>
              <p:cNvSpPr txBox="1"/>
              <p:nvPr/>
            </p:nvSpPr>
            <p:spPr>
              <a:xfrm>
                <a:off x="-3058334" y="2683786"/>
                <a:ext cx="2596918" cy="247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en-US" sz="1200" b="1" dirty="0">
                    <a:solidFill>
                      <a:srgbClr val="111111"/>
                    </a:solidFill>
                    <a:latin typeface="Arial"/>
                  </a:rPr>
                  <a:t>Behavior-Centered Checklist IR</a:t>
                </a: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72DF8F9D-B1C0-4F41-A7B3-3AAB97390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264607" y="2679390"/>
                <a:ext cx="271090" cy="271090"/>
              </a:xfrm>
              <a:prstGeom prst="rect">
                <a:avLst/>
              </a:prstGeom>
            </p:spPr>
          </p:pic>
          <p:sp>
            <p:nvSpPr>
              <p:cNvPr id="38" name="analyzer-sub3">
                <a:extLst>
                  <a:ext uri="{FF2B5EF4-FFF2-40B4-BE49-F238E27FC236}">
                    <a16:creationId xmlns:a16="http://schemas.microsoft.com/office/drawing/2014/main" id="{F66915CA-A7A5-DC45-991F-5919D2A5030F}"/>
                  </a:ext>
                </a:extLst>
              </p:cNvPr>
              <p:cNvSpPr/>
              <p:nvPr/>
            </p:nvSpPr>
            <p:spPr>
              <a:xfrm>
                <a:off x="-3209237" y="3592901"/>
                <a:ext cx="1119409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Feature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Slice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" name="analyzer-sub3">
                <a:extLst>
                  <a:ext uri="{FF2B5EF4-FFF2-40B4-BE49-F238E27FC236}">
                    <a16:creationId xmlns:a16="http://schemas.microsoft.com/office/drawing/2014/main" id="{A509891B-6201-0D40-BBD1-FF9FF1ACA17E}"/>
                  </a:ext>
                </a:extLst>
              </p:cNvPr>
              <p:cNvSpPr/>
              <p:nvPr/>
            </p:nvSpPr>
            <p:spPr>
              <a:xfrm>
                <a:off x="-1985663" y="3302504"/>
                <a:ext cx="148959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" name="analyzer-sub3">
                <a:extLst>
                  <a:ext uri="{FF2B5EF4-FFF2-40B4-BE49-F238E27FC236}">
                    <a16:creationId xmlns:a16="http://schemas.microsoft.com/office/drawing/2014/main" id="{18BDC368-BC45-5646-BA1A-284B5C8CFA1E}"/>
                  </a:ext>
                </a:extLst>
              </p:cNvPr>
              <p:cNvSpPr/>
              <p:nvPr/>
            </p:nvSpPr>
            <p:spPr>
              <a:xfrm>
                <a:off x="-1981443" y="3010286"/>
                <a:ext cx="148546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Refs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1" name="analyzer-sub3">
                <a:extLst>
                  <a:ext uri="{FF2B5EF4-FFF2-40B4-BE49-F238E27FC236}">
                    <a16:creationId xmlns:a16="http://schemas.microsoft.com/office/drawing/2014/main" id="{5B8FA533-CDB7-A446-8D8F-EF387F3E172D}"/>
                  </a:ext>
                </a:extLst>
              </p:cNvPr>
              <p:cNvSpPr/>
              <p:nvPr/>
            </p:nvSpPr>
            <p:spPr>
              <a:xfrm>
                <a:off x="-3205709" y="3009309"/>
                <a:ext cx="113112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Priority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&amp;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Order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2" name="analyzer-sub3">
                <a:extLst>
                  <a:ext uri="{FF2B5EF4-FFF2-40B4-BE49-F238E27FC236}">
                    <a16:creationId xmlns:a16="http://schemas.microsoft.com/office/drawing/2014/main" id="{86106097-085D-4D43-B47F-0BBC434D9235}"/>
                  </a:ext>
                </a:extLst>
              </p:cNvPr>
              <p:cNvSpPr/>
              <p:nvPr/>
            </p:nvSpPr>
            <p:spPr>
              <a:xfrm>
                <a:off x="-3213271" y="3304650"/>
                <a:ext cx="112485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Validation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Plan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3" name="analyzer-sub3">
                <a:extLst>
                  <a:ext uri="{FF2B5EF4-FFF2-40B4-BE49-F238E27FC236}">
                    <a16:creationId xmlns:a16="http://schemas.microsoft.com/office/drawing/2014/main" id="{7D61BF1A-5532-BE44-B679-69A9D553E92E}"/>
                  </a:ext>
                </a:extLst>
              </p:cNvPr>
              <p:cNvSpPr/>
              <p:nvPr/>
            </p:nvSpPr>
            <p:spPr>
              <a:xfrm>
                <a:off x="-1978274" y="3593518"/>
                <a:ext cx="1482208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6D4A8BD-C027-014B-A6FD-CFD4C25857E7}"/>
                  </a:ext>
                </a:extLst>
              </p:cNvPr>
              <p:cNvSpPr/>
              <p:nvPr/>
            </p:nvSpPr>
            <p:spPr>
              <a:xfrm>
                <a:off x="-3292644" y="2652241"/>
                <a:ext cx="2861518" cy="1271686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46" name="ws-repair">
              <a:extLst>
                <a:ext uri="{FF2B5EF4-FFF2-40B4-BE49-F238E27FC236}">
                  <a16:creationId xmlns:a16="http://schemas.microsoft.com/office/drawing/2014/main" id="{706C6BD9-E23D-2949-A160-81B7A9DBA183}"/>
                </a:ext>
              </a:extLst>
            </p:cNvPr>
            <p:cNvSpPr/>
            <p:nvPr/>
          </p:nvSpPr>
          <p:spPr>
            <a:xfrm>
              <a:off x="5946079" y="4241927"/>
              <a:ext cx="1216625" cy="28341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E46070F-2C97-234E-A4DA-7BEE452B0277}"/>
                </a:ext>
              </a:extLst>
            </p:cNvPr>
            <p:cNvGrpSpPr/>
            <p:nvPr/>
          </p:nvGrpSpPr>
          <p:grpSpPr>
            <a:xfrm>
              <a:off x="5944648" y="3906573"/>
              <a:ext cx="1218056" cy="277867"/>
              <a:chOff x="2222784" y="5381886"/>
              <a:chExt cx="1218056" cy="277867"/>
            </a:xfrm>
          </p:grpSpPr>
          <p:sp>
            <p:nvSpPr>
              <p:cNvPr id="63" name="ws-scan">
                <a:extLst>
                  <a:ext uri="{FF2B5EF4-FFF2-40B4-BE49-F238E27FC236}">
                    <a16:creationId xmlns:a16="http://schemas.microsoft.com/office/drawing/2014/main" id="{97F938BF-5D39-6C4E-803B-D6FF1A3EA5F2}"/>
                  </a:ext>
                </a:extLst>
              </p:cNvPr>
              <p:cNvSpPr/>
              <p:nvPr/>
            </p:nvSpPr>
            <p:spPr>
              <a:xfrm>
                <a:off x="2222784" y="5381886"/>
                <a:ext cx="1218056" cy="277867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4" name="ws-scan-text">
                <a:extLst>
                  <a:ext uri="{FF2B5EF4-FFF2-40B4-BE49-F238E27FC236}">
                    <a16:creationId xmlns:a16="http://schemas.microsoft.com/office/drawing/2014/main" id="{9C473926-44A7-4341-B4A8-5C5140436DA1}"/>
                  </a:ext>
                </a:extLst>
              </p:cNvPr>
              <p:cNvSpPr txBox="1"/>
              <p:nvPr/>
            </p:nvSpPr>
            <p:spPr>
              <a:xfrm>
                <a:off x="2418080" y="5431938"/>
                <a:ext cx="914400" cy="1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can</a:t>
                </a: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E00CFD1-6882-BD4D-B5EB-372A527849E3}"/>
                </a:ext>
              </a:extLst>
            </p:cNvPr>
            <p:cNvGrpSpPr/>
            <p:nvPr/>
          </p:nvGrpSpPr>
          <p:grpSpPr>
            <a:xfrm>
              <a:off x="7227547" y="3899453"/>
              <a:ext cx="1552011" cy="271934"/>
              <a:chOff x="2131917" y="5409007"/>
              <a:chExt cx="1552011" cy="271934"/>
            </a:xfrm>
          </p:grpSpPr>
          <p:sp>
            <p:nvSpPr>
              <p:cNvPr id="61" name="ws-ledger">
                <a:extLst>
                  <a:ext uri="{FF2B5EF4-FFF2-40B4-BE49-F238E27FC236}">
                    <a16:creationId xmlns:a16="http://schemas.microsoft.com/office/drawing/2014/main" id="{C157A98D-212C-9744-B33B-A316CEFAD0B4}"/>
                  </a:ext>
                </a:extLst>
              </p:cNvPr>
              <p:cNvSpPr/>
              <p:nvPr/>
            </p:nvSpPr>
            <p:spPr>
              <a:xfrm>
                <a:off x="2131917" y="5409007"/>
                <a:ext cx="1534751" cy="27193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2" name="ws-ledger-text">
                <a:extLst>
                  <a:ext uri="{FF2B5EF4-FFF2-40B4-BE49-F238E27FC236}">
                    <a16:creationId xmlns:a16="http://schemas.microsoft.com/office/drawing/2014/main" id="{2E102C04-1C70-564C-A709-382300F73D69}"/>
                  </a:ext>
                </a:extLst>
              </p:cNvPr>
              <p:cNvSpPr txBox="1"/>
              <p:nvPr/>
            </p:nvSpPr>
            <p:spPr>
              <a:xfrm>
                <a:off x="2171796" y="5466178"/>
                <a:ext cx="1512132" cy="189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Translation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L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edger</a:t>
                </a:r>
              </a:p>
            </p:txBody>
          </p:sp>
        </p:grp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539D36D-5632-0B40-A91F-14F4DC0FFC06}"/>
                </a:ext>
              </a:extLst>
            </p:cNvPr>
            <p:cNvSpPr/>
            <p:nvPr/>
          </p:nvSpPr>
          <p:spPr>
            <a:xfrm>
              <a:off x="2772179" y="3796539"/>
              <a:ext cx="6119422" cy="150589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ws-decision-text">
              <a:extLst>
                <a:ext uri="{FF2B5EF4-FFF2-40B4-BE49-F238E27FC236}">
                  <a16:creationId xmlns:a16="http://schemas.microsoft.com/office/drawing/2014/main" id="{4678D838-E801-5540-A5F5-E75D126729BC}"/>
                </a:ext>
              </a:extLst>
            </p:cNvPr>
            <p:cNvSpPr txBox="1"/>
            <p:nvPr/>
          </p:nvSpPr>
          <p:spPr>
            <a:xfrm>
              <a:off x="6060089" y="4963621"/>
              <a:ext cx="1166313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Agent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Report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1" name="ws-scan-text">
              <a:extLst>
                <a:ext uri="{FF2B5EF4-FFF2-40B4-BE49-F238E27FC236}">
                  <a16:creationId xmlns:a16="http://schemas.microsoft.com/office/drawing/2014/main" id="{DE5A08CE-BDBF-D744-8104-87A7F1D205EC}"/>
                </a:ext>
              </a:extLst>
            </p:cNvPr>
            <p:cNvSpPr txBox="1"/>
            <p:nvPr/>
          </p:nvSpPr>
          <p:spPr>
            <a:xfrm>
              <a:off x="6060089" y="4242180"/>
              <a:ext cx="1103035" cy="272832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Decision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Log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2" name="ws-scan-text">
              <a:extLst>
                <a:ext uri="{FF2B5EF4-FFF2-40B4-BE49-F238E27FC236}">
                  <a16:creationId xmlns:a16="http://schemas.microsoft.com/office/drawing/2014/main" id="{9D1C4ED8-8244-074A-B448-574DE2ECDAE9}"/>
                </a:ext>
              </a:extLst>
            </p:cNvPr>
            <p:cNvSpPr txBox="1"/>
            <p:nvPr/>
          </p:nvSpPr>
          <p:spPr>
            <a:xfrm>
              <a:off x="7344707" y="4597028"/>
              <a:ext cx="1441071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Feature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Contract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3" name="ws-decision-text">
              <a:extLst>
                <a:ext uri="{FF2B5EF4-FFF2-40B4-BE49-F238E27FC236}">
                  <a16:creationId xmlns:a16="http://schemas.microsoft.com/office/drawing/2014/main" id="{31B5A0CB-664D-CF4F-8FBF-C15970B133F2}"/>
                </a:ext>
              </a:extLst>
            </p:cNvPr>
            <p:cNvSpPr txBox="1"/>
            <p:nvPr/>
          </p:nvSpPr>
          <p:spPr>
            <a:xfrm>
              <a:off x="6085944" y="4627368"/>
              <a:ext cx="10224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Issue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Queue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4" name="ws-decision-text">
              <a:extLst>
                <a:ext uri="{FF2B5EF4-FFF2-40B4-BE49-F238E27FC236}">
                  <a16:creationId xmlns:a16="http://schemas.microsoft.com/office/drawing/2014/main" id="{09F23ECC-13FC-3D42-B543-85FC948F77E0}"/>
                </a:ext>
              </a:extLst>
            </p:cNvPr>
            <p:cNvSpPr txBox="1"/>
            <p:nvPr/>
          </p:nvSpPr>
          <p:spPr>
            <a:xfrm>
              <a:off x="7325567" y="4275439"/>
              <a:ext cx="1415073" cy="194358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Progress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Memory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5" name="ws-decision-text">
              <a:extLst>
                <a:ext uri="{FF2B5EF4-FFF2-40B4-BE49-F238E27FC236}">
                  <a16:creationId xmlns:a16="http://schemas.microsoft.com/office/drawing/2014/main" id="{CCFA014F-ED04-BB41-B6AA-BD3E6765EFD8}"/>
                </a:ext>
              </a:extLst>
            </p:cNvPr>
            <p:cNvSpPr txBox="1"/>
            <p:nvPr/>
          </p:nvSpPr>
          <p:spPr>
            <a:xfrm>
              <a:off x="7215886" y="4965563"/>
              <a:ext cx="1563672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Verified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Gate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History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6" name="ws-scan">
              <a:extLst>
                <a:ext uri="{FF2B5EF4-FFF2-40B4-BE49-F238E27FC236}">
                  <a16:creationId xmlns:a16="http://schemas.microsoft.com/office/drawing/2014/main" id="{CA705341-8677-2B42-B2A1-1EECCB50E14F}"/>
                </a:ext>
              </a:extLst>
            </p:cNvPr>
            <p:cNvSpPr/>
            <p:nvPr/>
          </p:nvSpPr>
          <p:spPr>
            <a:xfrm>
              <a:off x="7229407" y="4240822"/>
              <a:ext cx="1550151" cy="27786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 dirty="0"/>
            </a:p>
          </p:txBody>
        </p:sp>
        <p:sp>
          <p:nvSpPr>
            <p:cNvPr id="57" name="ws-repair">
              <a:extLst>
                <a:ext uri="{FF2B5EF4-FFF2-40B4-BE49-F238E27FC236}">
                  <a16:creationId xmlns:a16="http://schemas.microsoft.com/office/drawing/2014/main" id="{C9EDB408-6355-B445-A640-F00D6E2979BD}"/>
                </a:ext>
              </a:extLst>
            </p:cNvPr>
            <p:cNvSpPr/>
            <p:nvPr/>
          </p:nvSpPr>
          <p:spPr>
            <a:xfrm>
              <a:off x="5946079" y="4582030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8" name="ws-repair">
              <a:extLst>
                <a:ext uri="{FF2B5EF4-FFF2-40B4-BE49-F238E27FC236}">
                  <a16:creationId xmlns:a16="http://schemas.microsoft.com/office/drawing/2014/main" id="{664F5E0A-3E1F-FD4B-A5C7-54DB68CB6069}"/>
                </a:ext>
              </a:extLst>
            </p:cNvPr>
            <p:cNvSpPr/>
            <p:nvPr/>
          </p:nvSpPr>
          <p:spPr>
            <a:xfrm>
              <a:off x="7227547" y="4580233"/>
              <a:ext cx="155823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9" name="ws-repair">
              <a:extLst>
                <a:ext uri="{FF2B5EF4-FFF2-40B4-BE49-F238E27FC236}">
                  <a16:creationId xmlns:a16="http://schemas.microsoft.com/office/drawing/2014/main" id="{DE24D773-FF0E-FC46-852A-2A7EDD72C0F7}"/>
                </a:ext>
              </a:extLst>
            </p:cNvPr>
            <p:cNvSpPr/>
            <p:nvPr/>
          </p:nvSpPr>
          <p:spPr>
            <a:xfrm>
              <a:off x="5944648" y="4921598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60" name="ws-repair">
              <a:extLst>
                <a:ext uri="{FF2B5EF4-FFF2-40B4-BE49-F238E27FC236}">
                  <a16:creationId xmlns:a16="http://schemas.microsoft.com/office/drawing/2014/main" id="{EDA189A1-5340-B047-BEAA-BBBEBB749C58}"/>
                </a:ext>
              </a:extLst>
            </p:cNvPr>
            <p:cNvSpPr/>
            <p:nvPr/>
          </p:nvSpPr>
          <p:spPr>
            <a:xfrm>
              <a:off x="7227547" y="4921598"/>
              <a:ext cx="155201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733B33DE-912E-B648-9F34-0A5B9CB59CA6}"/>
              </a:ext>
            </a:extLst>
          </p:cNvPr>
          <p:cNvCxnSpPr>
            <a:cxnSpLocks/>
          </p:cNvCxnSpPr>
          <p:nvPr/>
        </p:nvCxnSpPr>
        <p:spPr>
          <a:xfrm>
            <a:off x="5270875" y="4020370"/>
            <a:ext cx="472471" cy="338980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标题 10">
            <a:extLst>
              <a:ext uri="{FF2B5EF4-FFF2-40B4-BE49-F238E27FC236}">
                <a16:creationId xmlns:a16="http://schemas.microsoft.com/office/drawing/2014/main" id="{FF86A0CD-9FCA-EC41-81BD-7FF79D7140CA}"/>
              </a:ext>
            </a:extLst>
          </p:cNvPr>
          <p:cNvSpPr>
            <a:spLocks noGrp="1"/>
          </p:cNvSpPr>
          <p:nvPr/>
        </p:nvSpPr>
        <p:spPr>
          <a:xfrm>
            <a:off x="464128" y="543748"/>
            <a:ext cx="10121046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验证目标构建 与 多级验证机制：</a:t>
            </a:r>
            <a:r>
              <a:rPr lang="en-US" altLang="zh-CN" dirty="0">
                <a:sym typeface="+mn-ea"/>
              </a:rPr>
              <a:t>Plan-level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Verification</a:t>
            </a:r>
            <a:endParaRPr lang="zh-CN" altLang="en-US" dirty="0">
              <a:sym typeface="+mn-ea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5CDCFC8C-CF29-294D-9E86-CCE3AD5B0720}"/>
              </a:ext>
            </a:extLst>
          </p:cNvPr>
          <p:cNvSpPr txBox="1"/>
          <p:nvPr/>
        </p:nvSpPr>
        <p:spPr>
          <a:xfrm>
            <a:off x="6400666" y="1065949"/>
            <a:ext cx="53962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rgbClr val="C00000"/>
                </a:solidFill>
              </a:rPr>
              <a:t>扫描源仓库</a:t>
            </a:r>
            <a:endParaRPr kumimoji="1" lang="en-US" altLang="zh-CN" sz="12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粗扫加精扫：使用提供的脚本对整个仓库进行粗扫，识别模块结构与依赖，构建系统，</a:t>
            </a:r>
            <a:r>
              <a:rPr kumimoji="1" lang="en-US" altLang="zh-CN" sz="1200" dirty="0"/>
              <a:t>API</a:t>
            </a:r>
            <a:r>
              <a:rPr kumimoji="1" lang="zh-CN" altLang="en-US" sz="1200" dirty="0"/>
              <a:t>，测试及运行，配置与外部依赖，异常并发等风险；对于不足的部分，提供了</a:t>
            </a:r>
            <a:r>
              <a:rPr kumimoji="1" lang="en-US" altLang="zh-CN" sz="1200" dirty="0"/>
              <a:t>LSP-MCP</a:t>
            </a:r>
            <a:r>
              <a:rPr kumimoji="1" lang="zh-CN" altLang="en-US" sz="1200" dirty="0"/>
              <a:t>对重点模块，关键入口与高风险文件做聚焦精查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rgbClr val="C00000"/>
                </a:solidFill>
              </a:rPr>
              <a:t>划分可验证行为单元</a:t>
            </a:r>
            <a:endParaRPr kumimoji="1" lang="en-US" altLang="zh-CN" sz="12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一个</a:t>
            </a:r>
            <a:r>
              <a:rPr kumimoji="1" lang="en-US" altLang="zh-CN" sz="1200" dirty="0"/>
              <a:t>slice</a:t>
            </a:r>
            <a:r>
              <a:rPr kumimoji="1" lang="zh-CN" altLang="en-US" sz="1200" dirty="0"/>
              <a:t>可以是一个</a:t>
            </a:r>
            <a:r>
              <a:rPr kumimoji="1" lang="zh-CN" altLang="en-US" sz="1200" dirty="0">
                <a:solidFill>
                  <a:srgbClr val="C00000"/>
                </a:solidFill>
              </a:rPr>
              <a:t>后端服务能力闭环</a:t>
            </a:r>
            <a:r>
              <a:rPr kumimoji="1" lang="zh-CN" altLang="en-US" sz="1200" dirty="0"/>
              <a:t>，也可以是一条</a:t>
            </a:r>
            <a:r>
              <a:rPr kumimoji="1" lang="zh-CN" altLang="en-US" sz="1200" dirty="0">
                <a:solidFill>
                  <a:srgbClr val="C00000"/>
                </a:solidFill>
              </a:rPr>
              <a:t>页面流加相关平台能力闭环</a:t>
            </a:r>
            <a:endParaRPr kumimoji="1" lang="en-US" altLang="zh-CN" sz="12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每个 </a:t>
            </a:r>
            <a:r>
              <a:rPr kumimoji="1" lang="en-US" altLang="zh-CN" sz="1200" dirty="0"/>
              <a:t>slice </a:t>
            </a:r>
            <a:r>
              <a:rPr kumimoji="1" lang="zh-CN" altLang="en-US" sz="1200" dirty="0"/>
              <a:t>都必须</a:t>
            </a:r>
            <a:r>
              <a:rPr kumimoji="1" lang="zh-CN" altLang="en-US" sz="1200" dirty="0">
                <a:solidFill>
                  <a:srgbClr val="C00000"/>
                </a:solidFill>
              </a:rPr>
              <a:t>明确覆盖</a:t>
            </a:r>
            <a:r>
              <a:rPr kumimoji="1" lang="zh-CN" altLang="en-US" sz="1200" dirty="0"/>
              <a:t>哪些源模块、哪些测试</a:t>
            </a:r>
            <a:r>
              <a:rPr kumimoji="1" lang="zh-CN" altLang="en-US" sz="1200" dirty="0">
                <a:solidFill>
                  <a:srgbClr val="C00000"/>
                </a:solidFill>
              </a:rPr>
              <a:t>、</a:t>
            </a:r>
            <a:r>
              <a:rPr kumimoji="1" lang="zh-CN" altLang="en-US" sz="1200" dirty="0"/>
              <a:t>哪些 </a:t>
            </a:r>
            <a:r>
              <a:rPr kumimoji="1" lang="en-US" altLang="zh-CN" sz="1200" dirty="0"/>
              <a:t>API</a:t>
            </a:r>
            <a:r>
              <a:rPr kumimoji="1" lang="zh-CN" altLang="en-US" sz="1200" dirty="0"/>
              <a:t>、哪些页面</a:t>
            </a:r>
            <a:r>
              <a:rPr kumimoji="1" lang="en-US" altLang="zh-CN" sz="1200" dirty="0"/>
              <a:t>/</a:t>
            </a:r>
            <a:r>
              <a:rPr kumimoji="1" lang="zh-CN" altLang="en-US" sz="1200" dirty="0"/>
              <a:t>路由、哪些依赖边界，以及如何做</a:t>
            </a:r>
            <a:r>
              <a:rPr kumimoji="1" lang="en-US" altLang="zh-CN" sz="1200" dirty="0"/>
              <a:t>RED</a:t>
            </a:r>
            <a:r>
              <a:rPr kumimoji="1" lang="zh-CN" altLang="en-US" sz="1200" dirty="0"/>
              <a:t>、</a:t>
            </a:r>
            <a:r>
              <a:rPr kumimoji="1" lang="en-US" altLang="zh-CN" sz="1200" dirty="0"/>
              <a:t>GREEN</a:t>
            </a:r>
            <a:r>
              <a:rPr kumimoji="1" lang="zh-CN" altLang="en-US" sz="1200" dirty="0"/>
              <a:t>、</a:t>
            </a:r>
            <a:r>
              <a:rPr kumimoji="1" lang="en-US" altLang="zh-CN" sz="1200" dirty="0"/>
              <a:t>SMOKE </a:t>
            </a:r>
            <a:r>
              <a:rPr kumimoji="1" lang="zh-CN" altLang="en-US" sz="1200" dirty="0"/>
              <a:t>和回归验证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rgbClr val="C00000"/>
                </a:solidFill>
              </a:rPr>
              <a:t>形成</a:t>
            </a:r>
            <a:r>
              <a:rPr kumimoji="1" lang="en-US" altLang="zh-CN" sz="1200" dirty="0">
                <a:solidFill>
                  <a:srgbClr val="C00000"/>
                </a:solidFill>
              </a:rPr>
              <a:t>Behavior-Centered</a:t>
            </a:r>
            <a:r>
              <a:rPr kumimoji="1" lang="zh-CN" altLang="en-US" sz="1200" dirty="0">
                <a:solidFill>
                  <a:srgbClr val="C00000"/>
                </a:solidFill>
              </a:rPr>
              <a:t> </a:t>
            </a:r>
            <a:r>
              <a:rPr kumimoji="1" lang="en-US" altLang="zh-CN" sz="1200" dirty="0">
                <a:solidFill>
                  <a:srgbClr val="C00000"/>
                </a:solidFill>
              </a:rPr>
              <a:t>Checklist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为每个</a:t>
            </a:r>
            <a:r>
              <a:rPr kumimoji="1" lang="en-US" altLang="zh-CN" sz="1200" dirty="0"/>
              <a:t>Todo</a:t>
            </a:r>
            <a:r>
              <a:rPr kumimoji="1" lang="zh-CN" altLang="en-US" sz="1200" dirty="0"/>
              <a:t>绑定明确</a:t>
            </a:r>
            <a:r>
              <a:rPr kumimoji="1" lang="en-US" altLang="zh-CN" sz="1200" dirty="0"/>
              <a:t>Slice</a:t>
            </a:r>
            <a:r>
              <a:rPr kumimoji="1" lang="zh-CN" altLang="en-US" sz="1200" dirty="0"/>
              <a:t>，并按照工作流闭环形成优先级与绑定完整的被翻译端与目标结构，包括依赖，功能，测试，行为等，并给出确认</a:t>
            </a:r>
            <a:r>
              <a:rPr kumimoji="1" lang="en-US" altLang="zh-CN" sz="1200" dirty="0"/>
              <a:t>Slice</a:t>
            </a:r>
            <a:r>
              <a:rPr kumimoji="1" lang="zh-CN" altLang="en-US" sz="1200" dirty="0"/>
              <a:t>已迁移的验证计划，确保所有任务都可追踪，可验收</a:t>
            </a:r>
            <a:endParaRPr kumimoji="1" lang="en-US" altLang="zh-CN" sz="12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EA10292-9ECF-F947-91FE-4CD7204A3762}"/>
              </a:ext>
            </a:extLst>
          </p:cNvPr>
          <p:cNvSpPr txBox="1"/>
          <p:nvPr/>
        </p:nvSpPr>
        <p:spPr>
          <a:xfrm>
            <a:off x="330111" y="1628380"/>
            <a:ext cx="30768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Plan-level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Verification</a:t>
            </a:r>
            <a:r>
              <a:rPr kumimoji="1" lang="zh-CN" altLang="en-US" sz="1400" dirty="0"/>
              <a:t> 审计重点检查四类问题</a:t>
            </a:r>
            <a:endParaRPr kumimoji="1"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第一， </a:t>
            </a:r>
            <a:r>
              <a:rPr kumimoji="1" lang="zh-CN" altLang="en-US" sz="1400" dirty="0">
                <a:solidFill>
                  <a:srgbClr val="C00000"/>
                </a:solidFill>
              </a:rPr>
              <a:t>范围是否完整</a:t>
            </a:r>
            <a:r>
              <a:rPr kumimoji="1" lang="zh-CN" altLang="en-US" sz="1400" dirty="0"/>
              <a:t>，例如源测试、公开 </a:t>
            </a:r>
            <a:r>
              <a:rPr kumimoji="1" lang="en-US" altLang="zh-CN" sz="1400" dirty="0"/>
              <a:t>API</a:t>
            </a:r>
            <a:r>
              <a:rPr kumimoji="1" lang="zh-CN" altLang="en-US" sz="1400" dirty="0"/>
              <a:t>、运行入口、关键依赖、外部边界、后端服务链路、</a:t>
            </a:r>
            <a:r>
              <a:rPr kumimoji="1" lang="en-US" altLang="zh-CN" sz="1400" dirty="0"/>
              <a:t>UI </a:t>
            </a:r>
            <a:r>
              <a:rPr kumimoji="1" lang="zh-CN" altLang="en-US" sz="1400" dirty="0"/>
              <a:t>页面与路由能力是否都被识别</a:t>
            </a:r>
            <a:endParaRPr kumimoji="1"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第二，</a:t>
            </a:r>
            <a:r>
              <a:rPr kumimoji="1" lang="zh-CN" altLang="en-US" sz="1400" dirty="0">
                <a:solidFill>
                  <a:srgbClr val="C00000"/>
                </a:solidFill>
              </a:rPr>
              <a:t>结构是否合理</a:t>
            </a:r>
            <a:r>
              <a:rPr kumimoji="1" lang="zh-CN" altLang="en-US" sz="1400" dirty="0"/>
              <a:t>，例如模块分类是否正确、</a:t>
            </a:r>
            <a:r>
              <a:rPr kumimoji="1" lang="en-US" altLang="zh-CN" sz="1400" dirty="0"/>
              <a:t>slice </a:t>
            </a:r>
            <a:r>
              <a:rPr kumimoji="1" lang="zh-CN" altLang="en-US" sz="1400" dirty="0"/>
              <a:t>是否按可验证行为拆分、</a:t>
            </a:r>
            <a:r>
              <a:rPr kumimoji="1" lang="en-US" altLang="zh-CN" sz="1400" dirty="0"/>
              <a:t>Todo </a:t>
            </a:r>
            <a:r>
              <a:rPr kumimoji="1" lang="zh-CN" altLang="en-US" sz="1400" dirty="0"/>
              <a:t>是否过大或不可验证</a:t>
            </a:r>
            <a:endParaRPr kumimoji="1"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第三，</a:t>
            </a:r>
            <a:r>
              <a:rPr kumimoji="1" lang="zh-CN" altLang="en-US" sz="1400" dirty="0">
                <a:solidFill>
                  <a:srgbClr val="C00000"/>
                </a:solidFill>
              </a:rPr>
              <a:t>映射是否闭合</a:t>
            </a:r>
            <a:r>
              <a:rPr kumimoji="1" lang="zh-CN" altLang="en-US" sz="1400" dirty="0"/>
              <a:t>，例如每个源测试、每个</a:t>
            </a:r>
            <a:r>
              <a:rPr kumimoji="1" lang="en-US" altLang="zh-CN" sz="1400" dirty="0"/>
              <a:t>P0/P1 </a:t>
            </a:r>
            <a:r>
              <a:rPr kumimoji="1" lang="zh-CN" altLang="en-US" sz="1400" dirty="0"/>
              <a:t>行为、每个关键 </a:t>
            </a:r>
            <a:r>
              <a:rPr kumimoji="1" lang="en-US" altLang="zh-CN" sz="1400" dirty="0"/>
              <a:t>obligation </a:t>
            </a:r>
            <a:r>
              <a:rPr kumimoji="1" lang="zh-CN" altLang="en-US" sz="1400" dirty="0"/>
              <a:t>是否已经进入 </a:t>
            </a:r>
            <a:r>
              <a:rPr kumimoji="1" lang="en-US" altLang="zh-CN" sz="1400" dirty="0"/>
              <a:t>ledger </a:t>
            </a:r>
            <a:r>
              <a:rPr kumimoji="1" lang="zh-CN" altLang="en-US" sz="1400" dirty="0"/>
              <a:t>和 </a:t>
            </a:r>
            <a:r>
              <a:rPr kumimoji="1" lang="en-US" altLang="zh-CN" sz="1400" dirty="0"/>
              <a:t>Todo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第四，</a:t>
            </a:r>
            <a:r>
              <a:rPr kumimoji="1" lang="zh-CN" altLang="en-US" sz="1400" dirty="0">
                <a:solidFill>
                  <a:srgbClr val="C00000"/>
                </a:solidFill>
              </a:rPr>
              <a:t>验证是否可执行</a:t>
            </a:r>
            <a:r>
              <a:rPr kumimoji="1" lang="zh-CN" altLang="en-US" sz="1400" dirty="0"/>
              <a:t>，例如源端 </a:t>
            </a:r>
            <a:r>
              <a:rPr kumimoji="1" lang="en-US" altLang="zh-CN" sz="1400" dirty="0"/>
              <a:t>baseline</a:t>
            </a:r>
            <a:r>
              <a:rPr kumimoji="1" lang="zh-CN" altLang="en-US" sz="1400" dirty="0"/>
              <a:t>、目标构建、测试命令、</a:t>
            </a:r>
            <a:r>
              <a:rPr kumimoji="1" lang="en-US" altLang="zh-CN" sz="1400" dirty="0"/>
              <a:t>runtime smoke</a:t>
            </a:r>
            <a:r>
              <a:rPr kumimoji="1" lang="zh-CN" altLang="en-US" sz="1400" dirty="0"/>
              <a:t>、页面对照或服务 </a:t>
            </a:r>
            <a:r>
              <a:rPr kumimoji="1" lang="en-US" altLang="zh-CN" sz="1400" dirty="0"/>
              <a:t>smoke </a:t>
            </a:r>
            <a:r>
              <a:rPr kumimoji="1" lang="zh-CN" altLang="en-US" sz="1400" dirty="0"/>
              <a:t>是否已经规划清楚</a:t>
            </a:r>
            <a:endParaRPr kumimoji="1" lang="en-US" altLang="zh-CN" sz="1400" dirty="0"/>
          </a:p>
        </p:txBody>
      </p:sp>
      <p:sp>
        <p:nvSpPr>
          <p:cNvPr id="66" name="Rectangle 2">
            <a:extLst>
              <a:ext uri="{FF2B5EF4-FFF2-40B4-BE49-F238E27FC236}">
                <a16:creationId xmlns:a16="http://schemas.microsoft.com/office/drawing/2014/main" id="{392DE3C1-2979-0E4F-BE12-356B5669C6F4}"/>
              </a:ext>
            </a:extLst>
          </p:cNvPr>
          <p:cNvSpPr/>
          <p:nvPr/>
        </p:nvSpPr>
        <p:spPr>
          <a:xfrm>
            <a:off x="485409" y="6061259"/>
            <a:ext cx="11382437" cy="6492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将仓库级迁移目标转化为可验证的 </a:t>
            </a:r>
            <a:r>
              <a:rPr lang="en-US" altLang="zh-CN" dirty="0"/>
              <a:t>Behavior-Centered Checklist IR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通过实现前的独立审计确认范围覆盖、任务边界、依赖顺序和验证方案，为后续 </a:t>
            </a:r>
            <a:r>
              <a:rPr lang="en-US" altLang="zh-CN" dirty="0"/>
              <a:t>Task-level</a:t>
            </a:r>
            <a:r>
              <a:rPr lang="zh-CN" altLang="en-US" dirty="0"/>
              <a:t>验证提供稳定目标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1451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 152">
            <a:extLst>
              <a:ext uri="{FF2B5EF4-FFF2-40B4-BE49-F238E27FC236}">
                <a16:creationId xmlns:a16="http://schemas.microsoft.com/office/drawing/2014/main" id="{CF6630C8-8702-7644-8BB9-7BCC2C7ACB82}"/>
              </a:ext>
            </a:extLst>
          </p:cNvPr>
          <p:cNvSpPr/>
          <p:nvPr/>
        </p:nvSpPr>
        <p:spPr>
          <a:xfrm>
            <a:off x="4858732" y="1952964"/>
            <a:ext cx="2758780" cy="408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ABB4A480-D6E8-3B40-BEE7-82EAA8E6DD0F}"/>
              </a:ext>
            </a:extLst>
          </p:cNvPr>
          <p:cNvGrpSpPr/>
          <p:nvPr/>
        </p:nvGrpSpPr>
        <p:grpSpPr>
          <a:xfrm>
            <a:off x="4489247" y="2463393"/>
            <a:ext cx="3422611" cy="1681451"/>
            <a:chOff x="4549307" y="1911793"/>
            <a:chExt cx="3422611" cy="16814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92C7A92-7F32-4A4F-BA4D-9A9FE85B2110}"/>
                </a:ext>
              </a:extLst>
            </p:cNvPr>
            <p:cNvSpPr/>
            <p:nvPr/>
          </p:nvSpPr>
          <p:spPr>
            <a:xfrm>
              <a:off x="4549307" y="1911793"/>
              <a:ext cx="3422611" cy="16814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30801F6-DB2B-1F4C-B112-26F5B48EE26B}"/>
                </a:ext>
              </a:extLst>
            </p:cNvPr>
            <p:cNvGrpSpPr/>
            <p:nvPr/>
          </p:nvGrpSpPr>
          <p:grpSpPr>
            <a:xfrm>
              <a:off x="4648818" y="1973345"/>
              <a:ext cx="3243030" cy="624566"/>
              <a:chOff x="2447866" y="1528184"/>
              <a:chExt cx="3243030" cy="624566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A5AA80B1-7284-C649-A5F3-91128AF905D9}"/>
                  </a:ext>
                </a:extLst>
              </p:cNvPr>
              <p:cNvGrpSpPr/>
              <p:nvPr/>
            </p:nvGrpSpPr>
            <p:grpSpPr>
              <a:xfrm>
                <a:off x="2447866" y="1528184"/>
                <a:ext cx="3243030" cy="624566"/>
                <a:chOff x="1911134" y="2517678"/>
                <a:chExt cx="3243030" cy="624566"/>
              </a:xfrm>
            </p:grpSpPr>
            <p:sp>
              <p:nvSpPr>
                <p:cNvPr id="32" name="analyzer-title">
                  <a:extLst>
                    <a:ext uri="{FF2B5EF4-FFF2-40B4-BE49-F238E27FC236}">
                      <a16:creationId xmlns:a16="http://schemas.microsoft.com/office/drawing/2014/main" id="{0A14C71F-4328-7644-B9CD-33FAC576EA3E}"/>
                    </a:ext>
                  </a:extLst>
                </p:cNvPr>
                <p:cNvSpPr txBox="1"/>
                <p:nvPr/>
              </p:nvSpPr>
              <p:spPr>
                <a:xfrm>
                  <a:off x="2080089" y="2539696"/>
                  <a:ext cx="1045298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sz="1620" b="1" dirty="0">
                      <a:solidFill>
                        <a:srgbClr val="7030A0"/>
                      </a:solidFill>
                      <a:latin typeface="Arial"/>
                      <a:ea typeface="Arial"/>
                    </a:rPr>
                    <a:t>Translator</a:t>
                  </a: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BC4A1427-56FD-254A-B8D4-B138E02DA867}"/>
                    </a:ext>
                  </a:extLst>
                </p:cNvPr>
                <p:cNvSpPr/>
                <p:nvPr/>
              </p:nvSpPr>
              <p:spPr>
                <a:xfrm>
                  <a:off x="1911134" y="2517678"/>
                  <a:ext cx="3243030" cy="624566"/>
                </a:xfrm>
                <a:prstGeom prst="rect">
                  <a:avLst/>
                </a:prstGeom>
                <a:noFill/>
                <a:ln w="15875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28" name="analyzer-sub1">
                <a:extLst>
                  <a:ext uri="{FF2B5EF4-FFF2-40B4-BE49-F238E27FC236}">
                    <a16:creationId xmlns:a16="http://schemas.microsoft.com/office/drawing/2014/main" id="{A1917658-AA4E-7642-8644-EE7A96898F6E}"/>
                  </a:ext>
                </a:extLst>
              </p:cNvPr>
              <p:cNvSpPr/>
              <p:nvPr/>
            </p:nvSpPr>
            <p:spPr>
              <a:xfrm>
                <a:off x="3850080" y="1586202"/>
                <a:ext cx="1798200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Drive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TDD-based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Implementation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endParaRPr lang="en-US" altLang="zh-CN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" name="analyzer-sub1">
                <a:extLst>
                  <a:ext uri="{FF2B5EF4-FFF2-40B4-BE49-F238E27FC236}">
                    <a16:creationId xmlns:a16="http://schemas.microsoft.com/office/drawing/2014/main" id="{534ADA13-28AC-204F-82AB-CB3F944467B5}"/>
                  </a:ext>
                </a:extLst>
              </p:cNvPr>
              <p:cNvSpPr/>
              <p:nvPr/>
            </p:nvSpPr>
            <p:spPr>
              <a:xfrm>
                <a:off x="3831116" y="1860279"/>
                <a:ext cx="870259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Migrate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</a:p>
            </p:txBody>
          </p:sp>
          <p:sp>
            <p:nvSpPr>
              <p:cNvPr id="30" name="analyzer-sub1">
                <a:extLst>
                  <a:ext uri="{FF2B5EF4-FFF2-40B4-BE49-F238E27FC236}">
                    <a16:creationId xmlns:a16="http://schemas.microsoft.com/office/drawing/2014/main" id="{797DA133-FC96-1A44-9883-AE5843677A04}"/>
                  </a:ext>
                </a:extLst>
              </p:cNvPr>
              <p:cNvSpPr/>
              <p:nvPr/>
            </p:nvSpPr>
            <p:spPr>
              <a:xfrm>
                <a:off x="2499477" y="1855630"/>
                <a:ext cx="1279987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Record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Decisions</a:t>
                </a:r>
              </a:p>
            </p:txBody>
          </p:sp>
          <p:sp>
            <p:nvSpPr>
              <p:cNvPr id="31" name="analyzer-sub1">
                <a:extLst>
                  <a:ext uri="{FF2B5EF4-FFF2-40B4-BE49-F238E27FC236}">
                    <a16:creationId xmlns:a16="http://schemas.microsoft.com/office/drawing/2014/main" id="{32EE57A6-97A2-D147-AC27-C2D081967431}"/>
                  </a:ext>
                </a:extLst>
              </p:cNvPr>
              <p:cNvSpPr/>
              <p:nvPr/>
            </p:nvSpPr>
            <p:spPr>
              <a:xfrm>
                <a:off x="4742179" y="1863173"/>
                <a:ext cx="906101" cy="23524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Update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Contract</a:t>
                </a: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2F3C203-0B91-EF46-86D6-FD2C02AFC4F6}"/>
                </a:ext>
              </a:extLst>
            </p:cNvPr>
            <p:cNvGrpSpPr/>
            <p:nvPr/>
          </p:nvGrpSpPr>
          <p:grpSpPr>
            <a:xfrm>
              <a:off x="4650649" y="2877859"/>
              <a:ext cx="3241199" cy="620040"/>
              <a:chOff x="5886639" y="1539894"/>
              <a:chExt cx="3241199" cy="620040"/>
            </a:xfrm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817235A8-7620-E344-9B82-D8778FF887EF}"/>
                  </a:ext>
                </a:extLst>
              </p:cNvPr>
              <p:cNvGrpSpPr/>
              <p:nvPr/>
            </p:nvGrpSpPr>
            <p:grpSpPr>
              <a:xfrm>
                <a:off x="5886639" y="1539894"/>
                <a:ext cx="3241199" cy="620040"/>
                <a:chOff x="3745368" y="2859627"/>
                <a:chExt cx="3241199" cy="620040"/>
              </a:xfrm>
            </p:grpSpPr>
            <p:sp>
              <p:nvSpPr>
                <p:cNvPr id="71" name="analyzer-title">
                  <a:extLst>
                    <a:ext uri="{FF2B5EF4-FFF2-40B4-BE49-F238E27FC236}">
                      <a16:creationId xmlns:a16="http://schemas.microsoft.com/office/drawing/2014/main" id="{F8ED9317-B0BD-F740-95C8-690E6C2EB497}"/>
                    </a:ext>
                  </a:extLst>
                </p:cNvPr>
                <p:cNvSpPr txBox="1"/>
                <p:nvPr/>
              </p:nvSpPr>
              <p:spPr>
                <a:xfrm>
                  <a:off x="3938849" y="2886857"/>
                  <a:ext cx="774228" cy="29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r>
                    <a:rPr lang="en-US" altLang="zh-CN" sz="1620" b="1" dirty="0">
                      <a:solidFill>
                        <a:schemeClr val="accent4">
                          <a:lumMod val="75000"/>
                        </a:schemeClr>
                      </a:solidFill>
                      <a:latin typeface="Arial"/>
                      <a:ea typeface="Arial"/>
                    </a:rPr>
                    <a:t>Verifier</a:t>
                  </a: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3A721841-9368-1E44-B4D8-1D04D37406C1}"/>
                    </a:ext>
                  </a:extLst>
                </p:cNvPr>
                <p:cNvSpPr/>
                <p:nvPr/>
              </p:nvSpPr>
              <p:spPr>
                <a:xfrm>
                  <a:off x="3745368" y="2859627"/>
                  <a:ext cx="3241199" cy="620040"/>
                </a:xfrm>
                <a:prstGeom prst="rect">
                  <a:avLst/>
                </a:prstGeom>
                <a:noFill/>
                <a:ln w="15875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68" name="analyzer-sub1">
                <a:extLst>
                  <a:ext uri="{FF2B5EF4-FFF2-40B4-BE49-F238E27FC236}">
                    <a16:creationId xmlns:a16="http://schemas.microsoft.com/office/drawing/2014/main" id="{BA11CE8C-C25A-5840-B58B-75FBC1E323B9}"/>
                  </a:ext>
                </a:extLst>
              </p:cNvPr>
              <p:cNvSpPr/>
              <p:nvPr/>
            </p:nvSpPr>
            <p:spPr>
              <a:xfrm>
                <a:off x="7235030" y="1592529"/>
                <a:ext cx="1794589" cy="23425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preservation</a:t>
                </a:r>
              </a:p>
            </p:txBody>
          </p:sp>
          <p:sp>
            <p:nvSpPr>
              <p:cNvPr id="69" name="analyzer-sub1">
                <a:extLst>
                  <a:ext uri="{FF2B5EF4-FFF2-40B4-BE49-F238E27FC236}">
                    <a16:creationId xmlns:a16="http://schemas.microsoft.com/office/drawing/2014/main" id="{EB6B77B4-7109-A041-B6B2-B12A8B18D29C}"/>
                  </a:ext>
                </a:extLst>
              </p:cNvPr>
              <p:cNvSpPr/>
              <p:nvPr/>
            </p:nvSpPr>
            <p:spPr>
              <a:xfrm>
                <a:off x="5949729" y="1865183"/>
                <a:ext cx="1215268" cy="25317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Test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Results</a:t>
                </a:r>
              </a:p>
            </p:txBody>
          </p:sp>
          <p:sp>
            <p:nvSpPr>
              <p:cNvPr id="70" name="analyzer-sub1">
                <a:extLst>
                  <a:ext uri="{FF2B5EF4-FFF2-40B4-BE49-F238E27FC236}">
                    <a16:creationId xmlns:a16="http://schemas.microsoft.com/office/drawing/2014/main" id="{E14352CE-3542-3B49-A15B-BFC32E91B419}"/>
                  </a:ext>
                </a:extLst>
              </p:cNvPr>
              <p:cNvSpPr/>
              <p:nvPr/>
            </p:nvSpPr>
            <p:spPr>
              <a:xfrm>
                <a:off x="7235031" y="1853122"/>
                <a:ext cx="1794588" cy="265235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Check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obligation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satisfaction</a:t>
                </a:r>
              </a:p>
            </p:txBody>
          </p:sp>
        </p:grp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8A92E70-F897-B341-9971-E7622ED1E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6180959" y="2610980"/>
              <a:ext cx="270177" cy="270177"/>
            </a:xfrm>
            <a:prstGeom prst="rect">
              <a:avLst/>
            </a:prstGeom>
          </p:spPr>
        </p:pic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D19D243-8AC6-814A-BF52-0B14EFE3C4A7}"/>
              </a:ext>
            </a:extLst>
          </p:cNvPr>
          <p:cNvSpPr txBox="1"/>
          <p:nvPr/>
        </p:nvSpPr>
        <p:spPr>
          <a:xfrm>
            <a:off x="5388435" y="1981463"/>
            <a:ext cx="2653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Task-Level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pic>
        <p:nvPicPr>
          <p:cNvPr id="116" name="图形 115">
            <a:extLst>
              <a:ext uri="{FF2B5EF4-FFF2-40B4-BE49-F238E27FC236}">
                <a16:creationId xmlns:a16="http://schemas.microsoft.com/office/drawing/2014/main" id="{6BED90C2-E1BC-744B-A9CD-CC69AE5971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9060" y="1961671"/>
            <a:ext cx="400529" cy="400529"/>
          </a:xfrm>
          <a:prstGeom prst="rect">
            <a:avLst/>
          </a:prstGeom>
        </p:spPr>
      </p:pic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DCCC109-52CF-F549-B61F-264ABD337A34}"/>
              </a:ext>
            </a:extLst>
          </p:cNvPr>
          <p:cNvGrpSpPr/>
          <p:nvPr/>
        </p:nvGrpSpPr>
        <p:grpSpPr>
          <a:xfrm>
            <a:off x="3047936" y="4227457"/>
            <a:ext cx="6119422" cy="1778889"/>
            <a:chOff x="2772179" y="3523541"/>
            <a:chExt cx="6119422" cy="1778889"/>
          </a:xfrm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4459017F-6BBB-104F-ACA2-3FC231124435}"/>
                </a:ext>
              </a:extLst>
            </p:cNvPr>
            <p:cNvGrpSpPr/>
            <p:nvPr/>
          </p:nvGrpSpPr>
          <p:grpSpPr>
            <a:xfrm>
              <a:off x="2883595" y="3523541"/>
              <a:ext cx="3959941" cy="1681474"/>
              <a:chOff x="-3292644" y="2242453"/>
              <a:chExt cx="3959941" cy="1681474"/>
            </a:xfrm>
          </p:grpSpPr>
          <p:sp>
            <p:nvSpPr>
              <p:cNvPr id="35" name="shared-label">
                <a:extLst>
                  <a:ext uri="{FF2B5EF4-FFF2-40B4-BE49-F238E27FC236}">
                    <a16:creationId xmlns:a16="http://schemas.microsoft.com/office/drawing/2014/main" id="{CC7ECB83-4C66-0545-9217-9D342A2F966F}"/>
                  </a:ext>
                </a:extLst>
              </p:cNvPr>
              <p:cNvSpPr txBox="1"/>
              <p:nvPr/>
            </p:nvSpPr>
            <p:spPr>
              <a:xfrm>
                <a:off x="-1186225" y="2242453"/>
                <a:ext cx="185352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ctr"/>
                <a:r>
                  <a:rPr lang="en-US" sz="16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Shared Workspace</a:t>
                </a:r>
              </a:p>
            </p:txBody>
          </p:sp>
          <p:sp>
            <p:nvSpPr>
              <p:cNvPr id="36" name="ws-todo-text">
                <a:extLst>
                  <a:ext uri="{FF2B5EF4-FFF2-40B4-BE49-F238E27FC236}">
                    <a16:creationId xmlns:a16="http://schemas.microsoft.com/office/drawing/2014/main" id="{B019819C-7471-2B4B-A385-6AF87A86CA35}"/>
                  </a:ext>
                </a:extLst>
              </p:cNvPr>
              <p:cNvSpPr txBox="1"/>
              <p:nvPr/>
            </p:nvSpPr>
            <p:spPr>
              <a:xfrm>
                <a:off x="-3058334" y="2683786"/>
                <a:ext cx="2596918" cy="247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en-US" sz="1200" b="1" dirty="0">
                    <a:solidFill>
                      <a:srgbClr val="111111"/>
                    </a:solidFill>
                    <a:latin typeface="Arial"/>
                  </a:rPr>
                  <a:t>Behavior-Centered Checklist IR</a:t>
                </a: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72DF8F9D-B1C0-4F41-A7B3-3AAB97390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264607" y="2679390"/>
                <a:ext cx="271090" cy="271090"/>
              </a:xfrm>
              <a:prstGeom prst="rect">
                <a:avLst/>
              </a:prstGeom>
            </p:spPr>
          </p:pic>
          <p:sp>
            <p:nvSpPr>
              <p:cNvPr id="38" name="analyzer-sub3">
                <a:extLst>
                  <a:ext uri="{FF2B5EF4-FFF2-40B4-BE49-F238E27FC236}">
                    <a16:creationId xmlns:a16="http://schemas.microsoft.com/office/drawing/2014/main" id="{F66915CA-A7A5-DC45-991F-5919D2A5030F}"/>
                  </a:ext>
                </a:extLst>
              </p:cNvPr>
              <p:cNvSpPr/>
              <p:nvPr/>
            </p:nvSpPr>
            <p:spPr>
              <a:xfrm>
                <a:off x="-3209237" y="3592901"/>
                <a:ext cx="1119409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Feature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Slice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" name="analyzer-sub3">
                <a:extLst>
                  <a:ext uri="{FF2B5EF4-FFF2-40B4-BE49-F238E27FC236}">
                    <a16:creationId xmlns:a16="http://schemas.microsoft.com/office/drawing/2014/main" id="{A509891B-6201-0D40-BBD1-FF9FF1ACA17E}"/>
                  </a:ext>
                </a:extLst>
              </p:cNvPr>
              <p:cNvSpPr/>
              <p:nvPr/>
            </p:nvSpPr>
            <p:spPr>
              <a:xfrm>
                <a:off x="-1985663" y="3302504"/>
                <a:ext cx="148959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" name="analyzer-sub3">
                <a:extLst>
                  <a:ext uri="{FF2B5EF4-FFF2-40B4-BE49-F238E27FC236}">
                    <a16:creationId xmlns:a16="http://schemas.microsoft.com/office/drawing/2014/main" id="{18BDC368-BC45-5646-BA1A-284B5C8CFA1E}"/>
                  </a:ext>
                </a:extLst>
              </p:cNvPr>
              <p:cNvSpPr/>
              <p:nvPr/>
            </p:nvSpPr>
            <p:spPr>
              <a:xfrm>
                <a:off x="-1981443" y="3010286"/>
                <a:ext cx="148546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Refs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1" name="analyzer-sub3">
                <a:extLst>
                  <a:ext uri="{FF2B5EF4-FFF2-40B4-BE49-F238E27FC236}">
                    <a16:creationId xmlns:a16="http://schemas.microsoft.com/office/drawing/2014/main" id="{5B8FA533-CDB7-A446-8D8F-EF387F3E172D}"/>
                  </a:ext>
                </a:extLst>
              </p:cNvPr>
              <p:cNvSpPr/>
              <p:nvPr/>
            </p:nvSpPr>
            <p:spPr>
              <a:xfrm>
                <a:off x="-3205709" y="3009309"/>
                <a:ext cx="113112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Priority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&amp;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Order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2" name="analyzer-sub3">
                <a:extLst>
                  <a:ext uri="{FF2B5EF4-FFF2-40B4-BE49-F238E27FC236}">
                    <a16:creationId xmlns:a16="http://schemas.microsoft.com/office/drawing/2014/main" id="{86106097-085D-4D43-B47F-0BBC434D9235}"/>
                  </a:ext>
                </a:extLst>
              </p:cNvPr>
              <p:cNvSpPr/>
              <p:nvPr/>
            </p:nvSpPr>
            <p:spPr>
              <a:xfrm>
                <a:off x="-3213271" y="3304650"/>
                <a:ext cx="112485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Validation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Plan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3" name="analyzer-sub3">
                <a:extLst>
                  <a:ext uri="{FF2B5EF4-FFF2-40B4-BE49-F238E27FC236}">
                    <a16:creationId xmlns:a16="http://schemas.microsoft.com/office/drawing/2014/main" id="{7D61BF1A-5532-BE44-B679-69A9D553E92E}"/>
                  </a:ext>
                </a:extLst>
              </p:cNvPr>
              <p:cNvSpPr/>
              <p:nvPr/>
            </p:nvSpPr>
            <p:spPr>
              <a:xfrm>
                <a:off x="-1978274" y="3593518"/>
                <a:ext cx="1482208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6D4A8BD-C027-014B-A6FD-CFD4C25857E7}"/>
                  </a:ext>
                </a:extLst>
              </p:cNvPr>
              <p:cNvSpPr/>
              <p:nvPr/>
            </p:nvSpPr>
            <p:spPr>
              <a:xfrm>
                <a:off x="-3292644" y="2652241"/>
                <a:ext cx="2861518" cy="1271686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46" name="ws-repair">
              <a:extLst>
                <a:ext uri="{FF2B5EF4-FFF2-40B4-BE49-F238E27FC236}">
                  <a16:creationId xmlns:a16="http://schemas.microsoft.com/office/drawing/2014/main" id="{706C6BD9-E23D-2949-A160-81B7A9DBA183}"/>
                </a:ext>
              </a:extLst>
            </p:cNvPr>
            <p:cNvSpPr/>
            <p:nvPr/>
          </p:nvSpPr>
          <p:spPr>
            <a:xfrm>
              <a:off x="5946079" y="4241927"/>
              <a:ext cx="1216625" cy="28341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E46070F-2C97-234E-A4DA-7BEE452B0277}"/>
                </a:ext>
              </a:extLst>
            </p:cNvPr>
            <p:cNvGrpSpPr/>
            <p:nvPr/>
          </p:nvGrpSpPr>
          <p:grpSpPr>
            <a:xfrm>
              <a:off x="5944648" y="3906573"/>
              <a:ext cx="1218056" cy="277867"/>
              <a:chOff x="2222784" y="5381886"/>
              <a:chExt cx="1218056" cy="277867"/>
            </a:xfrm>
          </p:grpSpPr>
          <p:sp>
            <p:nvSpPr>
              <p:cNvPr id="63" name="ws-scan">
                <a:extLst>
                  <a:ext uri="{FF2B5EF4-FFF2-40B4-BE49-F238E27FC236}">
                    <a16:creationId xmlns:a16="http://schemas.microsoft.com/office/drawing/2014/main" id="{97F938BF-5D39-6C4E-803B-D6FF1A3EA5F2}"/>
                  </a:ext>
                </a:extLst>
              </p:cNvPr>
              <p:cNvSpPr/>
              <p:nvPr/>
            </p:nvSpPr>
            <p:spPr>
              <a:xfrm>
                <a:off x="2222784" y="5381886"/>
                <a:ext cx="1218056" cy="277867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4" name="ws-scan-text">
                <a:extLst>
                  <a:ext uri="{FF2B5EF4-FFF2-40B4-BE49-F238E27FC236}">
                    <a16:creationId xmlns:a16="http://schemas.microsoft.com/office/drawing/2014/main" id="{9C473926-44A7-4341-B4A8-5C5140436DA1}"/>
                  </a:ext>
                </a:extLst>
              </p:cNvPr>
              <p:cNvSpPr txBox="1"/>
              <p:nvPr/>
            </p:nvSpPr>
            <p:spPr>
              <a:xfrm>
                <a:off x="2418080" y="5431938"/>
                <a:ext cx="914400" cy="1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can</a:t>
                </a: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E00CFD1-6882-BD4D-B5EB-372A527849E3}"/>
                </a:ext>
              </a:extLst>
            </p:cNvPr>
            <p:cNvGrpSpPr/>
            <p:nvPr/>
          </p:nvGrpSpPr>
          <p:grpSpPr>
            <a:xfrm>
              <a:off x="7227547" y="3899453"/>
              <a:ext cx="1552011" cy="271934"/>
              <a:chOff x="2131917" y="5409007"/>
              <a:chExt cx="1552011" cy="271934"/>
            </a:xfrm>
          </p:grpSpPr>
          <p:sp>
            <p:nvSpPr>
              <p:cNvPr id="61" name="ws-ledger">
                <a:extLst>
                  <a:ext uri="{FF2B5EF4-FFF2-40B4-BE49-F238E27FC236}">
                    <a16:creationId xmlns:a16="http://schemas.microsoft.com/office/drawing/2014/main" id="{C157A98D-212C-9744-B33B-A316CEFAD0B4}"/>
                  </a:ext>
                </a:extLst>
              </p:cNvPr>
              <p:cNvSpPr/>
              <p:nvPr/>
            </p:nvSpPr>
            <p:spPr>
              <a:xfrm>
                <a:off x="2131917" y="5409007"/>
                <a:ext cx="1534751" cy="27193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2" name="ws-ledger-text">
                <a:extLst>
                  <a:ext uri="{FF2B5EF4-FFF2-40B4-BE49-F238E27FC236}">
                    <a16:creationId xmlns:a16="http://schemas.microsoft.com/office/drawing/2014/main" id="{2E102C04-1C70-564C-A709-382300F73D69}"/>
                  </a:ext>
                </a:extLst>
              </p:cNvPr>
              <p:cNvSpPr txBox="1"/>
              <p:nvPr/>
            </p:nvSpPr>
            <p:spPr>
              <a:xfrm>
                <a:off x="2171796" y="5466178"/>
                <a:ext cx="1512132" cy="189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Translation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L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edger</a:t>
                </a:r>
              </a:p>
            </p:txBody>
          </p:sp>
        </p:grp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539D36D-5632-0B40-A91F-14F4DC0FFC06}"/>
                </a:ext>
              </a:extLst>
            </p:cNvPr>
            <p:cNvSpPr/>
            <p:nvPr/>
          </p:nvSpPr>
          <p:spPr>
            <a:xfrm>
              <a:off x="2772179" y="3796539"/>
              <a:ext cx="6119422" cy="150589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ws-decision-text">
              <a:extLst>
                <a:ext uri="{FF2B5EF4-FFF2-40B4-BE49-F238E27FC236}">
                  <a16:creationId xmlns:a16="http://schemas.microsoft.com/office/drawing/2014/main" id="{4678D838-E801-5540-A5F5-E75D126729BC}"/>
                </a:ext>
              </a:extLst>
            </p:cNvPr>
            <p:cNvSpPr txBox="1"/>
            <p:nvPr/>
          </p:nvSpPr>
          <p:spPr>
            <a:xfrm>
              <a:off x="6060089" y="4963621"/>
              <a:ext cx="1166313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Agent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Report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1" name="ws-scan-text">
              <a:extLst>
                <a:ext uri="{FF2B5EF4-FFF2-40B4-BE49-F238E27FC236}">
                  <a16:creationId xmlns:a16="http://schemas.microsoft.com/office/drawing/2014/main" id="{DE5A08CE-BDBF-D744-8104-87A7F1D205EC}"/>
                </a:ext>
              </a:extLst>
            </p:cNvPr>
            <p:cNvSpPr txBox="1"/>
            <p:nvPr/>
          </p:nvSpPr>
          <p:spPr>
            <a:xfrm>
              <a:off x="6060089" y="4242180"/>
              <a:ext cx="1103035" cy="272832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Decision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Log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2" name="ws-scan-text">
              <a:extLst>
                <a:ext uri="{FF2B5EF4-FFF2-40B4-BE49-F238E27FC236}">
                  <a16:creationId xmlns:a16="http://schemas.microsoft.com/office/drawing/2014/main" id="{9D1C4ED8-8244-074A-B448-574DE2ECDAE9}"/>
                </a:ext>
              </a:extLst>
            </p:cNvPr>
            <p:cNvSpPr txBox="1"/>
            <p:nvPr/>
          </p:nvSpPr>
          <p:spPr>
            <a:xfrm>
              <a:off x="7344707" y="4597028"/>
              <a:ext cx="1441071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Feature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Contract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3" name="ws-decision-text">
              <a:extLst>
                <a:ext uri="{FF2B5EF4-FFF2-40B4-BE49-F238E27FC236}">
                  <a16:creationId xmlns:a16="http://schemas.microsoft.com/office/drawing/2014/main" id="{31B5A0CB-664D-CF4F-8FBF-C15970B133F2}"/>
                </a:ext>
              </a:extLst>
            </p:cNvPr>
            <p:cNvSpPr txBox="1"/>
            <p:nvPr/>
          </p:nvSpPr>
          <p:spPr>
            <a:xfrm>
              <a:off x="6085944" y="4627368"/>
              <a:ext cx="10224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Issue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Queue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4" name="ws-decision-text">
              <a:extLst>
                <a:ext uri="{FF2B5EF4-FFF2-40B4-BE49-F238E27FC236}">
                  <a16:creationId xmlns:a16="http://schemas.microsoft.com/office/drawing/2014/main" id="{09F23ECC-13FC-3D42-B543-85FC948F77E0}"/>
                </a:ext>
              </a:extLst>
            </p:cNvPr>
            <p:cNvSpPr txBox="1"/>
            <p:nvPr/>
          </p:nvSpPr>
          <p:spPr>
            <a:xfrm>
              <a:off x="7325567" y="4275439"/>
              <a:ext cx="1415073" cy="194358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Progress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Memory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5" name="ws-decision-text">
              <a:extLst>
                <a:ext uri="{FF2B5EF4-FFF2-40B4-BE49-F238E27FC236}">
                  <a16:creationId xmlns:a16="http://schemas.microsoft.com/office/drawing/2014/main" id="{CCFA014F-ED04-BB41-B6AA-BD3E6765EFD8}"/>
                </a:ext>
              </a:extLst>
            </p:cNvPr>
            <p:cNvSpPr txBox="1"/>
            <p:nvPr/>
          </p:nvSpPr>
          <p:spPr>
            <a:xfrm>
              <a:off x="7215886" y="4965563"/>
              <a:ext cx="1563672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Verified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Gate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History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6" name="ws-scan">
              <a:extLst>
                <a:ext uri="{FF2B5EF4-FFF2-40B4-BE49-F238E27FC236}">
                  <a16:creationId xmlns:a16="http://schemas.microsoft.com/office/drawing/2014/main" id="{CA705341-8677-2B42-B2A1-1EECCB50E14F}"/>
                </a:ext>
              </a:extLst>
            </p:cNvPr>
            <p:cNvSpPr/>
            <p:nvPr/>
          </p:nvSpPr>
          <p:spPr>
            <a:xfrm>
              <a:off x="7229407" y="4240822"/>
              <a:ext cx="1550151" cy="27786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 dirty="0"/>
            </a:p>
          </p:txBody>
        </p:sp>
        <p:sp>
          <p:nvSpPr>
            <p:cNvPr id="57" name="ws-repair">
              <a:extLst>
                <a:ext uri="{FF2B5EF4-FFF2-40B4-BE49-F238E27FC236}">
                  <a16:creationId xmlns:a16="http://schemas.microsoft.com/office/drawing/2014/main" id="{C9EDB408-6355-B445-A640-F00D6E2979BD}"/>
                </a:ext>
              </a:extLst>
            </p:cNvPr>
            <p:cNvSpPr/>
            <p:nvPr/>
          </p:nvSpPr>
          <p:spPr>
            <a:xfrm>
              <a:off x="5946079" y="4582030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8" name="ws-repair">
              <a:extLst>
                <a:ext uri="{FF2B5EF4-FFF2-40B4-BE49-F238E27FC236}">
                  <a16:creationId xmlns:a16="http://schemas.microsoft.com/office/drawing/2014/main" id="{664F5E0A-3E1F-FD4B-A5C7-54DB68CB6069}"/>
                </a:ext>
              </a:extLst>
            </p:cNvPr>
            <p:cNvSpPr/>
            <p:nvPr/>
          </p:nvSpPr>
          <p:spPr>
            <a:xfrm>
              <a:off x="7227547" y="4580233"/>
              <a:ext cx="155823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9" name="ws-repair">
              <a:extLst>
                <a:ext uri="{FF2B5EF4-FFF2-40B4-BE49-F238E27FC236}">
                  <a16:creationId xmlns:a16="http://schemas.microsoft.com/office/drawing/2014/main" id="{DE24D773-FF0E-FC46-852A-2A7EDD72C0F7}"/>
                </a:ext>
              </a:extLst>
            </p:cNvPr>
            <p:cNvSpPr/>
            <p:nvPr/>
          </p:nvSpPr>
          <p:spPr>
            <a:xfrm>
              <a:off x="5944648" y="4921598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60" name="ws-repair">
              <a:extLst>
                <a:ext uri="{FF2B5EF4-FFF2-40B4-BE49-F238E27FC236}">
                  <a16:creationId xmlns:a16="http://schemas.microsoft.com/office/drawing/2014/main" id="{EDA189A1-5340-B047-BEAA-BBBEBB749C58}"/>
                </a:ext>
              </a:extLst>
            </p:cNvPr>
            <p:cNvSpPr/>
            <p:nvPr/>
          </p:nvSpPr>
          <p:spPr>
            <a:xfrm>
              <a:off x="7227547" y="4921598"/>
              <a:ext cx="155201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cxnSp>
        <p:nvCxnSpPr>
          <p:cNvPr id="174" name="直线箭头连接符 173">
            <a:extLst>
              <a:ext uri="{FF2B5EF4-FFF2-40B4-BE49-F238E27FC236}">
                <a16:creationId xmlns:a16="http://schemas.microsoft.com/office/drawing/2014/main" id="{31509337-8577-A448-8C9D-F2C9126866E0}"/>
              </a:ext>
            </a:extLst>
          </p:cNvPr>
          <p:cNvCxnSpPr>
            <a:cxnSpLocks/>
          </p:cNvCxnSpPr>
          <p:nvPr/>
        </p:nvCxnSpPr>
        <p:spPr>
          <a:xfrm>
            <a:off x="4821599" y="4186327"/>
            <a:ext cx="0" cy="245231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标题 10">
            <a:extLst>
              <a:ext uri="{FF2B5EF4-FFF2-40B4-BE49-F238E27FC236}">
                <a16:creationId xmlns:a16="http://schemas.microsoft.com/office/drawing/2014/main" id="{FF86A0CD-9FCA-EC41-81BD-7FF79D7140CA}"/>
              </a:ext>
            </a:extLst>
          </p:cNvPr>
          <p:cNvSpPr>
            <a:spLocks noGrp="1"/>
          </p:cNvSpPr>
          <p:nvPr/>
        </p:nvSpPr>
        <p:spPr>
          <a:xfrm>
            <a:off x="464128" y="543748"/>
            <a:ext cx="10121046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多级验证机制：</a:t>
            </a:r>
            <a:r>
              <a:rPr lang="en-US" altLang="zh-CN" dirty="0">
                <a:sym typeface="+mn-ea"/>
              </a:rPr>
              <a:t>Task-level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Verification</a:t>
            </a:r>
            <a:endParaRPr lang="zh-CN" altLang="en-US" dirty="0">
              <a:sym typeface="+mn-ea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E61F82D-FBC6-E840-AE5A-A75998AA0067}"/>
              </a:ext>
            </a:extLst>
          </p:cNvPr>
          <p:cNvSpPr txBox="1"/>
          <p:nvPr/>
        </p:nvSpPr>
        <p:spPr>
          <a:xfrm>
            <a:off x="525548" y="1224260"/>
            <a:ext cx="378799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1200" dirty="0"/>
              <a:t>Verifier </a:t>
            </a:r>
            <a:r>
              <a:rPr kumimoji="1" lang="zh-CN" altLang="en-US" sz="1200" dirty="0"/>
              <a:t>首先检查当前交付是否具备可验收条件。在契约完整后，</a:t>
            </a:r>
            <a:r>
              <a:rPr kumimoji="1" lang="en-US" altLang="zh-CN" sz="1200" dirty="0"/>
              <a:t> Verifier</a:t>
            </a:r>
            <a:r>
              <a:rPr kumimoji="1" lang="zh-CN" altLang="en-US" sz="1200" dirty="0"/>
              <a:t>会逐项验证当前 </a:t>
            </a:r>
            <a:r>
              <a:rPr kumimoji="1" lang="en-US" altLang="zh-CN" sz="1200" dirty="0"/>
              <a:t>Todo Unit </a:t>
            </a:r>
            <a:r>
              <a:rPr kumimoji="1" lang="zh-CN" altLang="en-US" sz="1200" dirty="0"/>
              <a:t>的 </a:t>
            </a:r>
            <a:r>
              <a:rPr kumimoji="1" lang="en-US" altLang="zh-CN" sz="1200" dirty="0"/>
              <a:t>claimed behaviors </a:t>
            </a:r>
            <a:r>
              <a:rPr kumimoji="1" lang="zh-CN" altLang="en-US" sz="1200" dirty="0"/>
              <a:t>是否</a:t>
            </a:r>
            <a:r>
              <a:rPr kumimoji="1" lang="zh-CN" altLang="en-US" sz="1200" dirty="0">
                <a:solidFill>
                  <a:srgbClr val="C00000"/>
                </a:solidFill>
              </a:rPr>
              <a:t>真实保留了源行为</a:t>
            </a:r>
            <a:endParaRPr kumimoji="1" lang="en-US" altLang="zh-CN" sz="1200" dirty="0">
              <a:solidFill>
                <a:srgbClr val="C00000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会对照源代码、源测试、目标代码、目标测试和运行证据，检查当前能力是否走的是</a:t>
            </a:r>
            <a:r>
              <a:rPr kumimoji="1" lang="zh-CN" altLang="en-US" sz="1200" dirty="0">
                <a:solidFill>
                  <a:srgbClr val="C00000"/>
                </a:solidFill>
              </a:rPr>
              <a:t>生产路径</a:t>
            </a:r>
            <a:r>
              <a:rPr kumimoji="1" lang="zh-CN" altLang="en-US" sz="1200" dirty="0"/>
              <a:t>，而不是 </a:t>
            </a:r>
            <a:r>
              <a:rPr kumimoji="1" lang="en-US" altLang="zh-CN" sz="1200" dirty="0"/>
              <a:t>test-only </a:t>
            </a:r>
            <a:r>
              <a:rPr kumimoji="1" lang="zh-CN" altLang="en-US" sz="1200" dirty="0"/>
              <a:t>绕过</a:t>
            </a:r>
            <a:endParaRPr kumimoji="1" lang="en-US" altLang="zh-C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rgbClr val="C00000"/>
                </a:solidFill>
              </a:rPr>
              <a:t>检查断言是否被弱化</a:t>
            </a:r>
            <a:r>
              <a:rPr kumimoji="1" lang="zh-CN" altLang="en-US" sz="1200" dirty="0"/>
              <a:t>，</a:t>
            </a:r>
            <a:r>
              <a:rPr kumimoji="1" lang="en-US" altLang="zh-CN" sz="1200" dirty="0"/>
              <a:t>mock </a:t>
            </a:r>
            <a:r>
              <a:rPr kumimoji="1" lang="zh-CN" altLang="en-US" sz="1200" dirty="0"/>
              <a:t>是否只用于真实外部边界，序列化、配置、异常、并发、</a:t>
            </a:r>
            <a:r>
              <a:rPr kumimoji="1" lang="en-US" altLang="zh-CN" sz="1200" dirty="0"/>
              <a:t>IO</a:t>
            </a:r>
            <a:r>
              <a:rPr kumimoji="1" lang="zh-CN" altLang="en-US" sz="1200" dirty="0"/>
              <a:t>、依赖边界是否仍然兼容。对于后端，重点会落在 </a:t>
            </a:r>
            <a:r>
              <a:rPr kumimoji="1" lang="en-US" altLang="zh-CN" sz="1200" dirty="0"/>
              <a:t>API</a:t>
            </a:r>
            <a:r>
              <a:rPr kumimoji="1" lang="zh-CN" altLang="en-US" sz="1200" dirty="0"/>
              <a:t>、服务入口、</a:t>
            </a:r>
            <a:r>
              <a:rPr kumimoji="1" lang="en-US" altLang="zh-CN" sz="1200" dirty="0"/>
              <a:t>CLI</a:t>
            </a:r>
            <a:r>
              <a:rPr kumimoji="1" lang="zh-CN" altLang="en-US" sz="1200" dirty="0"/>
              <a:t>、数据边界和最小运行</a:t>
            </a:r>
            <a:r>
              <a:rPr kumimoji="1" lang="en-US" altLang="zh-CN" sz="1200" dirty="0"/>
              <a:t>smoke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对于 </a:t>
            </a:r>
            <a:r>
              <a:rPr kumimoji="1" lang="en-US" altLang="zh-CN" sz="1200" dirty="0"/>
              <a:t>UI</a:t>
            </a:r>
            <a:r>
              <a:rPr kumimoji="1" lang="zh-CN" altLang="en-US" sz="1200" dirty="0"/>
              <a:t>，还会额外</a:t>
            </a:r>
            <a:r>
              <a:rPr kumimoji="1" lang="zh-CN" altLang="en-US" sz="1200" dirty="0">
                <a:solidFill>
                  <a:srgbClr val="C00000"/>
                </a:solidFill>
              </a:rPr>
              <a:t>核对页面截图基线</a:t>
            </a:r>
            <a:r>
              <a:rPr kumimoji="1" lang="zh-CN" altLang="en-US" sz="1200" dirty="0"/>
              <a:t>、页面结构、路由参数、关键交互和平台能力调用链，确认“页面能打开”不等于“页面已正确迁移”</a:t>
            </a:r>
            <a:endParaRPr kumimoji="1"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最后，</a:t>
            </a:r>
            <a:r>
              <a:rPr kumimoji="1" lang="en-US" altLang="zh-CN" sz="1200" dirty="0"/>
              <a:t> Verifier</a:t>
            </a:r>
            <a:r>
              <a:rPr kumimoji="1" lang="zh-CN" altLang="en-US" sz="1200" dirty="0"/>
              <a:t>会把当前 </a:t>
            </a:r>
            <a:r>
              <a:rPr kumimoji="1" lang="en-US" altLang="zh-CN" sz="1200" dirty="0"/>
              <a:t>Todo </a:t>
            </a:r>
            <a:r>
              <a:rPr kumimoji="1" lang="zh-CN" altLang="en-US" sz="1200" dirty="0"/>
              <a:t>的局部验证与一次轻量全局扫描结合。</a:t>
            </a:r>
            <a:endParaRPr kumimoji="1" lang="en-US" altLang="zh-CN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8DC537DC-5AB4-8847-897B-FBF9FDD672A9}"/>
              </a:ext>
            </a:extLst>
          </p:cNvPr>
          <p:cNvSpPr txBox="1"/>
          <p:nvPr/>
        </p:nvSpPr>
        <p:spPr>
          <a:xfrm>
            <a:off x="8275958" y="859042"/>
            <a:ext cx="3756887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050" dirty="0"/>
              <a:t>Translator</a:t>
            </a:r>
            <a:r>
              <a:rPr kumimoji="1" lang="zh-CN" altLang="en-US" sz="1050" dirty="0"/>
              <a:t>选择</a:t>
            </a:r>
            <a:r>
              <a:rPr kumimoji="1" lang="en-US" altLang="zh-CN" sz="1050" dirty="0"/>
              <a:t>Checklist</a:t>
            </a:r>
            <a:r>
              <a:rPr kumimoji="1" lang="zh-CN" altLang="en-US" sz="1050" dirty="0"/>
              <a:t>中未被完成与阻塞的</a:t>
            </a:r>
            <a:r>
              <a:rPr kumimoji="1" lang="en-US" altLang="zh-CN" sz="1050" dirty="0"/>
              <a:t>Todo</a:t>
            </a:r>
            <a:r>
              <a:rPr kumimoji="1" lang="zh-CN" altLang="en-US" sz="1050" dirty="0"/>
              <a:t>开始翻译，按照</a:t>
            </a:r>
            <a:r>
              <a:rPr kumimoji="1" lang="en-US" altLang="zh-CN" sz="1050" dirty="0"/>
              <a:t>Red-Green-Refactor-Smoke</a:t>
            </a:r>
            <a:r>
              <a:rPr kumimoji="1" lang="zh-CN" altLang="en-US" sz="1050" dirty="0"/>
              <a:t>的流程进行迭代翻译</a:t>
            </a:r>
            <a:endParaRPr kumimoji="1" lang="en-US" altLang="zh-CN" sz="10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050" dirty="0"/>
              <a:t>Red</a:t>
            </a:r>
            <a:r>
              <a:rPr kumimoji="1" lang="zh-CN" altLang="en-US" sz="1050" dirty="0"/>
              <a:t>：</a:t>
            </a:r>
            <a:r>
              <a:rPr kumimoji="1" lang="zh-CN" altLang="en-US" sz="1050" dirty="0">
                <a:solidFill>
                  <a:srgbClr val="C00000"/>
                </a:solidFill>
              </a:rPr>
              <a:t>先暴露当前能力的行为缺口</a:t>
            </a:r>
            <a:endParaRPr kumimoji="1" lang="en-US" altLang="zh-CN" sz="1050" dirty="0">
              <a:solidFill>
                <a:srgbClr val="C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把当前 </a:t>
            </a:r>
            <a:r>
              <a:rPr kumimoji="1" lang="en-US" altLang="zh-CN" sz="1050" dirty="0"/>
              <a:t>Todo </a:t>
            </a:r>
            <a:r>
              <a:rPr kumimoji="1" lang="zh-CN" altLang="en-US" sz="1050" dirty="0"/>
              <a:t>对应的源测试、</a:t>
            </a:r>
            <a:r>
              <a:rPr kumimoji="1" lang="en-US" altLang="zh-CN" sz="1050" dirty="0"/>
              <a:t>UI/instrumentation </a:t>
            </a:r>
            <a:r>
              <a:rPr kumimoji="1" lang="zh-CN" altLang="en-US" sz="1050" dirty="0"/>
              <a:t>测试或关键用户动作验证翻译为仓颉目标测试</a:t>
            </a:r>
            <a:r>
              <a:rPr kumimoji="1" lang="en-US" altLang="zh-CN" sz="1050" dirty="0"/>
              <a:t>/</a:t>
            </a:r>
            <a:r>
              <a:rPr kumimoji="1" lang="zh-CN" altLang="en-US" sz="1050" dirty="0"/>
              <a:t>验证动作；无法直接翻译时，编写行为等价的目标测试、页面流验证或平台能力验证动作，并记录原因。</a:t>
            </a:r>
            <a:endParaRPr kumimoji="1" lang="en-US" altLang="zh-CN" sz="10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050" dirty="0"/>
              <a:t>Green</a:t>
            </a:r>
            <a:r>
              <a:rPr kumimoji="1" lang="zh-CN" altLang="en-US" sz="1050" dirty="0"/>
              <a:t>：</a:t>
            </a:r>
            <a:r>
              <a:rPr kumimoji="1" lang="zh-CN" altLang="en-US" sz="1050" dirty="0">
                <a:solidFill>
                  <a:srgbClr val="C00000"/>
                </a:solidFill>
              </a:rPr>
              <a:t>围绕</a:t>
            </a:r>
            <a:r>
              <a:rPr kumimoji="1" lang="en-US" altLang="zh-CN" sz="1050" dirty="0">
                <a:solidFill>
                  <a:srgbClr val="C00000"/>
                </a:solidFill>
              </a:rPr>
              <a:t>Feature</a:t>
            </a:r>
            <a:r>
              <a:rPr kumimoji="1" lang="zh-CN" altLang="en-US" sz="1050" dirty="0">
                <a:solidFill>
                  <a:srgbClr val="C00000"/>
                </a:solidFill>
              </a:rPr>
              <a:t> </a:t>
            </a:r>
            <a:r>
              <a:rPr kumimoji="1" lang="en-US" altLang="zh-CN" sz="1050" dirty="0">
                <a:solidFill>
                  <a:srgbClr val="C00000"/>
                </a:solidFill>
              </a:rPr>
              <a:t>Slice</a:t>
            </a:r>
            <a:r>
              <a:rPr kumimoji="1" lang="zh-CN" altLang="en-US" sz="1050" dirty="0">
                <a:solidFill>
                  <a:srgbClr val="C00000"/>
                </a:solidFill>
              </a:rPr>
              <a:t>做最小必要迁移</a:t>
            </a:r>
            <a:endParaRPr kumimoji="1" lang="en-US" altLang="zh-CN" sz="1050" dirty="0">
              <a:solidFill>
                <a:srgbClr val="C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把源端行为映射到目标仓颉实现，并补齐对应测试、适配层、路由、页面、接口或依赖边界，使当前 </a:t>
            </a:r>
            <a:r>
              <a:rPr kumimoji="1" lang="en-US" altLang="zh-CN" sz="1050" dirty="0"/>
              <a:t>To-do Unit </a:t>
            </a:r>
            <a:r>
              <a:rPr kumimoji="1" lang="zh-CN" altLang="en-US" sz="1050" dirty="0"/>
              <a:t>在目标侧首次达到可通过状态。</a:t>
            </a:r>
            <a:endParaRPr kumimoji="1" lang="en-US" altLang="zh-CN" sz="10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050" dirty="0"/>
              <a:t>Refactor</a:t>
            </a:r>
            <a:r>
              <a:rPr kumimoji="1" lang="zh-CN" altLang="en-US" sz="1050" dirty="0"/>
              <a:t>：</a:t>
            </a:r>
            <a:r>
              <a:rPr kumimoji="1" lang="zh-CN" altLang="en-US" sz="1050" dirty="0">
                <a:solidFill>
                  <a:srgbClr val="C00000"/>
                </a:solidFill>
              </a:rPr>
              <a:t>整理代码结构</a:t>
            </a:r>
            <a:endParaRPr kumimoji="1" lang="en-US" altLang="zh-CN" sz="1050" dirty="0">
              <a:solidFill>
                <a:srgbClr val="C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会消除临时性补丁、收敛重复逻辑、稳定模块边界，并把依赖决策、偏差说明、行为映射和验证证据写回状态文件，确保实现不仅能通过，而且后续 </a:t>
            </a:r>
            <a:r>
              <a:rPr kumimoji="1" lang="en-US" altLang="zh-CN" sz="1050" dirty="0"/>
              <a:t>Todo </a:t>
            </a:r>
            <a:r>
              <a:rPr kumimoji="1" lang="zh-CN" altLang="en-US" sz="1050" dirty="0"/>
              <a:t>可以安全复用。</a:t>
            </a:r>
            <a:endParaRPr kumimoji="1" lang="en-US" altLang="zh-CN" sz="10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050" dirty="0"/>
              <a:t>Smoke</a:t>
            </a:r>
            <a:r>
              <a:rPr kumimoji="1" lang="zh-CN" altLang="en-US" sz="1050" dirty="0"/>
              <a:t>：</a:t>
            </a:r>
            <a:r>
              <a:rPr kumimoji="1" lang="zh-CN" altLang="en-US" sz="1050" dirty="0">
                <a:solidFill>
                  <a:srgbClr val="C00000"/>
                </a:solidFill>
              </a:rPr>
              <a:t>对当前 </a:t>
            </a:r>
            <a:r>
              <a:rPr kumimoji="1" lang="en-US" altLang="zh-CN" sz="1050" dirty="0">
                <a:solidFill>
                  <a:srgbClr val="C00000"/>
                </a:solidFill>
              </a:rPr>
              <a:t>To-do Unit </a:t>
            </a:r>
            <a:r>
              <a:rPr kumimoji="1" lang="zh-CN" altLang="en-US" sz="1050" dirty="0">
                <a:solidFill>
                  <a:srgbClr val="C00000"/>
                </a:solidFill>
              </a:rPr>
              <a:t>做轻量真实路径验证</a:t>
            </a:r>
            <a:endParaRPr kumimoji="1" lang="en-US" altLang="zh-CN" sz="1050" dirty="0">
              <a:solidFill>
                <a:srgbClr val="C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后端通常检查构建、测试、</a:t>
            </a:r>
            <a:r>
              <a:rPr kumimoji="1" lang="en-US" altLang="zh-CN" sz="1050" dirty="0"/>
              <a:t>CLI </a:t>
            </a:r>
            <a:r>
              <a:rPr kumimoji="1" lang="zh-CN" altLang="en-US" sz="1050" dirty="0"/>
              <a:t>或 </a:t>
            </a:r>
            <a:r>
              <a:rPr kumimoji="1" lang="en-US" altLang="zh-CN" sz="1050" dirty="0"/>
              <a:t>service smoke</a:t>
            </a:r>
            <a:r>
              <a:rPr kumimoji="1" lang="zh-CN" altLang="en-US" sz="1050" dirty="0"/>
              <a:t>；</a:t>
            </a:r>
            <a:r>
              <a:rPr kumimoji="1" lang="en-US" altLang="zh-CN" sz="1050" dirty="0"/>
              <a:t>UI </a:t>
            </a:r>
            <a:r>
              <a:rPr kumimoji="1" lang="zh-CN" altLang="en-US" sz="1050" dirty="0"/>
              <a:t>则额外检查页面首帧、页面流、路由参数、关键交互、设备能力和截图对照。</a:t>
            </a:r>
            <a:endParaRPr kumimoji="1" lang="en-US" altLang="zh-CN" sz="1050" dirty="0"/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C6A39344-1548-B847-9D02-4D43738B398F}"/>
              </a:ext>
            </a:extLst>
          </p:cNvPr>
          <p:cNvSpPr/>
          <p:nvPr/>
        </p:nvSpPr>
        <p:spPr>
          <a:xfrm>
            <a:off x="485409" y="6061259"/>
            <a:ext cx="11382437" cy="6492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将翻译推进粒度收敛到 </a:t>
            </a:r>
            <a:r>
              <a:rPr lang="en-US" altLang="zh-CN" dirty="0"/>
              <a:t>Checklist IR </a:t>
            </a:r>
            <a:r>
              <a:rPr lang="zh-CN" altLang="en-US" dirty="0"/>
              <a:t>中的每个独立 </a:t>
            </a:r>
            <a:r>
              <a:rPr lang="en-US" altLang="zh-CN" dirty="0" err="1"/>
              <a:t>todo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通过 </a:t>
            </a:r>
            <a:r>
              <a:rPr lang="en-US" altLang="zh-CN" dirty="0"/>
              <a:t>TDD</a:t>
            </a:r>
            <a:r>
              <a:rPr lang="zh-CN" altLang="en-US" dirty="0"/>
              <a:t>执行</a:t>
            </a:r>
            <a:r>
              <a:rPr lang="en-US" altLang="zh-CN" dirty="0"/>
              <a:t> </a:t>
            </a:r>
            <a:r>
              <a:rPr lang="zh-CN" altLang="en-US" dirty="0"/>
              <a:t>与独立 </a:t>
            </a:r>
            <a:r>
              <a:rPr lang="en-US" altLang="zh-CN" dirty="0"/>
              <a:t>Verifier </a:t>
            </a:r>
            <a:r>
              <a:rPr lang="zh-CN" altLang="en-US" dirty="0"/>
              <a:t>共同确认行为保留、证据完整和义务闭合，避免任务越界与弱证据完成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6311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>
            <a:extLst>
              <a:ext uri="{FF2B5EF4-FFF2-40B4-BE49-F238E27FC236}">
                <a16:creationId xmlns:a16="http://schemas.microsoft.com/office/drawing/2014/main" id="{89A31499-DD64-6044-AA02-6C3642B1BD88}"/>
              </a:ext>
            </a:extLst>
          </p:cNvPr>
          <p:cNvSpPr/>
          <p:nvPr/>
        </p:nvSpPr>
        <p:spPr>
          <a:xfrm>
            <a:off x="6248312" y="1802513"/>
            <a:ext cx="2758781" cy="39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62C4C83-A32E-4F47-ADCD-AE8BE0760C8B}"/>
              </a:ext>
            </a:extLst>
          </p:cNvPr>
          <p:cNvGrpSpPr/>
          <p:nvPr/>
        </p:nvGrpSpPr>
        <p:grpSpPr>
          <a:xfrm>
            <a:off x="7305220" y="2316663"/>
            <a:ext cx="1707886" cy="3547146"/>
            <a:chOff x="9182160" y="2973752"/>
            <a:chExt cx="1707886" cy="3547146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2030935-39AC-F644-974F-B2CB62C9C0E7}"/>
                </a:ext>
              </a:extLst>
            </p:cNvPr>
            <p:cNvSpPr/>
            <p:nvPr/>
          </p:nvSpPr>
          <p:spPr>
            <a:xfrm>
              <a:off x="9182160" y="2973752"/>
              <a:ext cx="1707886" cy="35471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7923A9A-BE2B-9040-8622-BACEA5C19EA2}"/>
                </a:ext>
              </a:extLst>
            </p:cNvPr>
            <p:cNvGrpSpPr/>
            <p:nvPr/>
          </p:nvGrpSpPr>
          <p:grpSpPr>
            <a:xfrm>
              <a:off x="9269529" y="3049931"/>
              <a:ext cx="1534984" cy="1204549"/>
              <a:chOff x="1884874" y="2950794"/>
              <a:chExt cx="1534984" cy="1204549"/>
            </a:xfrm>
          </p:grpSpPr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FF936BD3-D6F7-2A40-BDEA-F310EA3F96C3}"/>
                  </a:ext>
                </a:extLst>
              </p:cNvPr>
              <p:cNvGrpSpPr/>
              <p:nvPr/>
            </p:nvGrpSpPr>
            <p:grpSpPr>
              <a:xfrm>
                <a:off x="1884874" y="2950794"/>
                <a:ext cx="1534984" cy="1204549"/>
                <a:chOff x="1968870" y="2639221"/>
                <a:chExt cx="1534984" cy="1204549"/>
              </a:xfrm>
            </p:grpSpPr>
            <p:sp>
              <p:nvSpPr>
                <p:cNvPr id="99" name="analyzer-title">
                  <a:extLst>
                    <a:ext uri="{FF2B5EF4-FFF2-40B4-BE49-F238E27FC236}">
                      <a16:creationId xmlns:a16="http://schemas.microsoft.com/office/drawing/2014/main" id="{AA9A3ED9-EF77-654D-BF62-EDF2921A55E8}"/>
                    </a:ext>
                  </a:extLst>
                </p:cNvPr>
                <p:cNvSpPr txBox="1"/>
                <p:nvPr/>
              </p:nvSpPr>
              <p:spPr>
                <a:xfrm>
                  <a:off x="2235013" y="2639221"/>
                  <a:ext cx="1127501" cy="34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200" tIns="7200" rIns="7200" bIns="7200" anchor="ctr"/>
                <a:lstStyle/>
                <a:p>
                  <a:pPr algn="l"/>
                  <a:r>
                    <a:rPr lang="en-US" sz="1620" b="1" dirty="0">
                      <a:solidFill>
                        <a:srgbClr val="7030A0"/>
                      </a:solidFill>
                      <a:latin typeface="Arial"/>
                      <a:ea typeface="Arial"/>
                    </a:rPr>
                    <a:t>Translator</a:t>
                  </a:r>
                </a:p>
              </p:txBody>
            </p:sp>
            <p:sp>
              <p:nvSpPr>
                <p:cNvPr id="100" name="analyzer-sub2">
                  <a:extLst>
                    <a:ext uri="{FF2B5EF4-FFF2-40B4-BE49-F238E27FC236}">
                      <a16:creationId xmlns:a16="http://schemas.microsoft.com/office/drawing/2014/main" id="{B55F5898-DE9B-024E-897F-8FF78019C195}"/>
                    </a:ext>
                  </a:extLst>
                </p:cNvPr>
                <p:cNvSpPr/>
                <p:nvPr/>
              </p:nvSpPr>
              <p:spPr>
                <a:xfrm>
                  <a:off x="2046138" y="3247682"/>
                  <a:ext cx="1371073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Fix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residual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issues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CC0FE2B1-4767-8D4B-8295-4BA841B90BD3}"/>
                    </a:ext>
                  </a:extLst>
                </p:cNvPr>
                <p:cNvSpPr/>
                <p:nvPr/>
              </p:nvSpPr>
              <p:spPr>
                <a:xfrm>
                  <a:off x="1968870" y="2673179"/>
                  <a:ext cx="1534984" cy="1170591"/>
                </a:xfrm>
                <a:prstGeom prst="rect">
                  <a:avLst/>
                </a:prstGeom>
                <a:noFill/>
                <a:ln w="15875" cap="flat"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97" name="analyzer-sub1">
                <a:extLst>
                  <a:ext uri="{FF2B5EF4-FFF2-40B4-BE49-F238E27FC236}">
                    <a16:creationId xmlns:a16="http://schemas.microsoft.com/office/drawing/2014/main" id="{07FFD04D-F541-5E4F-B295-7869B35F6A83}"/>
                  </a:ext>
                </a:extLst>
              </p:cNvPr>
              <p:cNvSpPr/>
              <p:nvPr/>
            </p:nvSpPr>
            <p:spPr>
              <a:xfrm>
                <a:off x="1956894" y="3262008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Aggregate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artifacts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98" name="analyzer-sub1">
                <a:extLst>
                  <a:ext uri="{FF2B5EF4-FFF2-40B4-BE49-F238E27FC236}">
                    <a16:creationId xmlns:a16="http://schemas.microsoft.com/office/drawing/2014/main" id="{675F1E91-5131-8448-938D-23405CF1105E}"/>
                  </a:ext>
                </a:extLst>
              </p:cNvPr>
              <p:cNvSpPr/>
              <p:nvPr/>
            </p:nvSpPr>
            <p:spPr>
              <a:xfrm>
                <a:off x="1957223" y="3866962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Summarize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deviations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78045113-E3BA-7D46-B17E-130CC68BD41F}"/>
                </a:ext>
              </a:extLst>
            </p:cNvPr>
            <p:cNvGrpSpPr/>
            <p:nvPr/>
          </p:nvGrpSpPr>
          <p:grpSpPr>
            <a:xfrm>
              <a:off x="9264841" y="4843346"/>
              <a:ext cx="1534984" cy="1497030"/>
              <a:chOff x="9359187" y="4122056"/>
              <a:chExt cx="1534984" cy="1497030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8FD0023C-99F7-484A-973B-D4DAEE291C18}"/>
                  </a:ext>
                </a:extLst>
              </p:cNvPr>
              <p:cNvGrpSpPr/>
              <p:nvPr/>
            </p:nvGrpSpPr>
            <p:grpSpPr>
              <a:xfrm>
                <a:off x="9359187" y="4122056"/>
                <a:ext cx="1534984" cy="1497030"/>
                <a:chOff x="1884874" y="2998920"/>
                <a:chExt cx="1534984" cy="1497030"/>
              </a:xfrm>
            </p:grpSpPr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5DC90011-4320-6346-88E8-1DB7A1025322}"/>
                    </a:ext>
                  </a:extLst>
                </p:cNvPr>
                <p:cNvGrpSpPr/>
                <p:nvPr/>
              </p:nvGrpSpPr>
              <p:grpSpPr>
                <a:xfrm>
                  <a:off x="1884874" y="2998920"/>
                  <a:ext cx="1534984" cy="1497030"/>
                  <a:chOff x="1968870" y="2687347"/>
                  <a:chExt cx="1534984" cy="1497030"/>
                </a:xfrm>
              </p:grpSpPr>
              <p:sp>
                <p:nvSpPr>
                  <p:cNvPr id="108" name="analyzer-title">
                    <a:extLst>
                      <a:ext uri="{FF2B5EF4-FFF2-40B4-BE49-F238E27FC236}">
                        <a16:creationId xmlns:a16="http://schemas.microsoft.com/office/drawing/2014/main" id="{31CFB142-02BB-0D4F-8CCF-7D0C21AD53F0}"/>
                      </a:ext>
                    </a:extLst>
                  </p:cNvPr>
                  <p:cNvSpPr txBox="1"/>
                  <p:nvPr/>
                </p:nvSpPr>
                <p:spPr>
                  <a:xfrm>
                    <a:off x="2235013" y="2687347"/>
                    <a:ext cx="1127501" cy="34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7200" tIns="7200" rIns="7200" bIns="7200" anchor="ctr"/>
                  <a:lstStyle/>
                  <a:p>
                    <a:pPr algn="l"/>
                    <a:r>
                      <a:rPr lang="en-US" sz="162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ea typeface="Arial"/>
                      </a:rPr>
                      <a:t>Reviewer</a:t>
                    </a:r>
                  </a:p>
                </p:txBody>
              </p:sp>
              <p:sp>
                <p:nvSpPr>
                  <p:cNvPr id="109" name="analyzer-sub2">
                    <a:extLst>
                      <a:ext uri="{FF2B5EF4-FFF2-40B4-BE49-F238E27FC236}">
                        <a16:creationId xmlns:a16="http://schemas.microsoft.com/office/drawing/2014/main" id="{426DABDD-10F0-CF48-B278-5EABEE76EC66}"/>
                      </a:ext>
                    </a:extLst>
                  </p:cNvPr>
                  <p:cNvSpPr/>
                  <p:nvPr/>
                </p:nvSpPr>
                <p:spPr>
                  <a:xfrm>
                    <a:off x="2046138" y="3295808"/>
                    <a:ext cx="1371073" cy="23760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15875">
                    <a:solidFill>
                      <a:srgbClr val="BDBDBD"/>
                    </a:solidFill>
                  </a:ln>
                </p:spPr>
                <p:txBody>
                  <a:bodyPr lIns="14400" tIns="14400" rIns="14400" bIns="14400" anchor="ctr"/>
                  <a:lstStyle/>
                  <a:p>
                    <a:pPr algn="ctr"/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Check</a:t>
                    </a:r>
                    <a:r>
                      <a:rPr lang="zh-CN" altLang="en-US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 </a:t>
                    </a:r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evidence</a:t>
                    </a:r>
                    <a:r>
                      <a:rPr lang="zh-CN" altLang="en-US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 </a:t>
                    </a:r>
                    <a:r>
                      <a:rPr lang="en-US" altLang="zh-CN" sz="900" dirty="0">
                        <a:solidFill>
                          <a:srgbClr val="111111"/>
                        </a:solidFill>
                        <a:latin typeface="Arial"/>
                        <a:ea typeface="Arial"/>
                      </a:rPr>
                      <a:t>coverage</a:t>
                    </a:r>
                    <a:endParaRPr lang="en-US" sz="900" dirty="0">
                      <a:solidFill>
                        <a:srgbClr val="111111"/>
                      </a:solidFill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" name="矩形 109">
                    <a:extLst>
                      <a:ext uri="{FF2B5EF4-FFF2-40B4-BE49-F238E27FC236}">
                        <a16:creationId xmlns:a16="http://schemas.microsoft.com/office/drawing/2014/main" id="{BC7801DA-3C1B-EA46-AA54-937BBF91E49C}"/>
                      </a:ext>
                    </a:extLst>
                  </p:cNvPr>
                  <p:cNvSpPr/>
                  <p:nvPr/>
                </p:nvSpPr>
                <p:spPr>
                  <a:xfrm>
                    <a:off x="1968870" y="2733497"/>
                    <a:ext cx="1534984" cy="1450880"/>
                  </a:xfrm>
                  <a:prstGeom prst="rect">
                    <a:avLst/>
                  </a:prstGeom>
                  <a:noFill/>
                  <a:ln w="15875" cap="flat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/>
                  </a:p>
                </p:txBody>
              </p:sp>
            </p:grpSp>
            <p:sp>
              <p:nvSpPr>
                <p:cNvPr id="106" name="analyzer-sub1">
                  <a:extLst>
                    <a:ext uri="{FF2B5EF4-FFF2-40B4-BE49-F238E27FC236}">
                      <a16:creationId xmlns:a16="http://schemas.microsoft.com/office/drawing/2014/main" id="{EFE61BE5-BF63-6443-AD68-A416E8F20AC4}"/>
                    </a:ext>
                  </a:extLst>
                </p:cNvPr>
                <p:cNvSpPr/>
                <p:nvPr/>
              </p:nvSpPr>
              <p:spPr>
                <a:xfrm>
                  <a:off x="1956894" y="3310134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Audit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terminal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obligations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07" name="analyzer-sub1">
                  <a:extLst>
                    <a:ext uri="{FF2B5EF4-FFF2-40B4-BE49-F238E27FC236}">
                      <a16:creationId xmlns:a16="http://schemas.microsoft.com/office/drawing/2014/main" id="{019CD6A4-3A33-CE47-99D3-E9CAE994B938}"/>
                    </a:ext>
                  </a:extLst>
                </p:cNvPr>
                <p:cNvSpPr/>
                <p:nvPr/>
              </p:nvSpPr>
              <p:spPr>
                <a:xfrm>
                  <a:off x="1957223" y="3915088"/>
                  <a:ext cx="1377607" cy="237600"/>
                </a:xfrm>
                <a:prstGeom prst="roundRect">
                  <a:avLst/>
                </a:prstGeom>
                <a:solidFill>
                  <a:srgbClr val="FFFFFF"/>
                </a:solidFill>
                <a:ln w="15875">
                  <a:solidFill>
                    <a:srgbClr val="BDBDBD"/>
                  </a:solidFill>
                </a:ln>
              </p:spPr>
              <p:txBody>
                <a:bodyPr lIns="14400" tIns="14400" rIns="14400" bIns="14400" anchor="ctr"/>
                <a:lstStyle/>
                <a:p>
                  <a:pPr algn="ctr"/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Check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r>
                    <a:rPr lang="en-US" altLang="zh-CN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consistency</a:t>
                  </a:r>
                  <a:r>
                    <a:rPr lang="zh-CN" altLang="en-US" sz="900" dirty="0">
                      <a:solidFill>
                        <a:srgbClr val="111111"/>
                      </a:solidFill>
                      <a:latin typeface="Arial"/>
                      <a:ea typeface="Arial"/>
                    </a:rPr>
                    <a:t> </a:t>
                  </a:r>
                  <a:endParaRPr lang="en-US" sz="900" dirty="0">
                    <a:solidFill>
                      <a:srgbClr val="111111"/>
                    </a:solidFill>
                    <a:latin typeface="Arial"/>
                    <a:ea typeface="Arial"/>
                  </a:endParaRPr>
                </a:p>
              </p:txBody>
            </p:sp>
          </p:grpSp>
          <p:sp>
            <p:nvSpPr>
              <p:cNvPr id="104" name="analyzer-sub1">
                <a:extLst>
                  <a:ext uri="{FF2B5EF4-FFF2-40B4-BE49-F238E27FC236}">
                    <a16:creationId xmlns:a16="http://schemas.microsoft.com/office/drawing/2014/main" id="{150A24C9-FDF9-CB40-A475-BC6959CE04D6}"/>
                  </a:ext>
                </a:extLst>
              </p:cNvPr>
              <p:cNvSpPr/>
              <p:nvPr/>
            </p:nvSpPr>
            <p:spPr>
              <a:xfrm>
                <a:off x="9431207" y="5315480"/>
                <a:ext cx="1377607" cy="237600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Review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unresolved</a:t>
                </a:r>
                <a:r>
                  <a:rPr lang="zh-CN" altLang="en-US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900" dirty="0">
                    <a:solidFill>
                      <a:srgbClr val="111111"/>
                    </a:solidFill>
                    <a:latin typeface="Arial"/>
                    <a:ea typeface="Arial"/>
                  </a:rPr>
                  <a:t>risk</a:t>
                </a:r>
                <a:endParaRPr lang="en-US" sz="9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</p:grpSp>
      </p:grpSp>
      <p:pic>
        <p:nvPicPr>
          <p:cNvPr id="111" name="图形 110">
            <a:extLst>
              <a:ext uri="{FF2B5EF4-FFF2-40B4-BE49-F238E27FC236}">
                <a16:creationId xmlns:a16="http://schemas.microsoft.com/office/drawing/2014/main" id="{8812F302-E623-914A-B080-528ACD88D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957741" y="3673252"/>
            <a:ext cx="443371" cy="443371"/>
          </a:xfrm>
          <a:prstGeom prst="rect">
            <a:avLst/>
          </a:prstGeom>
        </p:spPr>
      </p:pic>
      <p:sp>
        <p:nvSpPr>
          <p:cNvPr id="113" name="文本框 112">
            <a:extLst>
              <a:ext uri="{FF2B5EF4-FFF2-40B4-BE49-F238E27FC236}">
                <a16:creationId xmlns:a16="http://schemas.microsoft.com/office/drawing/2014/main" id="{191E1209-81D9-3F49-B679-8B87976FE906}"/>
              </a:ext>
            </a:extLst>
          </p:cNvPr>
          <p:cNvSpPr txBox="1"/>
          <p:nvPr/>
        </p:nvSpPr>
        <p:spPr>
          <a:xfrm>
            <a:off x="6586783" y="1837191"/>
            <a:ext cx="2479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Closure-Level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pic>
        <p:nvPicPr>
          <p:cNvPr id="115" name="图形 114">
            <a:extLst>
              <a:ext uri="{FF2B5EF4-FFF2-40B4-BE49-F238E27FC236}">
                <a16:creationId xmlns:a16="http://schemas.microsoft.com/office/drawing/2014/main" id="{AC313091-8108-CA44-91AB-34B60E92B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1717" y="1827270"/>
            <a:ext cx="356705" cy="356705"/>
          </a:xfrm>
          <a:prstGeom prst="rect">
            <a:avLst/>
          </a:prstGeom>
        </p:spPr>
      </p:pic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DCCC109-52CF-F549-B61F-264ABD337A34}"/>
              </a:ext>
            </a:extLst>
          </p:cNvPr>
          <p:cNvGrpSpPr/>
          <p:nvPr/>
        </p:nvGrpSpPr>
        <p:grpSpPr>
          <a:xfrm>
            <a:off x="726662" y="4097238"/>
            <a:ext cx="6119422" cy="1778889"/>
            <a:chOff x="2772179" y="3523541"/>
            <a:chExt cx="6119422" cy="1778889"/>
          </a:xfrm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4459017F-6BBB-104F-ACA2-3FC231124435}"/>
                </a:ext>
              </a:extLst>
            </p:cNvPr>
            <p:cNvGrpSpPr/>
            <p:nvPr/>
          </p:nvGrpSpPr>
          <p:grpSpPr>
            <a:xfrm>
              <a:off x="2883595" y="3523541"/>
              <a:ext cx="3959941" cy="1681474"/>
              <a:chOff x="-3292644" y="2242453"/>
              <a:chExt cx="3959941" cy="1681474"/>
            </a:xfrm>
          </p:grpSpPr>
          <p:sp>
            <p:nvSpPr>
              <p:cNvPr id="35" name="shared-label">
                <a:extLst>
                  <a:ext uri="{FF2B5EF4-FFF2-40B4-BE49-F238E27FC236}">
                    <a16:creationId xmlns:a16="http://schemas.microsoft.com/office/drawing/2014/main" id="{CC7ECB83-4C66-0545-9217-9D342A2F966F}"/>
                  </a:ext>
                </a:extLst>
              </p:cNvPr>
              <p:cNvSpPr txBox="1"/>
              <p:nvPr/>
            </p:nvSpPr>
            <p:spPr>
              <a:xfrm>
                <a:off x="-1186225" y="2242453"/>
                <a:ext cx="185352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200" tIns="7200" rIns="7200" bIns="7200" anchor="ctr"/>
              <a:lstStyle/>
              <a:p>
                <a:pPr algn="ctr"/>
                <a:r>
                  <a:rPr lang="en-US" sz="16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Shared Workspace</a:t>
                </a:r>
              </a:p>
            </p:txBody>
          </p:sp>
          <p:sp>
            <p:nvSpPr>
              <p:cNvPr id="36" name="ws-todo-text">
                <a:extLst>
                  <a:ext uri="{FF2B5EF4-FFF2-40B4-BE49-F238E27FC236}">
                    <a16:creationId xmlns:a16="http://schemas.microsoft.com/office/drawing/2014/main" id="{B019819C-7471-2B4B-A385-6AF87A86CA35}"/>
                  </a:ext>
                </a:extLst>
              </p:cNvPr>
              <p:cNvSpPr txBox="1"/>
              <p:nvPr/>
            </p:nvSpPr>
            <p:spPr>
              <a:xfrm>
                <a:off x="-3058334" y="2683786"/>
                <a:ext cx="2596918" cy="247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r>
                  <a:rPr lang="en-US" sz="1200" b="1" dirty="0">
                    <a:solidFill>
                      <a:srgbClr val="111111"/>
                    </a:solidFill>
                    <a:latin typeface="Arial"/>
                  </a:rPr>
                  <a:t>Behavior-Centered Checklist IR</a:t>
                </a:r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72DF8F9D-B1C0-4F41-A7B3-3AAB97390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264607" y="2679390"/>
                <a:ext cx="271090" cy="271090"/>
              </a:xfrm>
              <a:prstGeom prst="rect">
                <a:avLst/>
              </a:prstGeom>
            </p:spPr>
          </p:pic>
          <p:sp>
            <p:nvSpPr>
              <p:cNvPr id="38" name="analyzer-sub3">
                <a:extLst>
                  <a:ext uri="{FF2B5EF4-FFF2-40B4-BE49-F238E27FC236}">
                    <a16:creationId xmlns:a16="http://schemas.microsoft.com/office/drawing/2014/main" id="{F66915CA-A7A5-DC45-991F-5919D2A5030F}"/>
                  </a:ext>
                </a:extLst>
              </p:cNvPr>
              <p:cNvSpPr/>
              <p:nvPr/>
            </p:nvSpPr>
            <p:spPr>
              <a:xfrm>
                <a:off x="-3209237" y="3592901"/>
                <a:ext cx="1119409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Feature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Slice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" name="analyzer-sub3">
                <a:extLst>
                  <a:ext uri="{FF2B5EF4-FFF2-40B4-BE49-F238E27FC236}">
                    <a16:creationId xmlns:a16="http://schemas.microsoft.com/office/drawing/2014/main" id="{A509891B-6201-0D40-BBD1-FF9FF1ACA17E}"/>
                  </a:ext>
                </a:extLst>
              </p:cNvPr>
              <p:cNvSpPr/>
              <p:nvPr/>
            </p:nvSpPr>
            <p:spPr>
              <a:xfrm>
                <a:off x="-1985663" y="3302504"/>
                <a:ext cx="148959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Tests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" name="analyzer-sub3">
                <a:extLst>
                  <a:ext uri="{FF2B5EF4-FFF2-40B4-BE49-F238E27FC236}">
                    <a16:creationId xmlns:a16="http://schemas.microsoft.com/office/drawing/2014/main" id="{18BDC368-BC45-5646-BA1A-284B5C8CFA1E}"/>
                  </a:ext>
                </a:extLst>
              </p:cNvPr>
              <p:cNvSpPr/>
              <p:nvPr/>
            </p:nvSpPr>
            <p:spPr>
              <a:xfrm>
                <a:off x="-1981443" y="3010286"/>
                <a:ext cx="1485467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Refs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1" name="analyzer-sub3">
                <a:extLst>
                  <a:ext uri="{FF2B5EF4-FFF2-40B4-BE49-F238E27FC236}">
                    <a16:creationId xmlns:a16="http://schemas.microsoft.com/office/drawing/2014/main" id="{5B8FA533-CDB7-A446-8D8F-EF387F3E172D}"/>
                  </a:ext>
                </a:extLst>
              </p:cNvPr>
              <p:cNvSpPr/>
              <p:nvPr/>
            </p:nvSpPr>
            <p:spPr>
              <a:xfrm>
                <a:off x="-3205709" y="3009309"/>
                <a:ext cx="113112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Priority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&amp;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Order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2" name="analyzer-sub3">
                <a:extLst>
                  <a:ext uri="{FF2B5EF4-FFF2-40B4-BE49-F238E27FC236}">
                    <a16:creationId xmlns:a16="http://schemas.microsoft.com/office/drawing/2014/main" id="{86106097-085D-4D43-B47F-0BBC434D9235}"/>
                  </a:ext>
                </a:extLst>
              </p:cNvPr>
              <p:cNvSpPr/>
              <p:nvPr/>
            </p:nvSpPr>
            <p:spPr>
              <a:xfrm>
                <a:off x="-3213271" y="3304650"/>
                <a:ext cx="1124852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Validation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Plan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3" name="analyzer-sub3">
                <a:extLst>
                  <a:ext uri="{FF2B5EF4-FFF2-40B4-BE49-F238E27FC236}">
                    <a16:creationId xmlns:a16="http://schemas.microsoft.com/office/drawing/2014/main" id="{7D61BF1A-5532-BE44-B679-69A9D553E92E}"/>
                  </a:ext>
                </a:extLst>
              </p:cNvPr>
              <p:cNvSpPr/>
              <p:nvPr/>
            </p:nvSpPr>
            <p:spPr>
              <a:xfrm>
                <a:off x="-1978274" y="3593518"/>
                <a:ext cx="1482208" cy="222192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14400" tIns="14400" rIns="14400" bIns="14400" anchor="ctr"/>
              <a:lstStyle/>
              <a:p>
                <a:pPr algn="ctr"/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Source/Target</a:t>
                </a:r>
                <a:r>
                  <a:rPr lang="zh-CN" altLang="en-US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000" dirty="0">
                    <a:solidFill>
                      <a:srgbClr val="111111"/>
                    </a:solidFill>
                    <a:latin typeface="Arial"/>
                    <a:ea typeface="Arial"/>
                  </a:rPr>
                  <a:t>Behaviors</a:t>
                </a:r>
                <a:endParaRPr lang="en-US" sz="1000" dirty="0">
                  <a:solidFill>
                    <a:srgbClr val="111111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6D4A8BD-C027-014B-A6FD-CFD4C25857E7}"/>
                  </a:ext>
                </a:extLst>
              </p:cNvPr>
              <p:cNvSpPr/>
              <p:nvPr/>
            </p:nvSpPr>
            <p:spPr>
              <a:xfrm>
                <a:off x="-3292644" y="2652241"/>
                <a:ext cx="2861518" cy="1271686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46" name="ws-repair">
              <a:extLst>
                <a:ext uri="{FF2B5EF4-FFF2-40B4-BE49-F238E27FC236}">
                  <a16:creationId xmlns:a16="http://schemas.microsoft.com/office/drawing/2014/main" id="{706C6BD9-E23D-2949-A160-81B7A9DBA183}"/>
                </a:ext>
              </a:extLst>
            </p:cNvPr>
            <p:cNvSpPr/>
            <p:nvPr/>
          </p:nvSpPr>
          <p:spPr>
            <a:xfrm>
              <a:off x="5946079" y="4241927"/>
              <a:ext cx="1216625" cy="28341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E46070F-2C97-234E-A4DA-7BEE452B0277}"/>
                </a:ext>
              </a:extLst>
            </p:cNvPr>
            <p:cNvGrpSpPr/>
            <p:nvPr/>
          </p:nvGrpSpPr>
          <p:grpSpPr>
            <a:xfrm>
              <a:off x="5944648" y="3906573"/>
              <a:ext cx="1218056" cy="277867"/>
              <a:chOff x="2222784" y="5381886"/>
              <a:chExt cx="1218056" cy="277867"/>
            </a:xfrm>
          </p:grpSpPr>
          <p:sp>
            <p:nvSpPr>
              <p:cNvPr id="63" name="ws-scan">
                <a:extLst>
                  <a:ext uri="{FF2B5EF4-FFF2-40B4-BE49-F238E27FC236}">
                    <a16:creationId xmlns:a16="http://schemas.microsoft.com/office/drawing/2014/main" id="{97F938BF-5D39-6C4E-803B-D6FF1A3EA5F2}"/>
                  </a:ext>
                </a:extLst>
              </p:cNvPr>
              <p:cNvSpPr/>
              <p:nvPr/>
            </p:nvSpPr>
            <p:spPr>
              <a:xfrm>
                <a:off x="2222784" y="5381886"/>
                <a:ext cx="1218056" cy="277867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4" name="ws-scan-text">
                <a:extLst>
                  <a:ext uri="{FF2B5EF4-FFF2-40B4-BE49-F238E27FC236}">
                    <a16:creationId xmlns:a16="http://schemas.microsoft.com/office/drawing/2014/main" id="{9C473926-44A7-4341-B4A8-5C5140436DA1}"/>
                  </a:ext>
                </a:extLst>
              </p:cNvPr>
              <p:cNvSpPr txBox="1"/>
              <p:nvPr/>
            </p:nvSpPr>
            <p:spPr>
              <a:xfrm>
                <a:off x="2418080" y="5431938"/>
                <a:ext cx="914400" cy="1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Repo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S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can</a:t>
                </a: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E00CFD1-6882-BD4D-B5EB-372A527849E3}"/>
                </a:ext>
              </a:extLst>
            </p:cNvPr>
            <p:cNvGrpSpPr/>
            <p:nvPr/>
          </p:nvGrpSpPr>
          <p:grpSpPr>
            <a:xfrm>
              <a:off x="7227547" y="3899453"/>
              <a:ext cx="1552011" cy="271934"/>
              <a:chOff x="2131917" y="5409007"/>
              <a:chExt cx="1552011" cy="271934"/>
            </a:xfrm>
          </p:grpSpPr>
          <p:sp>
            <p:nvSpPr>
              <p:cNvPr id="61" name="ws-ledger">
                <a:extLst>
                  <a:ext uri="{FF2B5EF4-FFF2-40B4-BE49-F238E27FC236}">
                    <a16:creationId xmlns:a16="http://schemas.microsoft.com/office/drawing/2014/main" id="{C157A98D-212C-9744-B33B-A316CEFAD0B4}"/>
                  </a:ext>
                </a:extLst>
              </p:cNvPr>
              <p:cNvSpPr/>
              <p:nvPr/>
            </p:nvSpPr>
            <p:spPr>
              <a:xfrm>
                <a:off x="2131917" y="5409007"/>
                <a:ext cx="1534751" cy="271934"/>
              </a:xfrm>
              <a:prstGeom prst="roundRect">
                <a:avLst/>
              </a:prstGeom>
              <a:solidFill>
                <a:srgbClr val="FFFFFF"/>
              </a:solidFill>
              <a:ln w="15875">
                <a:solidFill>
                  <a:srgbClr val="BDBDBD"/>
                </a:solidFill>
              </a:ln>
            </p:spPr>
            <p:txBody>
              <a:bodyPr lIns="21600" tIns="21600" rIns="21600" bIns="21600"/>
              <a:lstStyle/>
              <a:p>
                <a:endParaRPr dirty="0"/>
              </a:p>
            </p:txBody>
          </p:sp>
          <p:sp>
            <p:nvSpPr>
              <p:cNvPr id="62" name="ws-ledger-text">
                <a:extLst>
                  <a:ext uri="{FF2B5EF4-FFF2-40B4-BE49-F238E27FC236}">
                    <a16:creationId xmlns:a16="http://schemas.microsoft.com/office/drawing/2014/main" id="{2E102C04-1C70-564C-A709-382300F73D69}"/>
                  </a:ext>
                </a:extLst>
              </p:cNvPr>
              <p:cNvSpPr txBox="1"/>
              <p:nvPr/>
            </p:nvSpPr>
            <p:spPr>
              <a:xfrm>
                <a:off x="2171796" y="5466178"/>
                <a:ext cx="1512132" cy="189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/>
              <a:p>
                <a:pPr algn="l"/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Translation</a:t>
                </a:r>
                <a:r>
                  <a:rPr lang="zh-CN" alt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 </a:t>
                </a:r>
                <a:r>
                  <a:rPr lang="en-US" altLang="zh-CN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L</a:t>
                </a:r>
                <a:r>
                  <a:rPr lang="en-US" sz="1100" b="1" dirty="0">
                    <a:solidFill>
                      <a:srgbClr val="111111"/>
                    </a:solidFill>
                    <a:latin typeface="Arial"/>
                    <a:ea typeface="Arial"/>
                  </a:rPr>
                  <a:t>edger</a:t>
                </a:r>
              </a:p>
            </p:txBody>
          </p:sp>
        </p:grp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539D36D-5632-0B40-A91F-14F4DC0FFC06}"/>
                </a:ext>
              </a:extLst>
            </p:cNvPr>
            <p:cNvSpPr/>
            <p:nvPr/>
          </p:nvSpPr>
          <p:spPr>
            <a:xfrm>
              <a:off x="2772179" y="3796539"/>
              <a:ext cx="6119422" cy="150589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ws-decision-text">
              <a:extLst>
                <a:ext uri="{FF2B5EF4-FFF2-40B4-BE49-F238E27FC236}">
                  <a16:creationId xmlns:a16="http://schemas.microsoft.com/office/drawing/2014/main" id="{4678D838-E801-5540-A5F5-E75D126729BC}"/>
                </a:ext>
              </a:extLst>
            </p:cNvPr>
            <p:cNvSpPr txBox="1"/>
            <p:nvPr/>
          </p:nvSpPr>
          <p:spPr>
            <a:xfrm>
              <a:off x="6060089" y="4963621"/>
              <a:ext cx="1166313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Agent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Report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1" name="ws-scan-text">
              <a:extLst>
                <a:ext uri="{FF2B5EF4-FFF2-40B4-BE49-F238E27FC236}">
                  <a16:creationId xmlns:a16="http://schemas.microsoft.com/office/drawing/2014/main" id="{DE5A08CE-BDBF-D744-8104-87A7F1D205EC}"/>
                </a:ext>
              </a:extLst>
            </p:cNvPr>
            <p:cNvSpPr txBox="1"/>
            <p:nvPr/>
          </p:nvSpPr>
          <p:spPr>
            <a:xfrm>
              <a:off x="6060089" y="4242180"/>
              <a:ext cx="1103035" cy="272832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Decision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Log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2" name="ws-scan-text">
              <a:extLst>
                <a:ext uri="{FF2B5EF4-FFF2-40B4-BE49-F238E27FC236}">
                  <a16:creationId xmlns:a16="http://schemas.microsoft.com/office/drawing/2014/main" id="{9D1C4ED8-8244-074A-B448-574DE2ECDAE9}"/>
                </a:ext>
              </a:extLst>
            </p:cNvPr>
            <p:cNvSpPr txBox="1"/>
            <p:nvPr/>
          </p:nvSpPr>
          <p:spPr>
            <a:xfrm>
              <a:off x="7344707" y="4597028"/>
              <a:ext cx="1441071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Feature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Contract</a:t>
              </a:r>
              <a:endParaRPr lang="en-US" sz="110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3" name="ws-decision-text">
              <a:extLst>
                <a:ext uri="{FF2B5EF4-FFF2-40B4-BE49-F238E27FC236}">
                  <a16:creationId xmlns:a16="http://schemas.microsoft.com/office/drawing/2014/main" id="{31B5A0CB-664D-CF4F-8FBF-C15970B133F2}"/>
                </a:ext>
              </a:extLst>
            </p:cNvPr>
            <p:cNvSpPr txBox="1"/>
            <p:nvPr/>
          </p:nvSpPr>
          <p:spPr>
            <a:xfrm>
              <a:off x="6085944" y="4627368"/>
              <a:ext cx="10224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Issue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Queue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4" name="ws-decision-text">
              <a:extLst>
                <a:ext uri="{FF2B5EF4-FFF2-40B4-BE49-F238E27FC236}">
                  <a16:creationId xmlns:a16="http://schemas.microsoft.com/office/drawing/2014/main" id="{09F23ECC-13FC-3D42-B543-85FC948F77E0}"/>
                </a:ext>
              </a:extLst>
            </p:cNvPr>
            <p:cNvSpPr txBox="1"/>
            <p:nvPr/>
          </p:nvSpPr>
          <p:spPr>
            <a:xfrm>
              <a:off x="7325567" y="4275439"/>
              <a:ext cx="1415073" cy="194358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Progress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Memory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5" name="ws-decision-text">
              <a:extLst>
                <a:ext uri="{FF2B5EF4-FFF2-40B4-BE49-F238E27FC236}">
                  <a16:creationId xmlns:a16="http://schemas.microsoft.com/office/drawing/2014/main" id="{CCFA014F-ED04-BB41-B6AA-BD3E6765EFD8}"/>
                </a:ext>
              </a:extLst>
            </p:cNvPr>
            <p:cNvSpPr txBox="1"/>
            <p:nvPr/>
          </p:nvSpPr>
          <p:spPr>
            <a:xfrm>
              <a:off x="7215886" y="4965563"/>
              <a:ext cx="1563672" cy="18824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l"/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Verified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Gate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r>
                <a:rPr lang="en-US" altLang="zh-CN" sz="1100" b="1" dirty="0">
                  <a:solidFill>
                    <a:srgbClr val="111111"/>
                  </a:solidFill>
                  <a:latin typeface="Arial"/>
                  <a:ea typeface="Arial"/>
                </a:rPr>
                <a:t>History</a:t>
              </a:r>
              <a:r>
                <a:rPr lang="zh-CN" altLang="en-US" sz="1100" b="1" dirty="0">
                  <a:solidFill>
                    <a:srgbClr val="111111"/>
                  </a:solidFill>
                  <a:latin typeface="Arial"/>
                  <a:ea typeface="Arial"/>
                </a:rPr>
                <a:t> </a:t>
              </a:r>
              <a:endParaRPr lang="en-US" sz="1050" b="1" dirty="0">
                <a:solidFill>
                  <a:srgbClr val="111111"/>
                </a:solidFill>
                <a:latin typeface="Arial"/>
                <a:ea typeface="Arial"/>
              </a:endParaRPr>
            </a:p>
          </p:txBody>
        </p:sp>
        <p:sp>
          <p:nvSpPr>
            <p:cNvPr id="56" name="ws-scan">
              <a:extLst>
                <a:ext uri="{FF2B5EF4-FFF2-40B4-BE49-F238E27FC236}">
                  <a16:creationId xmlns:a16="http://schemas.microsoft.com/office/drawing/2014/main" id="{CA705341-8677-2B42-B2A1-1EECCB50E14F}"/>
                </a:ext>
              </a:extLst>
            </p:cNvPr>
            <p:cNvSpPr/>
            <p:nvPr/>
          </p:nvSpPr>
          <p:spPr>
            <a:xfrm>
              <a:off x="7229407" y="4240822"/>
              <a:ext cx="1550151" cy="27786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 dirty="0"/>
            </a:p>
          </p:txBody>
        </p:sp>
        <p:sp>
          <p:nvSpPr>
            <p:cNvPr id="57" name="ws-repair">
              <a:extLst>
                <a:ext uri="{FF2B5EF4-FFF2-40B4-BE49-F238E27FC236}">
                  <a16:creationId xmlns:a16="http://schemas.microsoft.com/office/drawing/2014/main" id="{C9EDB408-6355-B445-A640-F00D6E2979BD}"/>
                </a:ext>
              </a:extLst>
            </p:cNvPr>
            <p:cNvSpPr/>
            <p:nvPr/>
          </p:nvSpPr>
          <p:spPr>
            <a:xfrm>
              <a:off x="5946079" y="4582030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8" name="ws-repair">
              <a:extLst>
                <a:ext uri="{FF2B5EF4-FFF2-40B4-BE49-F238E27FC236}">
                  <a16:creationId xmlns:a16="http://schemas.microsoft.com/office/drawing/2014/main" id="{664F5E0A-3E1F-FD4B-A5C7-54DB68CB6069}"/>
                </a:ext>
              </a:extLst>
            </p:cNvPr>
            <p:cNvSpPr/>
            <p:nvPr/>
          </p:nvSpPr>
          <p:spPr>
            <a:xfrm>
              <a:off x="7227547" y="4580233"/>
              <a:ext cx="155823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59" name="ws-repair">
              <a:extLst>
                <a:ext uri="{FF2B5EF4-FFF2-40B4-BE49-F238E27FC236}">
                  <a16:creationId xmlns:a16="http://schemas.microsoft.com/office/drawing/2014/main" id="{DE24D773-FF0E-FC46-852A-2A7EDD72C0F7}"/>
                </a:ext>
              </a:extLst>
            </p:cNvPr>
            <p:cNvSpPr/>
            <p:nvPr/>
          </p:nvSpPr>
          <p:spPr>
            <a:xfrm>
              <a:off x="5944648" y="4921598"/>
              <a:ext cx="1216625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/>
            <a:p>
              <a:endParaRPr/>
            </a:p>
          </p:txBody>
        </p:sp>
        <p:sp>
          <p:nvSpPr>
            <p:cNvPr id="60" name="ws-repair">
              <a:extLst>
                <a:ext uri="{FF2B5EF4-FFF2-40B4-BE49-F238E27FC236}">
                  <a16:creationId xmlns:a16="http://schemas.microsoft.com/office/drawing/2014/main" id="{EDA189A1-5340-B047-BEAA-BBBEBB749C58}"/>
                </a:ext>
              </a:extLst>
            </p:cNvPr>
            <p:cNvSpPr/>
            <p:nvPr/>
          </p:nvSpPr>
          <p:spPr>
            <a:xfrm>
              <a:off x="7227547" y="4921598"/>
              <a:ext cx="1552011" cy="283417"/>
            </a:xfrm>
            <a:prstGeom prst="roundRect">
              <a:avLst/>
            </a:prstGeom>
            <a:noFill/>
            <a:ln w="15875">
              <a:solidFill>
                <a:srgbClr val="BDBDBD"/>
              </a:solidFill>
            </a:ln>
          </p:spPr>
          <p:txBody>
            <a:bodyPr lIns="21600" tIns="21600" rIns="21600" bIns="216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75E7D263-F171-8144-8D02-27D1E7C4308F}"/>
              </a:ext>
            </a:extLst>
          </p:cNvPr>
          <p:cNvCxnSpPr>
            <a:cxnSpLocks/>
          </p:cNvCxnSpPr>
          <p:nvPr/>
        </p:nvCxnSpPr>
        <p:spPr>
          <a:xfrm flipH="1">
            <a:off x="6711774" y="3849017"/>
            <a:ext cx="472471" cy="372029"/>
          </a:xfrm>
          <a:prstGeom prst="straightConnector1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标题 10">
            <a:extLst>
              <a:ext uri="{FF2B5EF4-FFF2-40B4-BE49-F238E27FC236}">
                <a16:creationId xmlns:a16="http://schemas.microsoft.com/office/drawing/2014/main" id="{FF86A0CD-9FCA-EC41-81BD-7FF79D7140CA}"/>
              </a:ext>
            </a:extLst>
          </p:cNvPr>
          <p:cNvSpPr>
            <a:spLocks noGrp="1"/>
          </p:cNvSpPr>
          <p:nvPr/>
        </p:nvSpPr>
        <p:spPr>
          <a:xfrm>
            <a:off x="464128" y="543748"/>
            <a:ext cx="10121046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多级验证机制：</a:t>
            </a:r>
            <a:r>
              <a:rPr lang="en-US" altLang="zh-CN" dirty="0">
                <a:sym typeface="+mn-ea"/>
              </a:rPr>
              <a:t>Closure-level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Verification</a:t>
            </a:r>
            <a:endParaRPr lang="zh-CN" altLang="en-US" dirty="0">
              <a:sym typeface="+mn-ea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E20AB2CB-3B5F-DA4A-8938-D92AE1F04AA1}"/>
              </a:ext>
            </a:extLst>
          </p:cNvPr>
          <p:cNvSpPr txBox="1"/>
          <p:nvPr/>
        </p:nvSpPr>
        <p:spPr>
          <a:xfrm>
            <a:off x="9031040" y="968470"/>
            <a:ext cx="309052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如果 </a:t>
            </a:r>
            <a:r>
              <a:rPr kumimoji="1" lang="en-US" altLang="zh-CN" sz="1400" dirty="0"/>
              <a:t>Reviewer </a:t>
            </a:r>
            <a:r>
              <a:rPr kumimoji="1" lang="zh-CN" altLang="en-US" sz="1400" dirty="0"/>
              <a:t>返回 </a:t>
            </a:r>
            <a:r>
              <a:rPr kumimoji="1" lang="en-US" altLang="zh-CN" sz="1400" dirty="0"/>
              <a:t>NEEDS_FIX</a:t>
            </a:r>
            <a:r>
              <a:rPr kumimoji="1" lang="zh-CN" altLang="en-US" sz="1400" dirty="0"/>
              <a:t>，</a:t>
            </a:r>
            <a:r>
              <a:rPr kumimoji="1" lang="en-US" altLang="zh-CN" sz="1400" dirty="0"/>
              <a:t>Translator</a:t>
            </a:r>
            <a:r>
              <a:rPr kumimoji="1" lang="zh-CN" altLang="en-US" sz="1400" dirty="0"/>
              <a:t>把它当作一次全局闭环失败后的重新收口</a:t>
            </a:r>
            <a:endParaRPr kumimoji="1" lang="en-US" altLang="zh-CN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Translator </a:t>
            </a:r>
            <a:r>
              <a:rPr kumimoji="1" lang="zh-CN" altLang="en-US" sz="1400" dirty="0"/>
              <a:t>的首要工作不是直接改代码，而是</a:t>
            </a:r>
            <a:endParaRPr kumimoji="1" lang="en-US" altLang="zh-CN" sz="14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先把 </a:t>
            </a:r>
            <a:r>
              <a:rPr kumimoji="1" lang="en-US" altLang="zh-CN" sz="1400" dirty="0"/>
              <a:t>Reviewer </a:t>
            </a:r>
            <a:r>
              <a:rPr kumimoji="1" lang="zh-CN" altLang="en-US" sz="1400" dirty="0"/>
              <a:t>提出的缺口</a:t>
            </a:r>
            <a:r>
              <a:rPr kumimoji="1" lang="zh-CN" altLang="en-US" sz="1400" dirty="0">
                <a:solidFill>
                  <a:srgbClr val="C00000"/>
                </a:solidFill>
              </a:rPr>
              <a:t>重新映射回迁移状态</a:t>
            </a:r>
            <a:r>
              <a:rPr kumimoji="1" lang="zh-CN" altLang="en-US" sz="1400" dirty="0"/>
              <a:t>：明确哪些问题属于范围遗漏，哪些属于行为不一致，哪些属于跨模块依赖断裂，哪些属于测试、</a:t>
            </a:r>
            <a:r>
              <a:rPr kumimoji="1" lang="en-US" altLang="zh-CN" sz="1400" dirty="0"/>
              <a:t>smoke</a:t>
            </a:r>
            <a:r>
              <a:rPr kumimoji="1" lang="zh-CN" altLang="en-US" sz="1400" dirty="0"/>
              <a:t>、页面对照或 </a:t>
            </a:r>
            <a:r>
              <a:rPr kumimoji="1" lang="en-US" altLang="zh-CN" sz="1400" dirty="0"/>
              <a:t>evidence </a:t>
            </a:r>
            <a:r>
              <a:rPr kumimoji="1" lang="zh-CN" altLang="en-US" sz="1400" dirty="0"/>
              <a:t>不足。</a:t>
            </a:r>
            <a:endParaRPr kumimoji="1" lang="en-US" altLang="zh-CN" sz="14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然后更新 </a:t>
            </a:r>
            <a:r>
              <a:rPr kumimoji="1" lang="en-US" altLang="zh-CN" sz="1400" dirty="0"/>
              <a:t>ledger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Todo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blocked </a:t>
            </a:r>
            <a:r>
              <a:rPr kumimoji="1" lang="zh-CN" altLang="en-US" sz="1400" dirty="0"/>
              <a:t>列表、</a:t>
            </a:r>
            <a:r>
              <a:rPr kumimoji="1" lang="en-US" altLang="zh-CN" sz="1400" dirty="0"/>
              <a:t>decision log </a:t>
            </a:r>
            <a:r>
              <a:rPr kumimoji="1" lang="zh-CN" altLang="en-US" sz="1400" dirty="0"/>
              <a:t>和相关 </a:t>
            </a:r>
            <a:r>
              <a:rPr kumimoji="1" lang="en-US" altLang="zh-CN" sz="1400" dirty="0"/>
              <a:t>contract</a:t>
            </a:r>
            <a:r>
              <a:rPr kumimoji="1" lang="zh-CN" altLang="en-US" sz="1400" dirty="0"/>
              <a:t>，</a:t>
            </a:r>
            <a:r>
              <a:rPr kumimoji="1" lang="zh-CN" altLang="en-US" sz="1400" dirty="0">
                <a:solidFill>
                  <a:srgbClr val="C00000"/>
                </a:solidFill>
              </a:rPr>
              <a:t>把问题重新拆回可执行的修复单元</a:t>
            </a:r>
            <a:r>
              <a:rPr kumimoji="1" lang="zh-CN" altLang="en-US" sz="1400" dirty="0"/>
              <a:t>，确保每个遗留问题都能被重新追踪和验证，而不是口头承诺。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随后 </a:t>
            </a:r>
            <a:r>
              <a:rPr kumimoji="1" lang="en-US" altLang="zh-CN" sz="1400" dirty="0"/>
              <a:t>Translator </a:t>
            </a:r>
            <a:r>
              <a:rPr kumimoji="1" lang="zh-CN" altLang="en-US" sz="1400" dirty="0"/>
              <a:t>会</a:t>
            </a:r>
            <a:r>
              <a:rPr kumimoji="1" lang="zh-CN" altLang="en-US" sz="1400" dirty="0">
                <a:solidFill>
                  <a:srgbClr val="C00000"/>
                </a:solidFill>
              </a:rPr>
              <a:t>按同样的 </a:t>
            </a:r>
            <a:r>
              <a:rPr kumimoji="1" lang="en-US" altLang="zh-CN" sz="1400" dirty="0">
                <a:solidFill>
                  <a:srgbClr val="C00000"/>
                </a:solidFill>
              </a:rPr>
              <a:t>Red-Green–Refactor-Smoke </a:t>
            </a:r>
            <a:r>
              <a:rPr kumimoji="1" lang="zh-CN" altLang="en-US" sz="1400" dirty="0">
                <a:solidFill>
                  <a:srgbClr val="C00000"/>
                </a:solidFill>
              </a:rPr>
              <a:t>闭环</a:t>
            </a:r>
            <a:r>
              <a:rPr kumimoji="1" lang="zh-CN" altLang="en-US" sz="1400" dirty="0"/>
              <a:t>逐项修复 </a:t>
            </a:r>
            <a:r>
              <a:rPr kumimoji="1" lang="en-US" altLang="zh-CN" sz="1400" dirty="0"/>
              <a:t>Reviewer </a:t>
            </a:r>
            <a:r>
              <a:rPr kumimoji="1" lang="zh-CN" altLang="en-US" sz="1400" dirty="0"/>
              <a:t>暴露的问题</a:t>
            </a:r>
            <a:endParaRPr kumimoji="1" lang="en-US" altLang="zh-CN" sz="14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F7B0724-78E1-684E-AB5C-94BCD597F437}"/>
              </a:ext>
            </a:extLst>
          </p:cNvPr>
          <p:cNvSpPr txBox="1"/>
          <p:nvPr/>
        </p:nvSpPr>
        <p:spPr>
          <a:xfrm>
            <a:off x="464128" y="1437319"/>
            <a:ext cx="547956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当所有 </a:t>
            </a:r>
            <a:r>
              <a:rPr kumimoji="1" lang="en-US" altLang="zh-CN" sz="1200" dirty="0" err="1"/>
              <a:t>todo</a:t>
            </a:r>
            <a:r>
              <a:rPr kumimoji="1" lang="zh-CN" altLang="en-US" sz="1200" dirty="0"/>
              <a:t>及对应 ledger obligations 进入终态后，进入 Reviewer 的最终验收</a:t>
            </a:r>
            <a:endParaRPr kumimoji="1"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Reviewer 不复用前面的 Tester 结论作为最终事实，而是以</a:t>
            </a:r>
            <a:r>
              <a:rPr kumimoji="1" lang="zh-CN" altLang="en-US" sz="1200" dirty="0">
                <a:solidFill>
                  <a:srgbClr val="C00000"/>
                </a:solidFill>
              </a:rPr>
              <a:t>独立视角重新审查</a:t>
            </a:r>
            <a:r>
              <a:rPr kumimoji="1" lang="zh-CN" altLang="en-US" sz="1200" dirty="0"/>
              <a:t>整个迁移结果</a:t>
            </a:r>
            <a:endParaRPr kumimoji="1"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在审查过程中，Reviewer 会重点判断三件事</a:t>
            </a:r>
            <a:endParaRPr kumimoji="1" lang="en-US" altLang="zh-C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第一，</a:t>
            </a:r>
            <a:r>
              <a:rPr kumimoji="1" lang="zh-CN" altLang="en-US" sz="1200" dirty="0">
                <a:solidFill>
                  <a:srgbClr val="C00000"/>
                </a:solidFill>
              </a:rPr>
              <a:t>end-to-end completene</a:t>
            </a:r>
            <a:r>
              <a:rPr kumimoji="1" lang="zh-CN" altLang="en-US" sz="1200" dirty="0"/>
              <a:t>ss：源系统中的关键行为、测试、公开契约、运行入口和 UI/后端能力是否都已被迁移、阻塞声明或偏差决策覆盖</a:t>
            </a:r>
            <a:endParaRPr kumimoji="1" lang="en-US" altLang="zh-C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第二，</a:t>
            </a:r>
            <a:r>
              <a:rPr kumimoji="1" lang="zh-CN" altLang="en-US" sz="1200" dirty="0">
                <a:solidFill>
                  <a:srgbClr val="C00000"/>
                </a:solidFill>
              </a:rPr>
              <a:t>cross-module consistency</a:t>
            </a:r>
            <a:r>
              <a:rPr kumimoji="1" lang="zh-CN" altLang="en-US" sz="1200" dirty="0"/>
              <a:t>：模块边界、依赖关系、接口契约、页面流、服务链路、配置与数据边界是否保持一致，没有局部通过但全局断裂的情况</a:t>
            </a:r>
            <a:endParaRPr kumimoji="1" lang="en-US" altLang="zh-C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第三，</a:t>
            </a:r>
            <a:r>
              <a:rPr kumimoji="1" lang="zh-CN" altLang="en-US" sz="1200" dirty="0">
                <a:solidFill>
                  <a:srgbClr val="C00000"/>
                </a:solidFill>
              </a:rPr>
              <a:t>closure readiness</a:t>
            </a:r>
            <a:r>
              <a:rPr kumimoji="1" lang="zh-CN" altLang="en-US" sz="1200" dirty="0"/>
              <a:t>：当前状态是否足以正式宣告 complete closure，还是只能以 blocked-partial 的方式交接</a:t>
            </a:r>
            <a:endParaRPr kumimoji="1" lang="en-US" altLang="zh-CN" sz="1200" dirty="0"/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10B46666-EAA1-5344-ACAE-7A3536560BFF}"/>
              </a:ext>
            </a:extLst>
          </p:cNvPr>
          <p:cNvSpPr/>
          <p:nvPr/>
        </p:nvSpPr>
        <p:spPr>
          <a:xfrm>
            <a:off x="485409" y="6061259"/>
            <a:ext cx="11382437" cy="6492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将局部 </a:t>
            </a:r>
            <a:r>
              <a:rPr lang="en-US" altLang="zh-CN" dirty="0" err="1"/>
              <a:t>todo</a:t>
            </a:r>
            <a:r>
              <a:rPr lang="en-US" altLang="zh-CN" dirty="0"/>
              <a:t> </a:t>
            </a:r>
            <a:r>
              <a:rPr lang="zh-CN" altLang="en-US" dirty="0"/>
              <a:t>证据提升为仓库级验收结论前，引入独立 </a:t>
            </a:r>
            <a:r>
              <a:rPr lang="en-US" altLang="zh-CN" dirty="0"/>
              <a:t>Reviewer </a:t>
            </a:r>
            <a:r>
              <a:rPr lang="zh-CN" altLang="en-US" dirty="0"/>
              <a:t>复核端到端完整性、跨模块一致性和收口证据，</a:t>
            </a:r>
            <a:br>
              <a:rPr lang="zh-CN" altLang="en-US" dirty="0"/>
            </a:br>
            <a:r>
              <a:rPr lang="zh-CN" altLang="en-US" dirty="0"/>
              <a:t>并将未闭合问题重新映射为修复任务，避免局部通过、全局不一致或残余风险被直接收口。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92563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>
            <a:extLst>
              <a:ext uri="{FF2B5EF4-FFF2-40B4-BE49-F238E27FC236}">
                <a16:creationId xmlns:a16="http://schemas.microsoft.com/office/drawing/2014/main" id="{89A31499-DD64-6044-AA02-6C3642B1BD88}"/>
              </a:ext>
            </a:extLst>
          </p:cNvPr>
          <p:cNvSpPr/>
          <p:nvPr/>
        </p:nvSpPr>
        <p:spPr>
          <a:xfrm>
            <a:off x="8399838" y="2646713"/>
            <a:ext cx="2758781" cy="39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083CAC5-BB5C-8B4A-B2AD-5BEBB525B492}"/>
              </a:ext>
            </a:extLst>
          </p:cNvPr>
          <p:cNvSpPr/>
          <p:nvPr/>
        </p:nvSpPr>
        <p:spPr>
          <a:xfrm>
            <a:off x="1119857" y="2654849"/>
            <a:ext cx="2492095" cy="4004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CF6630C8-8702-7644-8BB9-7BCC2C7ACB82}"/>
              </a:ext>
            </a:extLst>
          </p:cNvPr>
          <p:cNvSpPr/>
          <p:nvPr/>
        </p:nvSpPr>
        <p:spPr>
          <a:xfrm>
            <a:off x="4858732" y="2645868"/>
            <a:ext cx="2758780" cy="408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shared-label">
            <a:extLst>
              <a:ext uri="{FF2B5EF4-FFF2-40B4-BE49-F238E27FC236}">
                <a16:creationId xmlns:a16="http://schemas.microsoft.com/office/drawing/2014/main" id="{8B98BCF5-2ADB-034E-A81F-02879163421B}"/>
              </a:ext>
            </a:extLst>
          </p:cNvPr>
          <p:cNvSpPr txBox="1"/>
          <p:nvPr/>
        </p:nvSpPr>
        <p:spPr>
          <a:xfrm>
            <a:off x="4249252" y="1168172"/>
            <a:ext cx="3693495" cy="283046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Formalized Traceability Layer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502157-3F1A-B143-AC7F-3A65FAFA13AD}"/>
              </a:ext>
            </a:extLst>
          </p:cNvPr>
          <p:cNvSpPr/>
          <p:nvPr/>
        </p:nvSpPr>
        <p:spPr>
          <a:xfrm>
            <a:off x="1250208" y="1460552"/>
            <a:ext cx="9639836" cy="913998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9EC7B54-01EA-4841-8C33-3BE64E47760D}"/>
              </a:ext>
            </a:extLst>
          </p:cNvPr>
          <p:cNvSpPr txBox="1"/>
          <p:nvPr/>
        </p:nvSpPr>
        <p:spPr>
          <a:xfrm>
            <a:off x="1499603" y="2675933"/>
            <a:ext cx="2152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Plan-Level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91E1209-81D9-3F49-B679-8B87976FE906}"/>
              </a:ext>
            </a:extLst>
          </p:cNvPr>
          <p:cNvSpPr txBox="1"/>
          <p:nvPr/>
        </p:nvSpPr>
        <p:spPr>
          <a:xfrm>
            <a:off x="8738309" y="2681391"/>
            <a:ext cx="2479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Closure-Level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D19D243-8AC6-814A-BF52-0B14EFE3C4A7}"/>
              </a:ext>
            </a:extLst>
          </p:cNvPr>
          <p:cNvSpPr txBox="1"/>
          <p:nvPr/>
        </p:nvSpPr>
        <p:spPr>
          <a:xfrm>
            <a:off x="5388435" y="2674367"/>
            <a:ext cx="2653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Task-Level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Verification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pic>
        <p:nvPicPr>
          <p:cNvPr id="115" name="图形 114">
            <a:extLst>
              <a:ext uri="{FF2B5EF4-FFF2-40B4-BE49-F238E27FC236}">
                <a16:creationId xmlns:a16="http://schemas.microsoft.com/office/drawing/2014/main" id="{AC313091-8108-CA44-91AB-34B60E92B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3243" y="2671470"/>
            <a:ext cx="356705" cy="35670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6BED90C2-E1BC-744B-A9CD-CC69AE5971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9060" y="2654575"/>
            <a:ext cx="400529" cy="400529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2742B1DF-EE54-CB4B-8CCE-BE190943BF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5212" y="2661885"/>
            <a:ext cx="391563" cy="391563"/>
          </a:xfrm>
          <a:prstGeom prst="rect">
            <a:avLst/>
          </a:prstGeom>
        </p:spPr>
      </p:pic>
      <p:sp>
        <p:nvSpPr>
          <p:cNvPr id="122" name="矩形 121">
            <a:extLst>
              <a:ext uri="{FF2B5EF4-FFF2-40B4-BE49-F238E27FC236}">
                <a16:creationId xmlns:a16="http://schemas.microsoft.com/office/drawing/2014/main" id="{8F8ED01A-47DF-A14C-A240-B868340A5C00}"/>
              </a:ext>
            </a:extLst>
          </p:cNvPr>
          <p:cNvSpPr/>
          <p:nvPr/>
        </p:nvSpPr>
        <p:spPr>
          <a:xfrm>
            <a:off x="1332215" y="1537304"/>
            <a:ext cx="3530845" cy="769615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8" name="analyzer-title">
            <a:extLst>
              <a:ext uri="{FF2B5EF4-FFF2-40B4-BE49-F238E27FC236}">
                <a16:creationId xmlns:a16="http://schemas.microsoft.com/office/drawing/2014/main" id="{AC8F89E4-F804-AE47-AC93-FDA62592A2B1}"/>
              </a:ext>
            </a:extLst>
          </p:cNvPr>
          <p:cNvSpPr txBox="1"/>
          <p:nvPr/>
        </p:nvSpPr>
        <p:spPr>
          <a:xfrm>
            <a:off x="1622442" y="1524187"/>
            <a:ext cx="3204386" cy="346351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Extract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Facts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from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workspace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74BAE61-F023-4642-BFD6-EFF060BEFB73}"/>
              </a:ext>
            </a:extLst>
          </p:cNvPr>
          <p:cNvSpPr/>
          <p:nvPr/>
        </p:nvSpPr>
        <p:spPr>
          <a:xfrm>
            <a:off x="4968347" y="1541203"/>
            <a:ext cx="4018056" cy="769167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0" name="analyzer-title">
            <a:extLst>
              <a:ext uri="{FF2B5EF4-FFF2-40B4-BE49-F238E27FC236}">
                <a16:creationId xmlns:a16="http://schemas.microsoft.com/office/drawing/2014/main" id="{0E97DA08-5FE6-A44C-973F-F65D3D3B9E92}"/>
              </a:ext>
            </a:extLst>
          </p:cNvPr>
          <p:cNvSpPr txBox="1"/>
          <p:nvPr/>
        </p:nvSpPr>
        <p:spPr>
          <a:xfrm>
            <a:off x="5081536" y="1466157"/>
            <a:ext cx="2108244" cy="430732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Check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Rule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Contract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32" name="analyzer-sub1">
            <a:extLst>
              <a:ext uri="{FF2B5EF4-FFF2-40B4-BE49-F238E27FC236}">
                <a16:creationId xmlns:a16="http://schemas.microsoft.com/office/drawing/2014/main" id="{45D13146-50BA-1844-8FC8-0B915AEA0390}"/>
              </a:ext>
            </a:extLst>
          </p:cNvPr>
          <p:cNvSpPr/>
          <p:nvPr/>
        </p:nvSpPr>
        <p:spPr>
          <a:xfrm>
            <a:off x="1378204" y="1888889"/>
            <a:ext cx="3424418" cy="3339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behaviors,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todos,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obligations,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tests,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evidences,</a:t>
            </a:r>
            <a:r>
              <a:rPr lang="zh-CN" altLang="en-US" sz="10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1000" dirty="0">
                <a:solidFill>
                  <a:srgbClr val="111111"/>
                </a:solidFill>
                <a:latin typeface="Arial"/>
                <a:ea typeface="Arial"/>
              </a:rPr>
              <a:t>decisions</a:t>
            </a:r>
            <a:endParaRPr lang="en-US" sz="10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3" name="analyzer-sub1">
            <a:extLst>
              <a:ext uri="{FF2B5EF4-FFF2-40B4-BE49-F238E27FC236}">
                <a16:creationId xmlns:a16="http://schemas.microsoft.com/office/drawing/2014/main" id="{6E5C44EA-7E1E-9646-9ED8-E1E3993576D9}"/>
              </a:ext>
            </a:extLst>
          </p:cNvPr>
          <p:cNvSpPr/>
          <p:nvPr/>
        </p:nvSpPr>
        <p:spPr>
          <a:xfrm>
            <a:off x="7276044" y="1832501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Graph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Integrity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4" name="analyzer-sub1">
            <a:extLst>
              <a:ext uri="{FF2B5EF4-FFF2-40B4-BE49-F238E27FC236}">
                <a16:creationId xmlns:a16="http://schemas.microsoft.com/office/drawing/2014/main" id="{97CEEBF7-3C3D-6049-960A-C4B7CF16AB93}"/>
              </a:ext>
            </a:extLst>
          </p:cNvPr>
          <p:cNvSpPr/>
          <p:nvPr/>
        </p:nvSpPr>
        <p:spPr>
          <a:xfrm>
            <a:off x="5094051" y="1832727"/>
            <a:ext cx="2015130" cy="21355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/>
              <a:t>Contract / Todo Evidence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5" name="analyzer-sub1">
            <a:extLst>
              <a:ext uri="{FF2B5EF4-FFF2-40B4-BE49-F238E27FC236}">
                <a16:creationId xmlns:a16="http://schemas.microsoft.com/office/drawing/2014/main" id="{680294C1-FA09-D14D-9CC3-B5FC3ECED424}"/>
              </a:ext>
            </a:extLst>
          </p:cNvPr>
          <p:cNvSpPr/>
          <p:nvPr/>
        </p:nvSpPr>
        <p:spPr>
          <a:xfrm>
            <a:off x="7276044" y="1594939"/>
            <a:ext cx="1594562" cy="18867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Inventory Coverage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6" name="analyzer-sub1">
            <a:extLst>
              <a:ext uri="{FF2B5EF4-FFF2-40B4-BE49-F238E27FC236}">
                <a16:creationId xmlns:a16="http://schemas.microsoft.com/office/drawing/2014/main" id="{4B35EB6A-792F-3D4A-BE8E-4475595C5884}"/>
              </a:ext>
            </a:extLst>
          </p:cNvPr>
          <p:cNvSpPr/>
          <p:nvPr/>
        </p:nvSpPr>
        <p:spPr>
          <a:xfrm>
            <a:off x="7276044" y="2078536"/>
            <a:ext cx="1594561" cy="18099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/>
              <a:t>Closure / Decision 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7" name="analyzer-sub1">
            <a:extLst>
              <a:ext uri="{FF2B5EF4-FFF2-40B4-BE49-F238E27FC236}">
                <a16:creationId xmlns:a16="http://schemas.microsoft.com/office/drawing/2014/main" id="{24B28340-C930-554B-8553-95090D2A7E9F}"/>
              </a:ext>
            </a:extLst>
          </p:cNvPr>
          <p:cNvSpPr/>
          <p:nvPr/>
        </p:nvSpPr>
        <p:spPr>
          <a:xfrm>
            <a:off x="5105968" y="2081281"/>
            <a:ext cx="2015130" cy="1968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Plan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Traceability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Rules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47E3B2-6357-8F41-B490-C4B7653005E1}"/>
              </a:ext>
            </a:extLst>
          </p:cNvPr>
          <p:cNvSpPr/>
          <p:nvPr/>
        </p:nvSpPr>
        <p:spPr>
          <a:xfrm>
            <a:off x="9083796" y="1540233"/>
            <a:ext cx="1708855" cy="769167"/>
          </a:xfrm>
          <a:prstGeom prst="rect">
            <a:avLst/>
          </a:prstGeom>
          <a:noFill/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analyzer-title">
            <a:extLst>
              <a:ext uri="{FF2B5EF4-FFF2-40B4-BE49-F238E27FC236}">
                <a16:creationId xmlns:a16="http://schemas.microsoft.com/office/drawing/2014/main" id="{8E78105F-60CB-BE49-9695-6BAB0BE907EB}"/>
              </a:ext>
            </a:extLst>
          </p:cNvPr>
          <p:cNvSpPr txBox="1"/>
          <p:nvPr/>
        </p:nvSpPr>
        <p:spPr>
          <a:xfrm>
            <a:off x="9318611" y="1466402"/>
            <a:ext cx="1306784" cy="430732"/>
          </a:xfrm>
          <a:prstGeom prst="rect">
            <a:avLst/>
          </a:prstGeom>
          <a:noFill/>
          <a:ln>
            <a:noFill/>
          </a:ln>
        </p:spPr>
        <p:txBody>
          <a:bodyPr lIns="7200" tIns="7200" rIns="7200" bIns="7200" anchor="ctr"/>
          <a:lstStyle/>
          <a:p>
            <a:pPr algn="l"/>
            <a:r>
              <a:rPr lang="en-US" altLang="zh-CN" sz="1600" b="1" dirty="0">
                <a:latin typeface="Arial"/>
                <a:ea typeface="Arial"/>
              </a:rPr>
              <a:t>Emit</a:t>
            </a:r>
            <a:r>
              <a:rPr lang="zh-CN" altLang="en-US" sz="1600" b="1" dirty="0">
                <a:latin typeface="Arial"/>
                <a:ea typeface="Arial"/>
              </a:rPr>
              <a:t> </a:t>
            </a:r>
            <a:r>
              <a:rPr lang="en-US" altLang="zh-CN" sz="1600" b="1" dirty="0">
                <a:latin typeface="Arial"/>
                <a:ea typeface="Arial"/>
              </a:rPr>
              <a:t>Results</a:t>
            </a:r>
            <a:endParaRPr lang="en-US" sz="1600" b="1" dirty="0">
              <a:latin typeface="Arial"/>
              <a:ea typeface="Arial"/>
            </a:endParaRPr>
          </a:p>
        </p:txBody>
      </p:sp>
      <p:sp>
        <p:nvSpPr>
          <p:cNvPr id="140" name="analyzer-sub1">
            <a:extLst>
              <a:ext uri="{FF2B5EF4-FFF2-40B4-BE49-F238E27FC236}">
                <a16:creationId xmlns:a16="http://schemas.microsoft.com/office/drawing/2014/main" id="{37CE6EB5-36AA-1B4B-AB58-2401759B4DE4}"/>
              </a:ext>
            </a:extLst>
          </p:cNvPr>
          <p:cNvSpPr/>
          <p:nvPr/>
        </p:nvSpPr>
        <p:spPr>
          <a:xfrm>
            <a:off x="9125950" y="1846337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/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Pass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/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Fail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41" name="analyzer-sub1">
            <a:extLst>
              <a:ext uri="{FF2B5EF4-FFF2-40B4-BE49-F238E27FC236}">
                <a16:creationId xmlns:a16="http://schemas.microsoft.com/office/drawing/2014/main" id="{652EEAD0-6315-D14F-A680-064D66404622}"/>
              </a:ext>
            </a:extLst>
          </p:cNvPr>
          <p:cNvSpPr/>
          <p:nvPr/>
        </p:nvSpPr>
        <p:spPr>
          <a:xfrm>
            <a:off x="9134617" y="2078536"/>
            <a:ext cx="1594562" cy="16926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</p:spPr>
        <p:txBody>
          <a:bodyPr lIns="14400" tIns="14400" rIns="14400" bIns="144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Audit</a:t>
            </a:r>
            <a:r>
              <a:rPr lang="zh-CN" altLang="en-US" sz="900" dirty="0">
                <a:solidFill>
                  <a:srgbClr val="111111"/>
                </a:solidFill>
                <a:latin typeface="Arial"/>
                <a:ea typeface="Arial"/>
              </a:rPr>
              <a:t> </a:t>
            </a:r>
            <a:r>
              <a:rPr lang="en-US" altLang="zh-CN" sz="900" dirty="0">
                <a:solidFill>
                  <a:srgbClr val="111111"/>
                </a:solidFill>
                <a:latin typeface="Arial"/>
                <a:ea typeface="Arial"/>
              </a:rPr>
              <a:t>Certificate</a:t>
            </a:r>
            <a:endParaRPr lang="en-US" sz="900" dirty="0">
              <a:solidFill>
                <a:srgbClr val="111111"/>
              </a:solidFill>
              <a:latin typeface="Arial"/>
              <a:ea typeface="Arial"/>
            </a:endParaRPr>
          </a:p>
        </p:txBody>
      </p:sp>
      <p:sp>
        <p:nvSpPr>
          <p:cNvPr id="151" name="右箭头 150">
            <a:extLst>
              <a:ext uri="{FF2B5EF4-FFF2-40B4-BE49-F238E27FC236}">
                <a16:creationId xmlns:a16="http://schemas.microsoft.com/office/drawing/2014/main" id="{D368FB72-624A-B54E-A9DD-6A4E9443B5C1}"/>
              </a:ext>
            </a:extLst>
          </p:cNvPr>
          <p:cNvSpPr/>
          <p:nvPr/>
        </p:nvSpPr>
        <p:spPr>
          <a:xfrm>
            <a:off x="3861348" y="2615233"/>
            <a:ext cx="705514" cy="47112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6" name="右箭头 155">
            <a:extLst>
              <a:ext uri="{FF2B5EF4-FFF2-40B4-BE49-F238E27FC236}">
                <a16:creationId xmlns:a16="http://schemas.microsoft.com/office/drawing/2014/main" id="{DE401792-F76C-B642-AA83-E15BF71B7DD5}"/>
              </a:ext>
            </a:extLst>
          </p:cNvPr>
          <p:cNvSpPr/>
          <p:nvPr/>
        </p:nvSpPr>
        <p:spPr>
          <a:xfrm>
            <a:off x="7714927" y="2622104"/>
            <a:ext cx="555748" cy="47112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821C4E2A-8D90-1F49-AB90-1A3B19C154AD}"/>
              </a:ext>
            </a:extLst>
          </p:cNvPr>
          <p:cNvCxnSpPr>
            <a:cxnSpLocks/>
          </p:cNvCxnSpPr>
          <p:nvPr/>
        </p:nvCxnSpPr>
        <p:spPr>
          <a:xfrm>
            <a:off x="4249252" y="2459473"/>
            <a:ext cx="0" cy="21199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直线箭头连接符 166">
            <a:extLst>
              <a:ext uri="{FF2B5EF4-FFF2-40B4-BE49-F238E27FC236}">
                <a16:creationId xmlns:a16="http://schemas.microsoft.com/office/drawing/2014/main" id="{D2063DF6-339A-CF48-9E7A-F2362F4708E8}"/>
              </a:ext>
            </a:extLst>
          </p:cNvPr>
          <p:cNvCxnSpPr>
            <a:cxnSpLocks/>
          </p:cNvCxnSpPr>
          <p:nvPr/>
        </p:nvCxnSpPr>
        <p:spPr>
          <a:xfrm flipH="1">
            <a:off x="2378897" y="2459473"/>
            <a:ext cx="1" cy="15576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8" name="标题 10">
            <a:extLst>
              <a:ext uri="{FF2B5EF4-FFF2-40B4-BE49-F238E27FC236}">
                <a16:creationId xmlns:a16="http://schemas.microsoft.com/office/drawing/2014/main" id="{E775174A-EF59-7B46-BF5A-A146335DBA38}"/>
              </a:ext>
            </a:extLst>
          </p:cNvPr>
          <p:cNvSpPr>
            <a:spLocks noGrp="1"/>
          </p:cNvSpPr>
          <p:nvPr/>
        </p:nvSpPr>
        <p:spPr>
          <a:xfrm>
            <a:off x="464128" y="543748"/>
            <a:ext cx="10121046" cy="522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形式化追踪层：</a:t>
            </a:r>
            <a:r>
              <a:rPr lang="en-US" altLang="zh-CN" dirty="0">
                <a:sym typeface="+mn-ea"/>
              </a:rPr>
              <a:t>Formalized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Traceability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Layer</a:t>
            </a:r>
            <a:endParaRPr lang="zh-CN" altLang="en-US" dirty="0"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AD0DA9-136B-4E49-B7A9-DF988C653D39}"/>
              </a:ext>
            </a:extLst>
          </p:cNvPr>
          <p:cNvSpPr txBox="1"/>
          <p:nvPr/>
        </p:nvSpPr>
        <p:spPr>
          <a:xfrm>
            <a:off x="1076615" y="3040224"/>
            <a:ext cx="10121046" cy="3022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形式化追踪层负责</a:t>
            </a:r>
            <a:r>
              <a:rPr lang="zh-CN" altLang="en-US" sz="1600" dirty="0">
                <a:solidFill>
                  <a:srgbClr val="C00000"/>
                </a:solidFill>
              </a:rPr>
              <a:t>用确定性规则约束迁移推进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首先，从工作区状态中自动派生</a:t>
            </a:r>
            <a:r>
              <a:rPr kumimoji="1" lang="zh-CN" altLang="en-US" sz="1600" dirty="0">
                <a:solidFill>
                  <a:srgbClr val="C00000"/>
                </a:solidFill>
              </a:rPr>
              <a:t>事实图，连接源行为、实现任务、验证义务、测试证据和迁移决策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marL="742950" lvl="1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然后，使用预先固定的规则检查，</a:t>
            </a:r>
            <a:r>
              <a:rPr kumimoji="1" lang="zh-CN" altLang="en-US" sz="1600" dirty="0">
                <a:solidFill>
                  <a:srgbClr val="C00000"/>
                </a:solidFill>
              </a:rPr>
              <a:t>每个关键源行为都必须追踪到对应义务、执行任务和验证证据</a:t>
            </a:r>
            <a:endParaRPr kumimoji="1" lang="en-US" altLang="zh-CN" sz="1600" dirty="0"/>
          </a:p>
          <a:p>
            <a:pPr marL="1200150" lvl="2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检查事实图本身有没有断边或非法引用</a:t>
            </a:r>
            <a:endParaRPr lang="en-US" altLang="zh-CN" sz="1600" dirty="0"/>
          </a:p>
          <a:p>
            <a:pPr marL="1200150" lvl="2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检查 </a:t>
            </a:r>
            <a:r>
              <a:rPr lang="en-US" altLang="zh-CN" sz="1600" dirty="0"/>
              <a:t>Behavior IR / checklist </a:t>
            </a:r>
            <a:r>
              <a:rPr lang="zh-CN" altLang="en-US" sz="1600" dirty="0"/>
              <a:t>是否完整</a:t>
            </a:r>
            <a:endParaRPr lang="en-US" altLang="zh-CN" sz="1600" dirty="0"/>
          </a:p>
          <a:p>
            <a:pPr marL="1200150" lvl="2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检查源测试、公开 </a:t>
            </a:r>
            <a:r>
              <a:rPr lang="en-US" altLang="zh-CN" sz="1600" dirty="0"/>
              <a:t>API</a:t>
            </a:r>
            <a:r>
              <a:rPr lang="zh-CN" altLang="en-US" sz="1600" dirty="0"/>
              <a:t>、运行入口、模块、依赖边界有没有被遗漏</a:t>
            </a:r>
            <a:endParaRPr lang="en-US" altLang="zh-CN" sz="1600" dirty="0"/>
          </a:p>
          <a:p>
            <a:pPr marL="1200150" lvl="2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检查当前 </a:t>
            </a:r>
            <a:r>
              <a:rPr lang="en-US" altLang="zh-CN" sz="1600" dirty="0"/>
              <a:t>active </a:t>
            </a:r>
            <a:r>
              <a:rPr lang="en-US" altLang="zh-CN" sz="1600" dirty="0" err="1"/>
              <a:t>todo</a:t>
            </a:r>
            <a:r>
              <a:rPr lang="en-US" altLang="zh-CN" sz="1600" dirty="0"/>
              <a:t> </a:t>
            </a:r>
            <a:r>
              <a:rPr lang="zh-CN" altLang="en-US" sz="1600" dirty="0"/>
              <a:t>的 </a:t>
            </a:r>
            <a:r>
              <a:rPr lang="en-US" altLang="zh-CN" sz="1600" dirty="0"/>
              <a:t>feature contract </a:t>
            </a:r>
            <a:r>
              <a:rPr lang="zh-CN" altLang="en-US" sz="1600" dirty="0"/>
              <a:t>是否能支撑交测</a:t>
            </a:r>
            <a:endParaRPr lang="en-US" altLang="zh-CN" sz="1600" dirty="0"/>
          </a:p>
          <a:p>
            <a:pPr marL="1200150" lvl="2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检查最终收口是否有证据</a:t>
            </a:r>
            <a:endParaRPr kumimoji="1" lang="en-US" altLang="zh-CN" sz="1600" dirty="0"/>
          </a:p>
          <a:p>
            <a:pPr marL="742950" lvl="1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最后，</a:t>
            </a:r>
            <a:r>
              <a:rPr kumimoji="1" lang="zh-CN" altLang="en-US" sz="1600" dirty="0">
                <a:solidFill>
                  <a:srgbClr val="C00000"/>
                </a:solidFill>
              </a:rPr>
              <a:t>每次 </a:t>
            </a:r>
            <a:r>
              <a:rPr kumimoji="1" lang="en-US" altLang="zh-CN" sz="1600" dirty="0">
                <a:solidFill>
                  <a:srgbClr val="C00000"/>
                </a:solidFill>
              </a:rPr>
              <a:t>gate </a:t>
            </a:r>
            <a:r>
              <a:rPr kumimoji="1" lang="zh-CN" altLang="en-US" sz="1600" dirty="0">
                <a:solidFill>
                  <a:srgbClr val="C00000"/>
                </a:solidFill>
              </a:rPr>
              <a:t>输出通过</a:t>
            </a:r>
            <a:r>
              <a:rPr kumimoji="1" lang="en-US" altLang="zh-CN" sz="1600" dirty="0">
                <a:solidFill>
                  <a:srgbClr val="C00000"/>
                </a:solidFill>
              </a:rPr>
              <a:t>/</a:t>
            </a:r>
            <a:r>
              <a:rPr kumimoji="1" lang="zh-CN" altLang="en-US" sz="1600" dirty="0">
                <a:solidFill>
                  <a:srgbClr val="C00000"/>
                </a:solidFill>
              </a:rPr>
              <a:t>失败结果</a:t>
            </a:r>
            <a:r>
              <a:rPr kumimoji="1" lang="zh-CN" altLang="en-US" sz="1600" dirty="0"/>
              <a:t>、具体违规项和审计，并将成功记录写入可追踪的历史链</a:t>
            </a:r>
            <a:endParaRPr kumimoji="1" lang="en-US" altLang="zh-CN" sz="1600" dirty="0"/>
          </a:p>
          <a:p>
            <a:pPr marL="285750" indent="-285750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该层不是证明程序语义等价，而是确定性检查迁移状态、证据链和收口决策</a:t>
            </a:r>
            <a:r>
              <a:rPr lang="zh-CN" altLang="en-US" sz="1600" dirty="0">
                <a:solidFill>
                  <a:srgbClr val="C00000"/>
                </a:solidFill>
              </a:rPr>
              <a:t>是否可追踪、可审计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D48CC909-B30E-3547-A328-0030A50117B5}"/>
              </a:ext>
            </a:extLst>
          </p:cNvPr>
          <p:cNvSpPr/>
          <p:nvPr/>
        </p:nvSpPr>
        <p:spPr>
          <a:xfrm>
            <a:off x="485409" y="6061259"/>
            <a:ext cx="11382437" cy="6492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从迁移状态中自动派生事实图，并用 形式化规则检查计划、任务和收口是否满足证据追踪要求，</a:t>
            </a:r>
            <a:br>
              <a:rPr lang="zh-CN" altLang="en-US" dirty="0"/>
            </a:br>
            <a:r>
              <a:rPr lang="zh-CN" altLang="en-US" dirty="0"/>
              <a:t>使每次 </a:t>
            </a:r>
            <a:r>
              <a:rPr lang="en-US" altLang="zh-CN" dirty="0"/>
              <a:t>gate </a:t>
            </a:r>
            <a:r>
              <a:rPr lang="zh-CN" altLang="en-US" dirty="0"/>
              <a:t>的通过、失败、偏差接受和最终收口都有明确违规项、审计证书和历史链支撑。</a:t>
            </a:r>
            <a:endParaRPr lang="en-CN" dirty="0">
              <a:highlight>
                <a:srgbClr val="FFFF00"/>
              </a:highlight>
            </a:endParaRP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208F4FDE-AE56-6048-81F9-DCDE64933346}"/>
              </a:ext>
            </a:extLst>
          </p:cNvPr>
          <p:cNvCxnSpPr>
            <a:cxnSpLocks/>
          </p:cNvCxnSpPr>
          <p:nvPr/>
        </p:nvCxnSpPr>
        <p:spPr>
          <a:xfrm>
            <a:off x="6096000" y="2410107"/>
            <a:ext cx="0" cy="21199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EE97199A-B0AF-534F-A999-B626781EA0B0}"/>
              </a:ext>
            </a:extLst>
          </p:cNvPr>
          <p:cNvCxnSpPr>
            <a:cxnSpLocks/>
          </p:cNvCxnSpPr>
          <p:nvPr/>
        </p:nvCxnSpPr>
        <p:spPr>
          <a:xfrm>
            <a:off x="7942747" y="2410107"/>
            <a:ext cx="0" cy="21199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08F4FDE-AE56-6048-81F9-DCDE64933346}"/>
              </a:ext>
            </a:extLst>
          </p:cNvPr>
          <p:cNvCxnSpPr>
            <a:cxnSpLocks/>
          </p:cNvCxnSpPr>
          <p:nvPr/>
        </p:nvCxnSpPr>
        <p:spPr>
          <a:xfrm>
            <a:off x="9869424" y="2410107"/>
            <a:ext cx="0" cy="21199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13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3331</Words>
  <Application>Microsoft Macintosh PowerPoint</Application>
  <PresentationFormat>宽屏</PresentationFormat>
  <Paragraphs>527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</vt:lpstr>
      <vt:lpstr>等线 Light</vt:lpstr>
      <vt:lpstr>微软雅黑</vt:lpstr>
      <vt:lpstr>Arial</vt:lpstr>
      <vt:lpstr>Arial Rounded MT Bold</vt:lpstr>
      <vt:lpstr>Office 主题​​</vt:lpstr>
      <vt:lpstr>X语言到仓颉的项目级源码转换汇报</vt:lpstr>
      <vt:lpstr>PowerPoint 演示文稿</vt:lpstr>
      <vt:lpstr>PowerPoint 演示文稿</vt:lpstr>
      <vt:lpstr>PowerPoint 演示文稿</vt:lpstr>
      <vt:lpstr>PowerPoint 演示文稿</vt:lpstr>
      <vt:lpstr>Thanks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X语言到仓颉的项目级源码转换汇报</dc:title>
  <dc:creator>汤智 许</dc:creator>
  <cp:lastModifiedBy>汤智 许</cp:lastModifiedBy>
  <cp:revision>8</cp:revision>
  <dcterms:created xsi:type="dcterms:W3CDTF">2026-07-23T12:47:28Z</dcterms:created>
  <dcterms:modified xsi:type="dcterms:W3CDTF">2026-07-24T08:54:11Z</dcterms:modified>
</cp:coreProperties>
</file>